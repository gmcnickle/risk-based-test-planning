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ACC-D113-4221-830B-8E2FA105285D}" v="3" dt="2026-05-22T00:57:40.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1" d="100"/>
          <a:sy n="211" d="100"/>
        </p:scale>
        <p:origin x="35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McNickle" userId="e9d346d2d806edb0" providerId="LiveId" clId="{4F1CA071-7AA7-4987-BA1A-E5FD4B4E25F8}"/>
    <pc:docChg chg="modSld">
      <pc:chgData name="Gary McNickle" userId="e9d346d2d806edb0" providerId="LiveId" clId="{4F1CA071-7AA7-4987-BA1A-E5FD4B4E25F8}" dt="2026-05-22T00:59:37.030" v="236" actId="20577"/>
      <pc:docMkLst>
        <pc:docMk/>
      </pc:docMkLst>
      <pc:sldChg chg="modSp mod">
        <pc:chgData name="Gary McNickle" userId="e9d346d2d806edb0" providerId="LiveId" clId="{4F1CA071-7AA7-4987-BA1A-E5FD4B4E25F8}" dt="2026-05-22T00:59:37.030" v="236" actId="20577"/>
        <pc:sldMkLst>
          <pc:docMk/>
          <pc:sldMk cId="0" sldId="256"/>
        </pc:sldMkLst>
        <pc:spChg chg="mod">
          <ac:chgData name="Gary McNickle" userId="e9d346d2d806edb0" providerId="LiveId" clId="{4F1CA071-7AA7-4987-BA1A-E5FD4B4E25F8}" dt="2026-05-22T00:59:37.030" v="236" actId="20577"/>
          <ac:spMkLst>
            <pc:docMk/>
            <pc:sldMk cId="0" sldId="256"/>
            <ac:spMk id="7" creationId="{00000000-0000-0000-0000-000000000000}"/>
          </ac:spMkLst>
        </pc:spChg>
      </pc:sldChg>
      <pc:sldChg chg="modSp mod">
        <pc:chgData name="Gary McNickle" userId="e9d346d2d806edb0" providerId="LiveId" clId="{4F1CA071-7AA7-4987-BA1A-E5FD4B4E25F8}" dt="2026-05-22T00:57:41.929" v="184" actId="108"/>
        <pc:sldMkLst>
          <pc:docMk/>
          <pc:sldMk cId="0" sldId="260"/>
        </pc:sldMkLst>
        <pc:graphicFrameChg chg="mod modGraphic">
          <ac:chgData name="Gary McNickle" userId="e9d346d2d806edb0" providerId="LiveId" clId="{4F1CA071-7AA7-4987-BA1A-E5FD4B4E25F8}" dt="2026-05-22T00:57:41.929" v="184" actId="108"/>
          <ac:graphicFrameMkLst>
            <pc:docMk/>
            <pc:sldMk cId="0" sldId="260"/>
            <ac:graphicFrameMk id="6" creationId="{00000000-0000-0000-0000-000000000000}"/>
          </ac:graphicFrameMkLst>
        </pc:graphicFrameChg>
        <pc:graphicFrameChg chg="mod">
          <ac:chgData name="Gary McNickle" userId="e9d346d2d806edb0" providerId="LiveId" clId="{4F1CA071-7AA7-4987-BA1A-E5FD4B4E25F8}" dt="2026-05-22T00:57:25.137" v="178"/>
          <ac:graphicFrameMkLst>
            <pc:docMk/>
            <pc:sldMk cId="0" sldId="260"/>
            <ac:graphicFrameMk id="11"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103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leadership — QA leadership, engineering management, product management, release management. It's not about teaching methodology. It's about showing how a lightweight process gives leadership better data for scheduling and release decisions. Frame it as 'here's what the team is producing and how it supports your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These questions are familiar to everyone in the room — they come up in every release cycle. The key reframe is at the bottom: these aren't caused by bad QA work, they're caused by a lack of visibility. Without a visible model of what's being tested and why, these questions are unanswerable. This slide should feel like recognition, not accusation.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before/after contrast. The left column describes the current state — informal scope, gut-feel priorities, unjustifiable timelines. The right column describes what changes when coverage is visible. The key insight: the team's testing ability doesn't need to change. What changes is the visibility and communicability of what they're already doing. This is a process and tooling gap, not a skills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brief overview of what the team is implementing — not a deep dive. Leadership doesn't need to know the 8-step process or how inventories are decomposed. They need to know that the team is building two things: a visible inventory of coverage, and a risk-based ranking of that coverage. Together, these produce the artifacts that make scheduling conversations objective. Emphasize 'lightweight' — this isn't a heavyweight process or documentation exercise.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'show don't tell' slide. Give leadership a preview of what the artifacts actually look like — not in full detail, but enough to see the structure. The coverage matrix shows what's tested where. The prioritized risk list shows everything ranked by risk with estimated time. The cut-line is visible. The four questions at the bottom are the questions these artifacts answer — the same questions that were unanswerable on slide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payoff slide. The before/after contrast at the top should resonate immediately — leadership has been in the 'we need more time' conversation. The cut-line mechanism shows how it changes: instead of vague requests for more time, the team presents a ranked list with estimated hours and a clear line showing what's in and what's out. When the schedule compresses, you move the line — and the impact is immediately visible in both scope and hours.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governance slide that was deferred from the practitioner training. The cut-line is powerful, but it can be misused. 'Accepted risk' is a real organizational commitment — it means someone is saying 'we know this isn't tested and we're okay with that for this release.' That decision should be intentional, visible, owned by someone accountable (typically product or engineering leadership), and revisited next cycle. Without these guardrails, the cut-line becomes a mechanism for cutting scope without accountability.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'what's in it for you' slide for leadership. Each benefit maps directly to a pain point from slide 2. Predictable timelines address 'how long does testing take?' Flexible scheduling addresses 'can we ship sooner?' Informed confidence addresses 'what happens if we skip testing?' Traceability addresses 'why did that defect get through?' Reduced cycle time addresses the original trigger — smoke testing taking a week.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reciprocal commitment slide and it's critical. The framework produces data, but if leadership ignores it and reverts to 'just test faster,' the team stops investing in it and the process dies. Both sides have commitments. QA produces the artifacts and maintains them. Leadership uses them — meaning they reference the data in scheduling decisions, they own risk acceptance explicitly, and they support the time the team needs to maintain the artifacts. This isn't asking for more resources; it's asking for engagement with the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same thesis that runs through all three decks. For leadership, the emphasis lands on 'communicating' — the framework exists to support better communication between QA and leadership, so that scheduling and release decisions are informed by visible, objective data. The next step is for the team to begin building inventories and risk analysis for the current system, and for leadership to engage with the output in the next scheduling conversation.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p:spPr>
        <p:txBody>
          <a:bodyPr/>
          <a:lstStyle/>
          <a:p>
            <a:endParaRPr lang="en-US"/>
          </a:p>
        </p:txBody>
      </p:sp>
      <p:sp>
        <p:nvSpPr>
          <p:cNvPr id="3" name="Text 1"/>
          <p:cNvSpPr/>
          <p:nvPr/>
        </p:nvSpPr>
        <p:spPr>
          <a:xfrm>
            <a:off x="731520" y="731520"/>
            <a:ext cx="7772400" cy="137160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Trebuchet MS" pitchFamily="34" charset="0"/>
                <a:ea typeface="Trebuchet MS" pitchFamily="34" charset="-122"/>
                <a:cs typeface="Trebuchet MS" pitchFamily="34" charset="-120"/>
              </a:rPr>
              <a:t>Test Coverage and Risk</a:t>
            </a:r>
            <a:endParaRPr lang="en-US" sz="4400" dirty="0"/>
          </a:p>
        </p:txBody>
      </p:sp>
      <p:sp>
        <p:nvSpPr>
          <p:cNvPr id="4" name="Text 2"/>
          <p:cNvSpPr/>
          <p:nvPr/>
        </p:nvSpPr>
        <p:spPr>
          <a:xfrm>
            <a:off x="731520" y="2286000"/>
            <a:ext cx="7315200" cy="548640"/>
          </a:xfrm>
          <a:prstGeom prst="rect">
            <a:avLst/>
          </a:prstGeom>
          <a:noFill/>
          <a:ln/>
        </p:spPr>
        <p:txBody>
          <a:bodyPr wrap="square" lIns="0" tIns="0" rIns="0" bIns="0" rtlCol="0" anchor="ctr"/>
          <a:lstStyle/>
          <a:p>
            <a:pPr marL="0" indent="0">
              <a:buNone/>
            </a:pPr>
            <a:r>
              <a:rPr lang="en-US" sz="2200" dirty="0">
                <a:solidFill>
                  <a:srgbClr val="0D9488"/>
                </a:solidFill>
                <a:latin typeface="Calibri" pitchFamily="34" charset="0"/>
                <a:ea typeface="Calibri" pitchFamily="34" charset="-122"/>
                <a:cs typeface="Calibri" pitchFamily="34" charset="-120"/>
              </a:rPr>
              <a:t>A Framework for Scheduling and Release Decisions</a:t>
            </a:r>
            <a:endParaRPr lang="en-US" sz="2200" dirty="0"/>
          </a:p>
        </p:txBody>
      </p:sp>
      <p:sp>
        <p:nvSpPr>
          <p:cNvPr id="5" name="Text 3"/>
          <p:cNvSpPr/>
          <p:nvPr/>
        </p:nvSpPr>
        <p:spPr>
          <a:xfrm>
            <a:off x="731520" y="3017520"/>
            <a:ext cx="6400800" cy="731520"/>
          </a:xfrm>
          <a:prstGeom prst="rect">
            <a:avLst/>
          </a:prstGeom>
          <a:noFill/>
          <a:ln/>
        </p:spPr>
        <p:txBody>
          <a:bodyPr wrap="square" lIns="0" tIns="0" rIns="0" bIns="0" rtlCol="0" anchor="ctr"/>
          <a:lstStyle/>
          <a:p>
            <a:pPr marL="0" indent="0">
              <a:lnSpc>
                <a:spcPct val="140000"/>
              </a:lnSpc>
              <a:buNone/>
            </a:pPr>
            <a:r>
              <a:rPr lang="en-US" sz="1400" i="1" dirty="0">
                <a:solidFill>
                  <a:srgbClr val="64748B"/>
                </a:solidFill>
                <a:latin typeface="Calibri" pitchFamily="34" charset="0"/>
                <a:ea typeface="Calibri" pitchFamily="34" charset="-122"/>
                <a:cs typeface="Calibri" pitchFamily="34" charset="-120"/>
              </a:rPr>
              <a:t>How visible coverage and risk-based prioritization</a:t>
            </a:r>
            <a:endParaRPr lang="en-US" sz="1400" dirty="0"/>
          </a:p>
          <a:p>
            <a:pPr marL="0" indent="0">
              <a:lnSpc>
                <a:spcPct val="140000"/>
              </a:lnSpc>
              <a:buNone/>
            </a:pPr>
            <a:r>
              <a:rPr lang="en-US" sz="1400" i="1" dirty="0">
                <a:solidFill>
                  <a:srgbClr val="64748B"/>
                </a:solidFill>
                <a:latin typeface="Calibri" pitchFamily="34" charset="0"/>
                <a:ea typeface="Calibri" pitchFamily="34" charset="-122"/>
                <a:cs typeface="Calibri" pitchFamily="34" charset="-120"/>
              </a:rPr>
              <a:t>support better decision-making</a:t>
            </a:r>
            <a:endParaRPr lang="en-US" sz="1400" dirty="0"/>
          </a:p>
        </p:txBody>
      </p:sp>
      <p:pic>
        <p:nvPicPr>
          <p:cNvPr id="6" name="Image 0" descr="preencoded.png"/>
          <p:cNvPicPr>
            <a:picLocks noChangeAspect="1"/>
          </p:cNvPicPr>
          <p:nvPr/>
        </p:nvPicPr>
        <p:blipFill>
          <a:blip r:embed="rId3"/>
          <a:stretch>
            <a:fillRect/>
          </a:stretch>
        </p:blipFill>
        <p:spPr>
          <a:xfrm>
            <a:off x="7772400" y="3474720"/>
            <a:ext cx="914400" cy="914400"/>
          </a:xfrm>
          <a:prstGeom prst="rect">
            <a:avLst/>
          </a:prstGeom>
        </p:spPr>
      </p:pic>
      <p:sp>
        <p:nvSpPr>
          <p:cNvPr id="7" name="Text 4"/>
          <p:cNvSpPr/>
          <p:nvPr/>
        </p:nvSpPr>
        <p:spPr>
          <a:xfrm>
            <a:off x="731520" y="4572000"/>
            <a:ext cx="6400800" cy="32004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Leadership Introduction to Using Risk Analysis to drive </a:t>
            </a:r>
            <a:r>
              <a:rPr lang="en-US" sz="900" i="1">
                <a:solidFill>
                  <a:srgbClr val="64748B"/>
                </a:solidFill>
                <a:latin typeface="Calibri" pitchFamily="34" charset="0"/>
                <a:ea typeface="Calibri" pitchFamily="34" charset="-122"/>
                <a:cs typeface="Calibri" pitchFamily="34" charset="-120"/>
              </a:rPr>
              <a:t>Test Scheduling</a:t>
            </a:r>
            <a:endParaRPr lang="en-US" sz="900" i="1" dirty="0">
              <a:solidFill>
                <a:srgbClr val="64748B"/>
              </a:solidFill>
              <a:latin typeface="Calibri" pitchFamily="34" charset="0"/>
              <a:ea typeface="Calibri" pitchFamily="34" charset="-122"/>
              <a:cs typeface="Calibri" pitchFamily="34" charset="-120"/>
            </a:endParaRPr>
          </a:p>
          <a:p>
            <a:pPr marL="0" indent="0">
              <a:buNone/>
            </a:pPr>
            <a:r>
              <a:rPr lang="en-US" sz="900" i="1" dirty="0">
                <a:solidFill>
                  <a:srgbClr val="64748B"/>
                </a:solidFill>
                <a:latin typeface="Calibri" pitchFamily="34" charset="0"/>
                <a:ea typeface="Calibri" pitchFamily="34" charset="-122"/>
                <a:cs typeface="Calibri" pitchFamily="34" charset="-120"/>
              </a:rPr>
              <a:t>Gary McNickle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The Scheduling Problem</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These conversations happen in every release cycle:</a:t>
            </a:r>
            <a:endParaRPr lang="en-US" sz="1500" dirty="0"/>
          </a:p>
        </p:txBody>
      </p:sp>
      <p:sp>
        <p:nvSpPr>
          <p:cNvPr id="4" name="Shape 2"/>
          <p:cNvSpPr/>
          <p:nvPr/>
        </p:nvSpPr>
        <p:spPr>
          <a:xfrm>
            <a:off x="548640" y="150876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508760"/>
            <a:ext cx="73152" cy="502920"/>
          </a:xfrm>
          <a:prstGeom prst="rect">
            <a:avLst/>
          </a:prstGeom>
          <a:solidFill>
            <a:srgbClr val="D97706"/>
          </a:solidFill>
          <a:ln/>
        </p:spPr>
        <p:txBody>
          <a:bodyPr/>
          <a:lstStyle/>
          <a:p>
            <a:endParaRPr lang="en-US"/>
          </a:p>
        </p:txBody>
      </p:sp>
      <p:sp>
        <p:nvSpPr>
          <p:cNvPr id="6" name="Text 4"/>
          <p:cNvSpPr/>
          <p:nvPr/>
        </p:nvSpPr>
        <p:spPr>
          <a:xfrm>
            <a:off x="777240" y="1508760"/>
            <a:ext cx="30175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"How long does testing take?"</a:t>
            </a:r>
            <a:endParaRPr lang="en-US" sz="1200" dirty="0"/>
          </a:p>
        </p:txBody>
      </p:sp>
      <p:sp>
        <p:nvSpPr>
          <p:cNvPr id="7" name="Text 5"/>
          <p:cNvSpPr/>
          <p:nvPr/>
        </p:nvSpPr>
        <p:spPr>
          <a:xfrm>
            <a:off x="3840480" y="1508760"/>
            <a:ext cx="45720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answer is unclear or inconsistent across releases.</a:t>
            </a:r>
            <a:endParaRPr lang="en-US" sz="1200" dirty="0"/>
          </a:p>
        </p:txBody>
      </p:sp>
      <p:sp>
        <p:nvSpPr>
          <p:cNvPr id="8" name="Shape 6"/>
          <p:cNvSpPr/>
          <p:nvPr/>
        </p:nvSpPr>
        <p:spPr>
          <a:xfrm>
            <a:off x="548640" y="210312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7"/>
          <p:cNvSpPr/>
          <p:nvPr/>
        </p:nvSpPr>
        <p:spPr>
          <a:xfrm>
            <a:off x="548640" y="2103120"/>
            <a:ext cx="73152" cy="502920"/>
          </a:xfrm>
          <a:prstGeom prst="rect">
            <a:avLst/>
          </a:prstGeom>
          <a:solidFill>
            <a:srgbClr val="D97706"/>
          </a:solidFill>
          <a:ln/>
        </p:spPr>
        <p:txBody>
          <a:bodyPr/>
          <a:lstStyle/>
          <a:p>
            <a:endParaRPr lang="en-US"/>
          </a:p>
        </p:txBody>
      </p:sp>
      <p:sp>
        <p:nvSpPr>
          <p:cNvPr id="10" name="Text 8"/>
          <p:cNvSpPr/>
          <p:nvPr/>
        </p:nvSpPr>
        <p:spPr>
          <a:xfrm>
            <a:off x="777240" y="2103120"/>
            <a:ext cx="30175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"Can we ship sooner?"</a:t>
            </a:r>
            <a:endParaRPr lang="en-US" sz="1200" dirty="0"/>
          </a:p>
        </p:txBody>
      </p:sp>
      <p:sp>
        <p:nvSpPr>
          <p:cNvPr id="11" name="Text 9"/>
          <p:cNvSpPr/>
          <p:nvPr/>
        </p:nvSpPr>
        <p:spPr>
          <a:xfrm>
            <a:off x="3840480" y="2103120"/>
            <a:ext cx="45720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Nobody can objectively explain what would be cut.</a:t>
            </a:r>
            <a:endParaRPr lang="en-US" sz="1200" dirty="0"/>
          </a:p>
        </p:txBody>
      </p:sp>
      <p:sp>
        <p:nvSpPr>
          <p:cNvPr id="12" name="Shape 10"/>
          <p:cNvSpPr/>
          <p:nvPr/>
        </p:nvSpPr>
        <p:spPr>
          <a:xfrm>
            <a:off x="548640" y="269748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3" name="Shape 11"/>
          <p:cNvSpPr/>
          <p:nvPr/>
        </p:nvSpPr>
        <p:spPr>
          <a:xfrm>
            <a:off x="548640" y="2697480"/>
            <a:ext cx="73152" cy="502920"/>
          </a:xfrm>
          <a:prstGeom prst="rect">
            <a:avLst/>
          </a:prstGeom>
          <a:solidFill>
            <a:srgbClr val="D97706"/>
          </a:solidFill>
          <a:ln/>
        </p:spPr>
        <p:txBody>
          <a:bodyPr/>
          <a:lstStyle/>
          <a:p>
            <a:endParaRPr lang="en-US"/>
          </a:p>
        </p:txBody>
      </p:sp>
      <p:sp>
        <p:nvSpPr>
          <p:cNvPr id="14" name="Text 12"/>
          <p:cNvSpPr/>
          <p:nvPr/>
        </p:nvSpPr>
        <p:spPr>
          <a:xfrm>
            <a:off x="777240" y="2697480"/>
            <a:ext cx="30175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"What are we actually testing?"</a:t>
            </a:r>
            <a:endParaRPr lang="en-US" sz="1200" dirty="0"/>
          </a:p>
        </p:txBody>
      </p:sp>
      <p:sp>
        <p:nvSpPr>
          <p:cNvPr id="15" name="Text 13"/>
          <p:cNvSpPr/>
          <p:nvPr/>
        </p:nvSpPr>
        <p:spPr>
          <a:xfrm>
            <a:off x="3840480" y="2697480"/>
            <a:ext cx="45720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Coverage is tribal knowledge — not visible or documented.</a:t>
            </a:r>
            <a:endParaRPr lang="en-US" sz="1200" dirty="0"/>
          </a:p>
        </p:txBody>
      </p:sp>
      <p:sp>
        <p:nvSpPr>
          <p:cNvPr id="16" name="Shape 14"/>
          <p:cNvSpPr/>
          <p:nvPr/>
        </p:nvSpPr>
        <p:spPr>
          <a:xfrm>
            <a:off x="548640" y="329184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548640" y="3291840"/>
            <a:ext cx="73152" cy="502920"/>
          </a:xfrm>
          <a:prstGeom prst="rect">
            <a:avLst/>
          </a:prstGeom>
          <a:solidFill>
            <a:srgbClr val="D97706"/>
          </a:solidFill>
          <a:ln/>
        </p:spPr>
        <p:txBody>
          <a:bodyPr/>
          <a:lstStyle/>
          <a:p>
            <a:endParaRPr lang="en-US"/>
          </a:p>
        </p:txBody>
      </p:sp>
      <p:sp>
        <p:nvSpPr>
          <p:cNvPr id="18" name="Text 16"/>
          <p:cNvSpPr/>
          <p:nvPr/>
        </p:nvSpPr>
        <p:spPr>
          <a:xfrm>
            <a:off x="777240" y="3291840"/>
            <a:ext cx="30175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"What happens if we skip some testing?"</a:t>
            </a:r>
            <a:endParaRPr lang="en-US" sz="1200" dirty="0"/>
          </a:p>
        </p:txBody>
      </p:sp>
      <p:sp>
        <p:nvSpPr>
          <p:cNvPr id="19" name="Text 17"/>
          <p:cNvSpPr/>
          <p:nvPr/>
        </p:nvSpPr>
        <p:spPr>
          <a:xfrm>
            <a:off x="3840480" y="3291840"/>
            <a:ext cx="45720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risks of cutting scope are unknown or unstated.</a:t>
            </a:r>
            <a:endParaRPr lang="en-US" sz="1200" dirty="0"/>
          </a:p>
        </p:txBody>
      </p:sp>
      <p:sp>
        <p:nvSpPr>
          <p:cNvPr id="20" name="Shape 18"/>
          <p:cNvSpPr/>
          <p:nvPr/>
        </p:nvSpPr>
        <p:spPr>
          <a:xfrm>
            <a:off x="548640" y="3886200"/>
            <a:ext cx="804672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9"/>
          <p:cNvSpPr/>
          <p:nvPr/>
        </p:nvSpPr>
        <p:spPr>
          <a:xfrm>
            <a:off x="548640" y="3886200"/>
            <a:ext cx="73152" cy="502920"/>
          </a:xfrm>
          <a:prstGeom prst="rect">
            <a:avLst/>
          </a:prstGeom>
          <a:solidFill>
            <a:srgbClr val="D97706"/>
          </a:solidFill>
          <a:ln/>
        </p:spPr>
        <p:txBody>
          <a:bodyPr/>
          <a:lstStyle/>
          <a:p>
            <a:endParaRPr lang="en-US"/>
          </a:p>
        </p:txBody>
      </p:sp>
      <p:sp>
        <p:nvSpPr>
          <p:cNvPr id="22" name="Text 20"/>
          <p:cNvSpPr/>
          <p:nvPr/>
        </p:nvSpPr>
        <p:spPr>
          <a:xfrm>
            <a:off x="777240" y="3886200"/>
            <a:ext cx="3017520" cy="502920"/>
          </a:xfrm>
          <a:prstGeom prst="rect">
            <a:avLst/>
          </a:prstGeom>
          <a:noFill/>
          <a:ln/>
        </p:spPr>
        <p:txBody>
          <a:bodyPr wrap="square" lIns="0" tIns="0" rIns="0" bIns="0" rtlCol="0" anchor="ctr"/>
          <a:lstStyle/>
          <a:p>
            <a:pPr marL="0" indent="0">
              <a:buNone/>
            </a:pPr>
            <a:r>
              <a:rPr lang="en-US" sz="1200" b="1" i="1" dirty="0">
                <a:solidFill>
                  <a:srgbClr val="1E293B"/>
                </a:solidFill>
                <a:latin typeface="Calibri" pitchFamily="34" charset="0"/>
                <a:ea typeface="Calibri" pitchFamily="34" charset="-122"/>
                <a:cs typeface="Calibri" pitchFamily="34" charset="-120"/>
              </a:rPr>
              <a:t>"Why did that defect get through?"</a:t>
            </a:r>
            <a:endParaRPr lang="en-US" sz="1200" dirty="0"/>
          </a:p>
        </p:txBody>
      </p:sp>
      <p:sp>
        <p:nvSpPr>
          <p:cNvPr id="23" name="Text 21"/>
          <p:cNvSpPr/>
          <p:nvPr/>
        </p:nvSpPr>
        <p:spPr>
          <a:xfrm>
            <a:off x="3840480" y="3886200"/>
            <a:ext cx="45720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There is no artifact showing what was and wasn't covered.</a:t>
            </a:r>
            <a:endParaRPr lang="en-US" sz="1200" dirty="0"/>
          </a:p>
        </p:txBody>
      </p:sp>
      <p:sp>
        <p:nvSpPr>
          <p:cNvPr id="24" name="Shape 22"/>
          <p:cNvSpPr/>
          <p:nvPr/>
        </p:nvSpPr>
        <p:spPr>
          <a:xfrm>
            <a:off x="548640" y="4297680"/>
            <a:ext cx="8046720" cy="594360"/>
          </a:xfrm>
          <a:prstGeom prst="rect">
            <a:avLst/>
          </a:prstGeom>
          <a:solidFill>
            <a:srgbClr val="1B2A3D"/>
          </a:solidFill>
          <a:ln/>
        </p:spPr>
        <p:txBody>
          <a:bodyPr/>
          <a:lstStyle/>
          <a:p>
            <a:endParaRPr lang="en-US"/>
          </a:p>
        </p:txBody>
      </p:sp>
      <p:sp>
        <p:nvSpPr>
          <p:cNvPr id="25" name="Text 23"/>
          <p:cNvSpPr/>
          <p:nvPr/>
        </p:nvSpPr>
        <p:spPr>
          <a:xfrm>
            <a:off x="731520" y="4297680"/>
            <a:ext cx="7680960" cy="594360"/>
          </a:xfrm>
          <a:prstGeom prst="rect">
            <a:avLst/>
          </a:prstGeom>
          <a:noFill/>
          <a:ln/>
        </p:spPr>
        <p:txBody>
          <a:bodyPr wrap="square" lIns="0" tIns="0" rIns="0" bIns="0" rtlCol="0" anchor="ctr"/>
          <a:lstStyle/>
          <a:p>
            <a:pPr marL="0" indent="0" algn="ctr">
              <a:buNone/>
            </a:pPr>
            <a:r>
              <a:rPr lang="en-US" sz="1600" b="1" dirty="0">
                <a:solidFill>
                  <a:srgbClr val="0D9488"/>
                </a:solidFill>
                <a:latin typeface="Calibri" pitchFamily="34" charset="0"/>
                <a:ea typeface="Calibri" pitchFamily="34" charset="-122"/>
                <a:cs typeface="Calibri" pitchFamily="34" charset="-120"/>
              </a:rPr>
              <a:t>These are not QA problems.  They are visibility problems.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Why Testing Feels Unpredictable</a:t>
            </a:r>
            <a:endParaRPr lang="en-US" sz="3000" dirty="0"/>
          </a:p>
        </p:txBody>
      </p:sp>
      <p:sp>
        <p:nvSpPr>
          <p:cNvPr id="3" name="Shape 1"/>
          <p:cNvSpPr/>
          <p:nvPr/>
        </p:nvSpPr>
        <p:spPr>
          <a:xfrm>
            <a:off x="548640" y="1188720"/>
            <a:ext cx="3840480" cy="3200400"/>
          </a:xfrm>
          <a:prstGeom prst="rect">
            <a:avLst/>
          </a:prstGeom>
          <a:solidFill>
            <a:srgbClr val="FEF2F2"/>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548640" y="1188720"/>
            <a:ext cx="3840480" cy="502920"/>
          </a:xfrm>
          <a:prstGeom prst="rect">
            <a:avLst/>
          </a:prstGeom>
          <a:solidFill>
            <a:srgbClr val="DC2626"/>
          </a:solidFill>
          <a:ln/>
        </p:spPr>
        <p:txBody>
          <a:bodyPr/>
          <a:lstStyle/>
          <a:p>
            <a:endParaRPr lang="en-US"/>
          </a:p>
        </p:txBody>
      </p:sp>
      <p:sp>
        <p:nvSpPr>
          <p:cNvPr id="5" name="Text 3"/>
          <p:cNvSpPr/>
          <p:nvPr/>
        </p:nvSpPr>
        <p:spPr>
          <a:xfrm>
            <a:off x="731520" y="1188720"/>
            <a:ext cx="3474720" cy="50292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Without Visible Coverage</a:t>
            </a:r>
            <a:endParaRPr lang="en-US" sz="1500" dirty="0"/>
          </a:p>
        </p:txBody>
      </p:sp>
      <p:sp>
        <p:nvSpPr>
          <p:cNvPr id="6" name="Text 4"/>
          <p:cNvSpPr/>
          <p:nvPr/>
        </p:nvSpPr>
        <p:spPr>
          <a:xfrm>
            <a:off x="822960" y="1828800"/>
            <a:ext cx="3383280" cy="2286000"/>
          </a:xfrm>
          <a:prstGeom prst="rect">
            <a:avLst/>
          </a:prstGeom>
          <a:noFill/>
          <a:ln/>
        </p:spPr>
        <p:txBody>
          <a:bodyPr wrap="square" lIns="0" tIns="0" rIns="0" bIns="0" rtlCol="0" anchor="t"/>
          <a:lstStyle/>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Testing scope is defined informally</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Priorities are based on gut feel</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Timelines are difficult to justify</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Schedule compression = blind risk</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Defect escapes have no traceable cause</a:t>
            </a:r>
            <a:endParaRPr lang="en-US" sz="1300" dirty="0"/>
          </a:p>
        </p:txBody>
      </p:sp>
      <p:sp>
        <p:nvSpPr>
          <p:cNvPr id="7" name="Shape 5"/>
          <p:cNvSpPr/>
          <p:nvPr/>
        </p:nvSpPr>
        <p:spPr>
          <a:xfrm>
            <a:off x="4754880" y="1188720"/>
            <a:ext cx="3840480" cy="3200400"/>
          </a:xfrm>
          <a:prstGeom prst="rect">
            <a:avLst/>
          </a:prstGeom>
          <a:solidFill>
            <a:srgbClr val="F0FDF4"/>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754880" y="1188720"/>
            <a:ext cx="3840480" cy="502920"/>
          </a:xfrm>
          <a:prstGeom prst="rect">
            <a:avLst/>
          </a:prstGeom>
          <a:solidFill>
            <a:srgbClr val="16A34A"/>
          </a:solidFill>
          <a:ln/>
        </p:spPr>
        <p:txBody>
          <a:bodyPr/>
          <a:lstStyle/>
          <a:p>
            <a:endParaRPr lang="en-US"/>
          </a:p>
        </p:txBody>
      </p:sp>
      <p:sp>
        <p:nvSpPr>
          <p:cNvPr id="9" name="Text 7"/>
          <p:cNvSpPr/>
          <p:nvPr/>
        </p:nvSpPr>
        <p:spPr>
          <a:xfrm>
            <a:off x="4937760" y="1188720"/>
            <a:ext cx="3474720" cy="50292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With Visible Coverage</a:t>
            </a:r>
            <a:endParaRPr lang="en-US" sz="1500" dirty="0"/>
          </a:p>
        </p:txBody>
      </p:sp>
      <p:sp>
        <p:nvSpPr>
          <p:cNvPr id="10" name="Text 8"/>
          <p:cNvSpPr/>
          <p:nvPr/>
        </p:nvSpPr>
        <p:spPr>
          <a:xfrm>
            <a:off x="5029200" y="1828800"/>
            <a:ext cx="3383280" cy="2286000"/>
          </a:xfrm>
          <a:prstGeom prst="rect">
            <a:avLst/>
          </a:prstGeom>
          <a:noFill/>
          <a:ln/>
        </p:spPr>
        <p:txBody>
          <a:bodyPr wrap="square" lIns="0" tIns="0" rIns="0" bIns="0" rtlCol="0" anchor="t"/>
          <a:lstStyle/>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Testing scope is documented and shared</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Priorities are based on assessed risk</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Timelines are backed by visible data</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Schedule changes show explicit tradeoffs</a:t>
            </a:r>
            <a:endParaRPr lang="en-US" sz="1300" dirty="0"/>
          </a:p>
          <a:p>
            <a:pPr marL="342900" indent="-342900">
              <a:lnSpc>
                <a:spcPct val="160000"/>
              </a:lnSpc>
              <a:buSzPct val="100000"/>
              <a:buChar char="•"/>
            </a:pPr>
            <a:r>
              <a:rPr lang="en-US" sz="1300" dirty="0">
                <a:solidFill>
                  <a:srgbClr val="334155"/>
                </a:solidFill>
                <a:latin typeface="Calibri" pitchFamily="34" charset="0"/>
                <a:ea typeface="Calibri" pitchFamily="34" charset="-122"/>
                <a:cs typeface="Calibri" pitchFamily="34" charset="-120"/>
              </a:rPr>
              <a:t>Coverage gaps are traceable and intentional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36576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 Lightweight Framework</a:t>
            </a:r>
            <a:endParaRPr lang="en-US" sz="3200" dirty="0"/>
          </a:p>
        </p:txBody>
      </p:sp>
      <p:sp>
        <p:nvSpPr>
          <p:cNvPr id="4" name="Text 2"/>
          <p:cNvSpPr/>
          <p:nvPr/>
        </p:nvSpPr>
        <p:spPr>
          <a:xfrm>
            <a:off x="731520" y="1097280"/>
            <a:ext cx="7772400" cy="45720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The team is adopting a simple, two-part process that produces visible, communicable artifacts.</a:t>
            </a:r>
            <a:endParaRPr lang="en-US" sz="1500" dirty="0"/>
          </a:p>
        </p:txBody>
      </p:sp>
      <p:sp>
        <p:nvSpPr>
          <p:cNvPr id="5" name="Shape 3"/>
          <p:cNvSpPr/>
          <p:nvPr/>
        </p:nvSpPr>
        <p:spPr>
          <a:xfrm>
            <a:off x="548640" y="1737360"/>
            <a:ext cx="3840480" cy="2560320"/>
          </a:xfrm>
          <a:prstGeom prst="rect">
            <a:avLst/>
          </a:prstGeom>
          <a:solidFill>
            <a:srgbClr val="24344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920240"/>
            <a:ext cx="411480" cy="411480"/>
          </a:xfrm>
          <a:prstGeom prst="rect">
            <a:avLst/>
          </a:prstGeom>
        </p:spPr>
      </p:pic>
      <p:sp>
        <p:nvSpPr>
          <p:cNvPr id="7" name="Text 4"/>
          <p:cNvSpPr/>
          <p:nvPr/>
        </p:nvSpPr>
        <p:spPr>
          <a:xfrm>
            <a:off x="1325880" y="1920240"/>
            <a:ext cx="2834640" cy="411480"/>
          </a:xfrm>
          <a:prstGeom prst="rect">
            <a:avLst/>
          </a:prstGeom>
          <a:noFill/>
          <a:ln/>
        </p:spPr>
        <p:txBody>
          <a:bodyPr wrap="square" lIns="0" tIns="0" rIns="0" bIns="0" rtlCol="0" anchor="ctr"/>
          <a:lstStyle/>
          <a:p>
            <a:pPr marL="0" indent="0">
              <a:buNone/>
            </a:pPr>
            <a:r>
              <a:rPr lang="en-US" sz="1800" b="1" dirty="0">
                <a:solidFill>
                  <a:srgbClr val="0D9488"/>
                </a:solidFill>
                <a:latin typeface="Trebuchet MS" pitchFamily="34" charset="0"/>
                <a:ea typeface="Trebuchet MS" pitchFamily="34" charset="-122"/>
                <a:cs typeface="Trebuchet MS" pitchFamily="34" charset="-120"/>
              </a:rPr>
              <a:t>Test Inventories</a:t>
            </a:r>
            <a:endParaRPr lang="en-US" sz="1800" dirty="0"/>
          </a:p>
        </p:txBody>
      </p:sp>
      <p:sp>
        <p:nvSpPr>
          <p:cNvPr id="8" name="Text 5"/>
          <p:cNvSpPr/>
          <p:nvPr/>
        </p:nvSpPr>
        <p:spPr>
          <a:xfrm>
            <a:off x="822960" y="2514600"/>
            <a:ext cx="3383280" cy="1645920"/>
          </a:xfrm>
          <a:prstGeom prst="rect">
            <a:avLst/>
          </a:prstGeom>
          <a:noFill/>
          <a:ln/>
        </p:spPr>
        <p:txBody>
          <a:bodyPr wrap="square" lIns="0" tIns="0" rIns="0" bIns="0" rtlCol="0" anchor="t"/>
          <a:lstStyle/>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Identify what needs testing</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Organize into visible coverage areas</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Map coverage across test suites</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Make gaps visible and intentional</a:t>
            </a:r>
            <a:endParaRPr lang="en-US" sz="1200" dirty="0"/>
          </a:p>
        </p:txBody>
      </p:sp>
      <p:sp>
        <p:nvSpPr>
          <p:cNvPr id="9" name="Shape 6"/>
          <p:cNvSpPr/>
          <p:nvPr/>
        </p:nvSpPr>
        <p:spPr>
          <a:xfrm>
            <a:off x="4754880" y="1737360"/>
            <a:ext cx="3840480" cy="2560320"/>
          </a:xfrm>
          <a:prstGeom prst="rect">
            <a:avLst/>
          </a:prstGeom>
          <a:solidFill>
            <a:srgbClr val="243447"/>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983480" y="1920240"/>
            <a:ext cx="411480" cy="411480"/>
          </a:xfrm>
          <a:prstGeom prst="rect">
            <a:avLst/>
          </a:prstGeom>
        </p:spPr>
      </p:pic>
      <p:sp>
        <p:nvSpPr>
          <p:cNvPr id="11" name="Text 7"/>
          <p:cNvSpPr/>
          <p:nvPr/>
        </p:nvSpPr>
        <p:spPr>
          <a:xfrm>
            <a:off x="5532120" y="1920240"/>
            <a:ext cx="2834640" cy="411480"/>
          </a:xfrm>
          <a:prstGeom prst="rect">
            <a:avLst/>
          </a:prstGeom>
          <a:noFill/>
          <a:ln/>
        </p:spPr>
        <p:txBody>
          <a:bodyPr wrap="square" lIns="0" tIns="0" rIns="0" bIns="0" rtlCol="0" anchor="ctr"/>
          <a:lstStyle/>
          <a:p>
            <a:pPr marL="0" indent="0">
              <a:buNone/>
            </a:pPr>
            <a:r>
              <a:rPr lang="en-US" sz="1800" b="1" dirty="0">
                <a:solidFill>
                  <a:srgbClr val="0D9488"/>
                </a:solidFill>
                <a:latin typeface="Trebuchet MS" pitchFamily="34" charset="0"/>
                <a:ea typeface="Trebuchet MS" pitchFamily="34" charset="-122"/>
                <a:cs typeface="Trebuchet MS" pitchFamily="34" charset="-120"/>
              </a:rPr>
              <a:t>Risk-Based Prioritization</a:t>
            </a:r>
            <a:endParaRPr lang="en-US" sz="1800" dirty="0"/>
          </a:p>
        </p:txBody>
      </p:sp>
      <p:sp>
        <p:nvSpPr>
          <p:cNvPr id="12" name="Text 8"/>
          <p:cNvSpPr/>
          <p:nvPr/>
        </p:nvSpPr>
        <p:spPr>
          <a:xfrm>
            <a:off x="5029200" y="2514600"/>
            <a:ext cx="3383280" cy="1645920"/>
          </a:xfrm>
          <a:prstGeom prst="rect">
            <a:avLst/>
          </a:prstGeom>
          <a:noFill/>
          <a:ln/>
        </p:spPr>
        <p:txBody>
          <a:bodyPr wrap="square" lIns="0" tIns="0" rIns="0" bIns="0" rtlCol="0" anchor="t"/>
          <a:lstStyle/>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Assess likelihood and impact of failure</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Compute priority scores</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Rank inventories by risk</a:t>
            </a:r>
            <a:endParaRPr lang="en-US" sz="1200" dirty="0"/>
          </a:p>
          <a:p>
            <a:pPr marL="342900" indent="-342900">
              <a:lnSpc>
                <a:spcPct val="150000"/>
              </a:lnSpc>
              <a:buSzPct val="100000"/>
              <a:buChar char="•"/>
            </a:pPr>
            <a:r>
              <a:rPr lang="en-US" sz="1200" dirty="0">
                <a:solidFill>
                  <a:srgbClr val="FFFFFF"/>
                </a:solidFill>
                <a:latin typeface="Calibri" pitchFamily="34" charset="0"/>
                <a:ea typeface="Calibri" pitchFamily="34" charset="-122"/>
                <a:cs typeface="Calibri" pitchFamily="34" charset="-120"/>
              </a:rPr>
              <a:t>Establish cut-lines for scheduling</a:t>
            </a:r>
            <a:endParaRPr lang="en-US" sz="1200" dirty="0"/>
          </a:p>
        </p:txBody>
      </p:sp>
      <p:pic>
        <p:nvPicPr>
          <p:cNvPr id="13" name="Image 2" descr="preencoded.png"/>
          <p:cNvPicPr>
            <a:picLocks noChangeAspect="1"/>
          </p:cNvPicPr>
          <p:nvPr/>
        </p:nvPicPr>
        <p:blipFill>
          <a:blip r:embed="rId5"/>
          <a:stretch>
            <a:fillRect/>
          </a:stretch>
        </p:blipFill>
        <p:spPr>
          <a:xfrm>
            <a:off x="4251960" y="2743200"/>
            <a:ext cx="457200" cy="457200"/>
          </a:xfrm>
          <a:prstGeom prst="rect">
            <a:avLst/>
          </a:prstGeom>
        </p:spPr>
      </p:pic>
      <p:sp>
        <p:nvSpPr>
          <p:cNvPr id="14" name="Shape 9"/>
          <p:cNvSpPr/>
          <p:nvPr/>
        </p:nvSpPr>
        <p:spPr>
          <a:xfrm>
            <a:off x="548640" y="4572000"/>
            <a:ext cx="8046720" cy="411480"/>
          </a:xfrm>
          <a:prstGeom prst="rect">
            <a:avLst/>
          </a:prstGeom>
          <a:solidFill>
            <a:srgbClr val="0F766E"/>
          </a:solidFill>
          <a:ln/>
        </p:spPr>
        <p:txBody>
          <a:bodyPr/>
          <a:lstStyle/>
          <a:p>
            <a:endParaRPr lang="en-US"/>
          </a:p>
        </p:txBody>
      </p:sp>
      <p:sp>
        <p:nvSpPr>
          <p:cNvPr id="15" name="Text 10"/>
          <p:cNvSpPr/>
          <p:nvPr/>
        </p:nvSpPr>
        <p:spPr>
          <a:xfrm>
            <a:off x="731520" y="4572000"/>
            <a:ext cx="768096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output: objective, discussable data that supports scheduling and release decisions.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What You Will See</a:t>
            </a:r>
            <a:endParaRPr lang="en-US" sz="3000" dirty="0"/>
          </a:p>
        </p:txBody>
      </p:sp>
      <p:sp>
        <p:nvSpPr>
          <p:cNvPr id="3" name="Text 1"/>
          <p:cNvSpPr/>
          <p:nvPr/>
        </p:nvSpPr>
        <p:spPr>
          <a:xfrm>
            <a:off x="548640" y="82296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The team produces two key artifacts:</a:t>
            </a:r>
            <a:endParaRPr lang="en-US" sz="1500" dirty="0"/>
          </a:p>
        </p:txBody>
      </p:sp>
      <p:sp>
        <p:nvSpPr>
          <p:cNvPr id="4" name="Shape 2"/>
          <p:cNvSpPr/>
          <p:nvPr/>
        </p:nvSpPr>
        <p:spPr>
          <a:xfrm>
            <a:off x="548640" y="1280160"/>
            <a:ext cx="3931920" cy="411480"/>
          </a:xfrm>
          <a:prstGeom prst="rect">
            <a:avLst/>
          </a:prstGeom>
          <a:solidFill>
            <a:srgbClr val="1B2A3D"/>
          </a:solidFill>
          <a:ln/>
        </p:spPr>
        <p:txBody>
          <a:bodyPr/>
          <a:lstStyle/>
          <a:p>
            <a:endParaRPr lang="en-US"/>
          </a:p>
        </p:txBody>
      </p:sp>
      <p:sp>
        <p:nvSpPr>
          <p:cNvPr id="5" name="Text 3"/>
          <p:cNvSpPr/>
          <p:nvPr/>
        </p:nvSpPr>
        <p:spPr>
          <a:xfrm>
            <a:off x="731520" y="1280160"/>
            <a:ext cx="3566160" cy="41148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Coverage Matrix</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4260076993"/>
              </p:ext>
            </p:extLst>
          </p:nvPr>
        </p:nvGraphicFramePr>
        <p:xfrm>
          <a:off x="548640" y="1691640"/>
          <a:ext cx="3931920" cy="1014984"/>
        </p:xfrm>
        <a:graphic>
          <a:graphicData uri="http://schemas.openxmlformats.org/drawingml/2006/table">
            <a:tbl>
              <a:tblPr/>
              <a:tblGrid>
                <a:gridCol w="15544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Inventory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Smoke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Regr.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Auto.</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246888">
                <a:tc>
                  <a:txBody>
                    <a:bodyPr/>
                    <a:lstStyle/>
                    <a:p>
                      <a:pPr marL="0" indent="0" algn="l" defTabSz="914400" rtl="0" eaLnBrk="1" latinLnBrk="0" hangingPunct="1">
                        <a:buNone/>
                      </a:pPr>
                      <a:r>
                        <a:rPr lang="en-US" sz="900" kern="1200" dirty="0">
                          <a:solidFill>
                            <a:srgbClr val="334155"/>
                          </a:solidFill>
                          <a:latin typeface="Calibri" pitchFamily="34" charset="0"/>
                          <a:ea typeface="Calibri" pitchFamily="34" charset="-122"/>
                          <a:cs typeface="Calibri" pitchFamily="34" charset="-120"/>
                        </a:rPr>
                        <a:t>Login / Logout</a:t>
                      </a:r>
                      <a:endParaRPr lang="en-US" sz="900" kern="1200" dirty="0">
                        <a:solidFill>
                          <a:srgbClr val="334155"/>
                        </a:solidFill>
                        <a:latin typeface="Calibri" pitchFamily="34" charset="0"/>
                        <a:ea typeface="Calibri" charset="0"/>
                        <a:cs typeface="Calibri" pitchFamily="34" charset="-12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defTabSz="914400" rtl="0" eaLnBrk="1" latinLnBrk="0" hangingPunct="1">
                        <a:buNone/>
                      </a:pPr>
                      <a:r>
                        <a:rPr lang="en-US" sz="900" kern="1200" dirty="0">
                          <a:solidFill>
                            <a:srgbClr val="334155"/>
                          </a:solidFill>
                          <a:latin typeface="Calibri" pitchFamily="34" charset="0"/>
                          <a:ea typeface="Calibri" pitchFamily="34" charset="-122"/>
                          <a:cs typeface="Calibri" pitchFamily="34" charset="-120"/>
                        </a:rPr>
                        <a:t>Credit Card Payment</a:t>
                      </a:r>
                      <a:endParaRPr lang="en-US" sz="900" kern="1200" dirty="0">
                        <a:solidFill>
                          <a:srgbClr val="334155"/>
                        </a:solidFill>
                        <a:latin typeface="Calibri" pitchFamily="34" charset="0"/>
                        <a:ea typeface="Calibri" charset="0"/>
                        <a:cs typeface="Calibri" pitchFamily="34" charset="-12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D97706"/>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l" defTabSz="914400" rtl="0" eaLnBrk="1" latinLnBrk="0" hangingPunct="1">
                        <a:buNone/>
                      </a:pPr>
                      <a:r>
                        <a:rPr lang="en-US" sz="900" kern="1200" dirty="0">
                          <a:solidFill>
                            <a:srgbClr val="334155"/>
                          </a:solidFill>
                          <a:latin typeface="Calibri" pitchFamily="34" charset="0"/>
                          <a:ea typeface="Calibri" pitchFamily="34" charset="-122"/>
                          <a:cs typeface="Calibri" pitchFamily="34" charset="-120"/>
                        </a:rPr>
                        <a:t>Coupon Codes</a:t>
                      </a:r>
                      <a:endParaRPr lang="en-US" sz="900" kern="1200" dirty="0">
                        <a:solidFill>
                          <a:srgbClr val="334155"/>
                        </a:solidFill>
                        <a:latin typeface="Calibri" pitchFamily="34" charset="0"/>
                        <a:ea typeface="Calibri" charset="0"/>
                        <a:cs typeface="Calibri" pitchFamily="34" charset="-12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900" kern="1200" dirty="0">
                          <a:solidFill>
                            <a:srgbClr val="334155"/>
                          </a:solidFill>
                          <a:latin typeface="Calibri" pitchFamily="34" charset="0"/>
                          <a:ea typeface="Calibri" pitchFamily="34" charset="-122"/>
                          <a:cs typeface="Calibri" pitchFamily="34" charset="-120"/>
                        </a:rPr>
                        <a:t>—</a:t>
                      </a:r>
                      <a:endParaRPr lang="en-US" sz="900" kern="1200" dirty="0">
                        <a:solidFill>
                          <a:srgbClr val="334155"/>
                        </a:solidFill>
                        <a:latin typeface="Calibri" pitchFamily="34" charset="0"/>
                        <a:ea typeface="Calibri" charset="0"/>
                        <a:cs typeface="Calibri" pitchFamily="34" charset="-12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900" kern="1200" dirty="0">
                          <a:solidFill>
                            <a:srgbClr val="334155"/>
                          </a:solidFill>
                          <a:latin typeface="Calibri" pitchFamily="34" charset="0"/>
                          <a:ea typeface="Calibri" pitchFamily="34" charset="-122"/>
                          <a:cs typeface="Calibri" pitchFamily="34" charset="-120"/>
                        </a:rPr>
                        <a:t>—</a:t>
                      </a:r>
                      <a:endParaRPr lang="en-US" sz="900" kern="1200" dirty="0">
                        <a:solidFill>
                          <a:srgbClr val="334155"/>
                        </a:solidFill>
                        <a:latin typeface="Calibri" pitchFamily="34" charset="0"/>
                        <a:ea typeface="Calibri" charset="0"/>
                        <a:cs typeface="Calibri" pitchFamily="34" charset="-12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2697480"/>
            <a:ext cx="393192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Shows what is tested, where, and what gaps exist.</a:t>
            </a:r>
            <a:endParaRPr lang="en-US" sz="1000" dirty="0"/>
          </a:p>
        </p:txBody>
      </p:sp>
      <p:sp>
        <p:nvSpPr>
          <p:cNvPr id="8" name="Shape 5"/>
          <p:cNvSpPr/>
          <p:nvPr/>
        </p:nvSpPr>
        <p:spPr>
          <a:xfrm>
            <a:off x="4663440" y="1280160"/>
            <a:ext cx="4114800" cy="411480"/>
          </a:xfrm>
          <a:prstGeom prst="rect">
            <a:avLst/>
          </a:prstGeom>
          <a:solidFill>
            <a:srgbClr val="1B2A3D"/>
          </a:solidFill>
          <a:ln/>
        </p:spPr>
        <p:txBody>
          <a:bodyPr/>
          <a:lstStyle/>
          <a:p>
            <a:endParaRPr lang="en-US"/>
          </a:p>
        </p:txBody>
      </p:sp>
      <p:sp>
        <p:nvSpPr>
          <p:cNvPr id="9" name="Text 6"/>
          <p:cNvSpPr/>
          <p:nvPr/>
        </p:nvSpPr>
        <p:spPr>
          <a:xfrm>
            <a:off x="4846320" y="1280160"/>
            <a:ext cx="3749040" cy="41148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Prioritized Risk Analysis</a:t>
            </a:r>
            <a:endParaRPr lang="en-US" sz="1400" dirty="0"/>
          </a:p>
        </p:txBody>
      </p:sp>
      <p:graphicFrame>
        <p:nvGraphicFramePr>
          <p:cNvPr id="11" name="Table 1"/>
          <p:cNvGraphicFramePr>
            <a:graphicFrameLocks noGrp="1"/>
          </p:cNvGraphicFramePr>
          <p:nvPr>
            <p:extLst>
              <p:ext uri="{D42A27DB-BD31-4B8C-83A1-F6EECF244321}">
                <p14:modId xmlns:p14="http://schemas.microsoft.com/office/powerpoint/2010/main" val="311566994"/>
              </p:ext>
            </p:extLst>
          </p:nvPr>
        </p:nvGraphicFramePr>
        <p:xfrm>
          <a:off x="4663440" y="1691640"/>
          <a:ext cx="4114800" cy="1014984"/>
        </p:xfrm>
        <a:graphic>
          <a:graphicData uri="http://schemas.openxmlformats.org/drawingml/2006/table">
            <a:tbl>
              <a:tblPr/>
              <a:tblGrid>
                <a:gridCol w="1645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Inventory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Priority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Est. Hrs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Cum.</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3D"/>
                    </a:solidFill>
                  </a:tcPr>
                </a:tc>
                <a:extLst>
                  <a:ext uri="{0D108BD9-81ED-4DB2-BD59-A6C34878D82A}">
                    <a16:rowId xmlns:a16="http://schemas.microsoft.com/office/drawing/2014/main" val="10000"/>
                  </a:ext>
                </a:extLst>
              </a:tr>
              <a:tr h="246888">
                <a:tc>
                  <a:txBody>
                    <a:bodyPr/>
                    <a:lstStyle/>
                    <a:p>
                      <a:pPr marL="0" indent="0" algn="l">
                        <a:buNone/>
                      </a:pPr>
                      <a:r>
                        <a:rPr lang="en-US" sz="900" dirty="0">
                          <a:solidFill>
                            <a:srgbClr val="334155"/>
                          </a:solidFill>
                          <a:latin typeface="Calibri" pitchFamily="34" charset="0"/>
                          <a:ea typeface="Calibri" pitchFamily="34" charset="-122"/>
                          <a:cs typeface="Calibri" pitchFamily="34" charset="-120"/>
                        </a:rPr>
                        <a:t>Login / Logout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900" dirty="0">
                          <a:solidFill>
                            <a:srgbClr val="334155"/>
                          </a:solidFill>
                          <a:latin typeface="Calibri" pitchFamily="34" charset="0"/>
                          <a:ea typeface="Calibri" pitchFamily="34" charset="-122"/>
                          <a:cs typeface="Calibri" pitchFamily="34" charset="-120"/>
                        </a:rPr>
                        <a:t>Credit Card Payment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3.0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7.0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l">
                        <a:buNone/>
                      </a:pPr>
                      <a:r>
                        <a:rPr lang="en-US" sz="900" dirty="0">
                          <a:solidFill>
                            <a:srgbClr val="334155"/>
                          </a:solidFill>
                          <a:latin typeface="Calibri" pitchFamily="34" charset="0"/>
                          <a:ea typeface="Calibri" pitchFamily="34" charset="-122"/>
                          <a:cs typeface="Calibri" pitchFamily="34" charset="-120"/>
                        </a:rPr>
                        <a:t>Password Reset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13.5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7"/>
          <p:cNvSpPr/>
          <p:nvPr/>
        </p:nvSpPr>
        <p:spPr>
          <a:xfrm>
            <a:off x="4663440" y="2679192"/>
            <a:ext cx="4114800" cy="0"/>
          </a:xfrm>
          <a:prstGeom prst="line">
            <a:avLst/>
          </a:prstGeom>
          <a:noFill/>
          <a:ln w="19050">
            <a:solidFill>
              <a:srgbClr val="DC2626"/>
            </a:solidFill>
            <a:prstDash val="dash"/>
          </a:ln>
        </p:spPr>
        <p:txBody>
          <a:bodyPr/>
          <a:lstStyle/>
          <a:p>
            <a:endParaRPr lang="en-US"/>
          </a:p>
        </p:txBody>
      </p:sp>
      <p:sp>
        <p:nvSpPr>
          <p:cNvPr id="12" name="Text 8"/>
          <p:cNvSpPr/>
          <p:nvPr/>
        </p:nvSpPr>
        <p:spPr>
          <a:xfrm>
            <a:off x="4663440" y="2697480"/>
            <a:ext cx="4114800" cy="274320"/>
          </a:xfrm>
          <a:prstGeom prst="rect">
            <a:avLst/>
          </a:prstGeom>
          <a:noFill/>
          <a:ln/>
        </p:spPr>
        <p:txBody>
          <a:bodyPr wrap="square" lIns="0" tIns="0" rIns="0" bIns="0" rtlCol="0" anchor="ctr"/>
          <a:lstStyle/>
          <a:p>
            <a:pPr marL="0" indent="0" algn="ctr">
              <a:buNone/>
            </a:pPr>
            <a:r>
              <a:rPr lang="en-US" sz="900" i="1" dirty="0">
                <a:solidFill>
                  <a:srgbClr val="DC2626"/>
                </a:solidFill>
                <a:latin typeface="Calibri" pitchFamily="34" charset="0"/>
                <a:ea typeface="Calibri" pitchFamily="34" charset="-122"/>
                <a:cs typeface="Calibri" pitchFamily="34" charset="-120"/>
              </a:rPr>
              <a:t>Cut-line — items below deferred</a:t>
            </a:r>
            <a:endParaRPr lang="en-US" sz="900" dirty="0"/>
          </a:p>
        </p:txBody>
      </p:sp>
      <p:sp>
        <p:nvSpPr>
          <p:cNvPr id="13" name="Text 9"/>
          <p:cNvSpPr/>
          <p:nvPr/>
        </p:nvSpPr>
        <p:spPr>
          <a:xfrm>
            <a:off x="4663440" y="2971800"/>
            <a:ext cx="411480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Shows what carries the most risk and how long testing takes.</a:t>
            </a:r>
            <a:endParaRPr lang="en-US" sz="1000" dirty="0"/>
          </a:p>
        </p:txBody>
      </p:sp>
      <p:sp>
        <p:nvSpPr>
          <p:cNvPr id="14" name="Shape 10"/>
          <p:cNvSpPr/>
          <p:nvPr/>
        </p:nvSpPr>
        <p:spPr>
          <a:xfrm>
            <a:off x="548640" y="3474720"/>
            <a:ext cx="8046720" cy="13716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Text 11"/>
          <p:cNvSpPr/>
          <p:nvPr/>
        </p:nvSpPr>
        <p:spPr>
          <a:xfrm>
            <a:off x="731520" y="3520440"/>
            <a:ext cx="768096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Together, these artifacts answer:</a:t>
            </a:r>
            <a:endParaRPr lang="en-US" sz="1400" dirty="0"/>
          </a:p>
        </p:txBody>
      </p:sp>
      <p:pic>
        <p:nvPicPr>
          <p:cNvPr id="16" name="Image 0" descr="preencoded.png"/>
          <p:cNvPicPr>
            <a:picLocks noChangeAspect="1"/>
          </p:cNvPicPr>
          <p:nvPr/>
        </p:nvPicPr>
        <p:blipFill>
          <a:blip r:embed="rId3"/>
          <a:stretch>
            <a:fillRect/>
          </a:stretch>
        </p:blipFill>
        <p:spPr>
          <a:xfrm>
            <a:off x="731520" y="3931920"/>
            <a:ext cx="274320" cy="274320"/>
          </a:xfrm>
          <a:prstGeom prst="rect">
            <a:avLst/>
          </a:prstGeom>
        </p:spPr>
      </p:pic>
      <p:sp>
        <p:nvSpPr>
          <p:cNvPr id="17" name="Text 12"/>
          <p:cNvSpPr/>
          <p:nvPr/>
        </p:nvSpPr>
        <p:spPr>
          <a:xfrm>
            <a:off x="1097280" y="3886200"/>
            <a:ext cx="1554480" cy="36576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What are we testing?</a:t>
            </a:r>
            <a:endParaRPr lang="en-US" sz="1100" dirty="0"/>
          </a:p>
        </p:txBody>
      </p:sp>
      <p:pic>
        <p:nvPicPr>
          <p:cNvPr id="18" name="Image 1" descr="preencoded.png"/>
          <p:cNvPicPr>
            <a:picLocks noChangeAspect="1"/>
          </p:cNvPicPr>
          <p:nvPr/>
        </p:nvPicPr>
        <p:blipFill>
          <a:blip r:embed="rId4"/>
          <a:stretch>
            <a:fillRect/>
          </a:stretch>
        </p:blipFill>
        <p:spPr>
          <a:xfrm>
            <a:off x="2743200" y="3931920"/>
            <a:ext cx="274320" cy="274320"/>
          </a:xfrm>
          <a:prstGeom prst="rect">
            <a:avLst/>
          </a:prstGeom>
        </p:spPr>
      </p:pic>
      <p:sp>
        <p:nvSpPr>
          <p:cNvPr id="19" name="Text 13"/>
          <p:cNvSpPr/>
          <p:nvPr/>
        </p:nvSpPr>
        <p:spPr>
          <a:xfrm>
            <a:off x="3108960" y="3886200"/>
            <a:ext cx="1554480" cy="36576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What are we not testing?</a:t>
            </a:r>
            <a:endParaRPr lang="en-US" sz="1100" dirty="0"/>
          </a:p>
        </p:txBody>
      </p:sp>
      <p:pic>
        <p:nvPicPr>
          <p:cNvPr id="20" name="Image 2" descr="preencoded.png"/>
          <p:cNvPicPr>
            <a:picLocks noChangeAspect="1"/>
          </p:cNvPicPr>
          <p:nvPr/>
        </p:nvPicPr>
        <p:blipFill>
          <a:blip r:embed="rId5"/>
          <a:stretch>
            <a:fillRect/>
          </a:stretch>
        </p:blipFill>
        <p:spPr>
          <a:xfrm>
            <a:off x="4754880" y="3931920"/>
            <a:ext cx="274320" cy="274320"/>
          </a:xfrm>
          <a:prstGeom prst="rect">
            <a:avLst/>
          </a:prstGeom>
        </p:spPr>
      </p:pic>
      <p:sp>
        <p:nvSpPr>
          <p:cNvPr id="21" name="Text 14"/>
          <p:cNvSpPr/>
          <p:nvPr/>
        </p:nvSpPr>
        <p:spPr>
          <a:xfrm>
            <a:off x="5120640" y="3886200"/>
            <a:ext cx="1554480" cy="36576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How long will it take?</a:t>
            </a:r>
            <a:endParaRPr lang="en-US" sz="1100" dirty="0"/>
          </a:p>
        </p:txBody>
      </p:sp>
      <p:pic>
        <p:nvPicPr>
          <p:cNvPr id="22" name="Image 3" descr="preencoded.png"/>
          <p:cNvPicPr>
            <a:picLocks noChangeAspect="1"/>
          </p:cNvPicPr>
          <p:nvPr/>
        </p:nvPicPr>
        <p:blipFill>
          <a:blip r:embed="rId6"/>
          <a:stretch>
            <a:fillRect/>
          </a:stretch>
        </p:blipFill>
        <p:spPr>
          <a:xfrm>
            <a:off x="6766560" y="3931920"/>
            <a:ext cx="274320" cy="274320"/>
          </a:xfrm>
          <a:prstGeom prst="rect">
            <a:avLst/>
          </a:prstGeom>
        </p:spPr>
      </p:pic>
      <p:sp>
        <p:nvSpPr>
          <p:cNvPr id="23" name="Text 15"/>
          <p:cNvSpPr/>
          <p:nvPr/>
        </p:nvSpPr>
        <p:spPr>
          <a:xfrm>
            <a:off x="7132320" y="3886200"/>
            <a:ext cx="1554480" cy="365760"/>
          </a:xfrm>
          <a:prstGeom prst="rect">
            <a:avLst/>
          </a:prstGeom>
          <a:noFill/>
          <a:ln/>
        </p:spPr>
        <p:txBody>
          <a:bodyPr wrap="square" lIns="0" tIns="0" rIns="0" bIns="0" rtlCol="0" anchor="ctr"/>
          <a:lstStyle/>
          <a:p>
            <a:pPr marL="0" indent="0">
              <a:buNone/>
            </a:pPr>
            <a:r>
              <a:rPr lang="en-US" sz="1100" b="1" dirty="0">
                <a:solidFill>
                  <a:srgbClr val="334155"/>
                </a:solidFill>
                <a:latin typeface="Calibri" pitchFamily="34" charset="0"/>
                <a:ea typeface="Calibri" pitchFamily="34" charset="-122"/>
                <a:cs typeface="Calibri" pitchFamily="34" charset="-120"/>
              </a:rPr>
              <a:t>What happens if we cut scope?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How Scheduling Conversations Change</a:t>
            </a:r>
            <a:endParaRPr lang="en-US" sz="2800" dirty="0"/>
          </a:p>
        </p:txBody>
      </p:sp>
      <p:sp>
        <p:nvSpPr>
          <p:cNvPr id="3" name="Shape 1"/>
          <p:cNvSpPr/>
          <p:nvPr/>
        </p:nvSpPr>
        <p:spPr>
          <a:xfrm>
            <a:off x="548640" y="960120"/>
            <a:ext cx="3840480" cy="1463040"/>
          </a:xfrm>
          <a:prstGeom prst="rect">
            <a:avLst/>
          </a:prstGeom>
          <a:solidFill>
            <a:srgbClr val="FEF2F2"/>
          </a:solidFill>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548640" y="960120"/>
            <a:ext cx="3840480" cy="411480"/>
          </a:xfrm>
          <a:prstGeom prst="rect">
            <a:avLst/>
          </a:prstGeom>
          <a:solidFill>
            <a:srgbClr val="DC2626"/>
          </a:solidFill>
          <a:ln/>
        </p:spPr>
        <p:txBody>
          <a:bodyPr/>
          <a:lstStyle/>
          <a:p>
            <a:endParaRPr lang="en-US"/>
          </a:p>
        </p:txBody>
      </p:sp>
      <p:sp>
        <p:nvSpPr>
          <p:cNvPr id="5" name="Text 3"/>
          <p:cNvSpPr/>
          <p:nvPr/>
        </p:nvSpPr>
        <p:spPr>
          <a:xfrm>
            <a:off x="731520" y="960120"/>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Before</a:t>
            </a:r>
            <a:endParaRPr lang="en-US" sz="1400" dirty="0"/>
          </a:p>
        </p:txBody>
      </p:sp>
      <p:sp>
        <p:nvSpPr>
          <p:cNvPr id="6" name="Text 4"/>
          <p:cNvSpPr/>
          <p:nvPr/>
        </p:nvSpPr>
        <p:spPr>
          <a:xfrm>
            <a:off x="731520" y="1463040"/>
            <a:ext cx="3474720" cy="822960"/>
          </a:xfrm>
          <a:prstGeom prst="rect">
            <a:avLst/>
          </a:prstGeom>
          <a:noFill/>
          <a:ln/>
        </p:spPr>
        <p:txBody>
          <a:bodyPr wrap="square" lIns="0" tIns="0" rIns="0" bIns="0" rtlCol="0" anchor="ctr"/>
          <a:lstStyle/>
          <a:p>
            <a:pPr marL="0" indent="0">
              <a:buNone/>
            </a:pPr>
            <a:r>
              <a:rPr lang="en-US" sz="1400" i="1" dirty="0">
                <a:solidFill>
                  <a:srgbClr val="334155"/>
                </a:solidFill>
                <a:latin typeface="Calibri" pitchFamily="34" charset="0"/>
                <a:ea typeface="Calibri" pitchFamily="34" charset="-122"/>
                <a:cs typeface="Calibri" pitchFamily="34" charset="-120"/>
              </a:rPr>
              <a:t>"We need more time for testing."</a:t>
            </a:r>
            <a:endParaRPr lang="en-US" sz="1400" dirty="0"/>
          </a:p>
        </p:txBody>
      </p:sp>
      <p:sp>
        <p:nvSpPr>
          <p:cNvPr id="7" name="Shape 5"/>
          <p:cNvSpPr/>
          <p:nvPr/>
        </p:nvSpPr>
        <p:spPr>
          <a:xfrm>
            <a:off x="4754880" y="960120"/>
            <a:ext cx="3840480" cy="1463040"/>
          </a:xfrm>
          <a:prstGeom prst="rect">
            <a:avLst/>
          </a:prstGeom>
          <a:solidFill>
            <a:srgbClr val="F0FDF4"/>
          </a:solidFill>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4754880" y="960120"/>
            <a:ext cx="3840480" cy="411480"/>
          </a:xfrm>
          <a:prstGeom prst="rect">
            <a:avLst/>
          </a:prstGeom>
          <a:solidFill>
            <a:srgbClr val="16A34A"/>
          </a:solidFill>
          <a:ln/>
        </p:spPr>
        <p:txBody>
          <a:bodyPr/>
          <a:lstStyle/>
          <a:p>
            <a:endParaRPr lang="en-US"/>
          </a:p>
        </p:txBody>
      </p:sp>
      <p:sp>
        <p:nvSpPr>
          <p:cNvPr id="9" name="Text 7"/>
          <p:cNvSpPr/>
          <p:nvPr/>
        </p:nvSpPr>
        <p:spPr>
          <a:xfrm>
            <a:off x="4937760" y="960120"/>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After</a:t>
            </a:r>
            <a:endParaRPr lang="en-US" sz="1400" dirty="0"/>
          </a:p>
        </p:txBody>
      </p:sp>
      <p:sp>
        <p:nvSpPr>
          <p:cNvPr id="10" name="Text 8"/>
          <p:cNvSpPr/>
          <p:nvPr/>
        </p:nvSpPr>
        <p:spPr>
          <a:xfrm>
            <a:off x="4937760" y="1417320"/>
            <a:ext cx="3474720" cy="914400"/>
          </a:xfrm>
          <a:prstGeom prst="rect">
            <a:avLst/>
          </a:prstGeom>
          <a:noFill/>
          <a:ln/>
        </p:spPr>
        <p:txBody>
          <a:bodyPr wrap="square" lIns="0" tIns="0" rIns="0" bIns="0" rtlCol="0" anchor="ctr"/>
          <a:lstStyle/>
          <a:p>
            <a:pPr marL="0" indent="0">
              <a:buNone/>
            </a:pPr>
            <a:r>
              <a:rPr lang="en-US" sz="1200" i="1" dirty="0">
                <a:solidFill>
                  <a:srgbClr val="334155"/>
                </a:solidFill>
                <a:latin typeface="Calibri" pitchFamily="34" charset="0"/>
                <a:ea typeface="Calibri" pitchFamily="34" charset="-122"/>
                <a:cs typeface="Calibri" pitchFamily="34" charset="-120"/>
              </a:rPr>
              <a:t>"Here are the 7 highest-priority items.</a:t>
            </a:r>
            <a:endParaRPr lang="en-US" sz="1200" dirty="0"/>
          </a:p>
          <a:p>
            <a:pPr marL="0" indent="0">
              <a:buNone/>
            </a:pPr>
            <a:r>
              <a:rPr lang="en-US" sz="1200" i="1" dirty="0">
                <a:solidFill>
                  <a:srgbClr val="334155"/>
                </a:solidFill>
                <a:latin typeface="Calibri" pitchFamily="34" charset="0"/>
                <a:ea typeface="Calibri" pitchFamily="34" charset="-122"/>
                <a:cs typeface="Calibri" pitchFamily="34" charset="-120"/>
              </a:rPr>
              <a:t>They require approximately 13.5 hours.</a:t>
            </a:r>
            <a:endParaRPr lang="en-US" sz="1200" dirty="0"/>
          </a:p>
          <a:p>
            <a:pPr marL="0" indent="0">
              <a:buNone/>
            </a:pPr>
            <a:r>
              <a:rPr lang="en-US" sz="1200" i="1" dirty="0">
                <a:solidFill>
                  <a:srgbClr val="334155"/>
                </a:solidFill>
                <a:latin typeface="Calibri" pitchFamily="34" charset="0"/>
                <a:ea typeface="Calibri" pitchFamily="34" charset="-122"/>
                <a:cs typeface="Calibri" pitchFamily="34" charset="-120"/>
              </a:rPr>
              <a:t>Here is what we defer and the risk we accept."</a:t>
            </a:r>
            <a:endParaRPr lang="en-US" sz="1200" dirty="0"/>
          </a:p>
        </p:txBody>
      </p:sp>
      <p:sp>
        <p:nvSpPr>
          <p:cNvPr id="11" name="Text 9"/>
          <p:cNvSpPr/>
          <p:nvPr/>
        </p:nvSpPr>
        <p:spPr>
          <a:xfrm>
            <a:off x="548640" y="2651760"/>
            <a:ext cx="8229600" cy="457200"/>
          </a:xfrm>
          <a:prstGeom prst="rect">
            <a:avLst/>
          </a:prstGeom>
          <a:noFill/>
          <a:ln/>
        </p:spPr>
        <p:txBody>
          <a:bodyPr wrap="square" lIns="0" tIns="0" rIns="0" bIns="0" rtlCol="0" anchor="ctr"/>
          <a:lstStyle/>
          <a:p>
            <a:pPr marL="0" indent="0">
              <a:buNone/>
            </a:pPr>
            <a:r>
              <a:rPr lang="en-US" sz="2000" b="1" dirty="0">
                <a:solidFill>
                  <a:srgbClr val="1E293B"/>
                </a:solidFill>
                <a:latin typeface="Trebuchet MS" pitchFamily="34" charset="0"/>
                <a:ea typeface="Trebuchet MS" pitchFamily="34" charset="-122"/>
                <a:cs typeface="Trebuchet MS" pitchFamily="34" charset="-120"/>
              </a:rPr>
              <a:t>The Cut-Line Mechanism</a:t>
            </a:r>
            <a:endParaRPr lang="en-US" sz="2000" dirty="0"/>
          </a:p>
        </p:txBody>
      </p:sp>
      <p:sp>
        <p:nvSpPr>
          <p:cNvPr id="12" name="Shape 10"/>
          <p:cNvSpPr/>
          <p:nvPr/>
        </p:nvSpPr>
        <p:spPr>
          <a:xfrm>
            <a:off x="548640" y="3154680"/>
            <a:ext cx="5029200" cy="256032"/>
          </a:xfrm>
          <a:prstGeom prst="rect">
            <a:avLst/>
          </a:prstGeom>
          <a:solidFill>
            <a:srgbClr val="F0FDF4"/>
          </a:solidFill>
          <a:ln/>
        </p:spPr>
        <p:txBody>
          <a:bodyPr/>
          <a:lstStyle/>
          <a:p>
            <a:endParaRPr lang="en-US"/>
          </a:p>
        </p:txBody>
      </p:sp>
      <p:sp>
        <p:nvSpPr>
          <p:cNvPr id="13" name="Text 11"/>
          <p:cNvSpPr/>
          <p:nvPr/>
        </p:nvSpPr>
        <p:spPr>
          <a:xfrm>
            <a:off x="640080" y="3154680"/>
            <a:ext cx="22860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Login / Logout</a:t>
            </a:r>
            <a:endParaRPr lang="en-US" sz="1000" dirty="0"/>
          </a:p>
        </p:txBody>
      </p:sp>
      <p:sp>
        <p:nvSpPr>
          <p:cNvPr id="14" name="Text 12"/>
          <p:cNvSpPr/>
          <p:nvPr/>
        </p:nvSpPr>
        <p:spPr>
          <a:xfrm>
            <a:off x="3017520" y="3154680"/>
            <a:ext cx="731520" cy="256032"/>
          </a:xfrm>
          <a:prstGeom prst="rect">
            <a:avLst/>
          </a:prstGeom>
          <a:no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p>
        </p:txBody>
      </p:sp>
      <p:sp>
        <p:nvSpPr>
          <p:cNvPr id="15" name="Text 13"/>
          <p:cNvSpPr/>
          <p:nvPr/>
        </p:nvSpPr>
        <p:spPr>
          <a:xfrm>
            <a:off x="3931920" y="3154680"/>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2.0 hrs</a:t>
            </a:r>
            <a:endParaRPr lang="en-US" sz="1000" dirty="0"/>
          </a:p>
        </p:txBody>
      </p:sp>
      <p:sp>
        <p:nvSpPr>
          <p:cNvPr id="16" name="Shape 14"/>
          <p:cNvSpPr/>
          <p:nvPr/>
        </p:nvSpPr>
        <p:spPr>
          <a:xfrm>
            <a:off x="548640" y="3447288"/>
            <a:ext cx="5029200" cy="256032"/>
          </a:xfrm>
          <a:prstGeom prst="rect">
            <a:avLst/>
          </a:prstGeom>
          <a:solidFill>
            <a:srgbClr val="F0FDF4"/>
          </a:solidFill>
          <a:ln/>
        </p:spPr>
        <p:txBody>
          <a:bodyPr/>
          <a:lstStyle/>
          <a:p>
            <a:endParaRPr lang="en-US"/>
          </a:p>
        </p:txBody>
      </p:sp>
      <p:sp>
        <p:nvSpPr>
          <p:cNvPr id="17" name="Text 15"/>
          <p:cNvSpPr/>
          <p:nvPr/>
        </p:nvSpPr>
        <p:spPr>
          <a:xfrm>
            <a:off x="640080" y="3447288"/>
            <a:ext cx="22860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Credit Card Payment</a:t>
            </a:r>
            <a:endParaRPr lang="en-US" sz="1000" dirty="0"/>
          </a:p>
        </p:txBody>
      </p:sp>
      <p:sp>
        <p:nvSpPr>
          <p:cNvPr id="18" name="Text 16"/>
          <p:cNvSpPr/>
          <p:nvPr/>
        </p:nvSpPr>
        <p:spPr>
          <a:xfrm>
            <a:off x="3017520" y="3447288"/>
            <a:ext cx="731520" cy="256032"/>
          </a:xfrm>
          <a:prstGeom prst="rect">
            <a:avLst/>
          </a:prstGeom>
          <a:no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p>
        </p:txBody>
      </p:sp>
      <p:sp>
        <p:nvSpPr>
          <p:cNvPr id="19" name="Text 17"/>
          <p:cNvSpPr/>
          <p:nvPr/>
        </p:nvSpPr>
        <p:spPr>
          <a:xfrm>
            <a:off x="3931920" y="3447288"/>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3.0 hrs</a:t>
            </a:r>
            <a:endParaRPr lang="en-US" sz="1000" dirty="0"/>
          </a:p>
        </p:txBody>
      </p:sp>
      <p:sp>
        <p:nvSpPr>
          <p:cNvPr id="20" name="Shape 18"/>
          <p:cNvSpPr/>
          <p:nvPr/>
        </p:nvSpPr>
        <p:spPr>
          <a:xfrm>
            <a:off x="548640" y="3739896"/>
            <a:ext cx="5029200" cy="256032"/>
          </a:xfrm>
          <a:prstGeom prst="rect">
            <a:avLst/>
          </a:prstGeom>
          <a:solidFill>
            <a:srgbClr val="F0FDF4"/>
          </a:solidFill>
          <a:ln/>
        </p:spPr>
        <p:txBody>
          <a:bodyPr/>
          <a:lstStyle/>
          <a:p>
            <a:endParaRPr lang="en-US"/>
          </a:p>
        </p:txBody>
      </p:sp>
      <p:sp>
        <p:nvSpPr>
          <p:cNvPr id="21" name="Text 19"/>
          <p:cNvSpPr/>
          <p:nvPr/>
        </p:nvSpPr>
        <p:spPr>
          <a:xfrm>
            <a:off x="640080" y="3739896"/>
            <a:ext cx="22860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Guest Checkout</a:t>
            </a:r>
            <a:endParaRPr lang="en-US" sz="1000" dirty="0"/>
          </a:p>
        </p:txBody>
      </p:sp>
      <p:sp>
        <p:nvSpPr>
          <p:cNvPr id="22" name="Text 20"/>
          <p:cNvSpPr/>
          <p:nvPr/>
        </p:nvSpPr>
        <p:spPr>
          <a:xfrm>
            <a:off x="3017520" y="3739896"/>
            <a:ext cx="731520" cy="256032"/>
          </a:xfrm>
          <a:prstGeom prst="rect">
            <a:avLst/>
          </a:prstGeom>
          <a:no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25</a:t>
            </a:r>
            <a:endParaRPr lang="en-US" sz="1000" dirty="0"/>
          </a:p>
        </p:txBody>
      </p:sp>
      <p:sp>
        <p:nvSpPr>
          <p:cNvPr id="23" name="Text 21"/>
          <p:cNvSpPr/>
          <p:nvPr/>
        </p:nvSpPr>
        <p:spPr>
          <a:xfrm>
            <a:off x="3931920" y="3739896"/>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2.5 hrs</a:t>
            </a:r>
            <a:endParaRPr lang="en-US" sz="1000" dirty="0"/>
          </a:p>
        </p:txBody>
      </p:sp>
      <p:sp>
        <p:nvSpPr>
          <p:cNvPr id="24" name="Shape 22"/>
          <p:cNvSpPr/>
          <p:nvPr/>
        </p:nvSpPr>
        <p:spPr>
          <a:xfrm>
            <a:off x="548640" y="4032504"/>
            <a:ext cx="5029200" cy="256032"/>
          </a:xfrm>
          <a:prstGeom prst="rect">
            <a:avLst/>
          </a:prstGeom>
          <a:solidFill>
            <a:srgbClr val="F0FDF4"/>
          </a:solidFill>
          <a:ln/>
        </p:spPr>
        <p:txBody>
          <a:bodyPr/>
          <a:lstStyle/>
          <a:p>
            <a:endParaRPr lang="en-US"/>
          </a:p>
        </p:txBody>
      </p:sp>
      <p:sp>
        <p:nvSpPr>
          <p:cNvPr id="25" name="Text 23"/>
          <p:cNvSpPr/>
          <p:nvPr/>
        </p:nvSpPr>
        <p:spPr>
          <a:xfrm>
            <a:off x="640080" y="4032504"/>
            <a:ext cx="22860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User Registration</a:t>
            </a:r>
            <a:endParaRPr lang="en-US" sz="1000" dirty="0"/>
          </a:p>
        </p:txBody>
      </p:sp>
      <p:sp>
        <p:nvSpPr>
          <p:cNvPr id="26" name="Text 24"/>
          <p:cNvSpPr/>
          <p:nvPr/>
        </p:nvSpPr>
        <p:spPr>
          <a:xfrm>
            <a:off x="3017520" y="4032504"/>
            <a:ext cx="731520" cy="256032"/>
          </a:xfrm>
          <a:prstGeom prst="rect">
            <a:avLst/>
          </a:prstGeom>
          <a:no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15</a:t>
            </a:r>
            <a:endParaRPr lang="en-US" sz="1000" dirty="0"/>
          </a:p>
        </p:txBody>
      </p:sp>
      <p:sp>
        <p:nvSpPr>
          <p:cNvPr id="27" name="Text 25"/>
          <p:cNvSpPr/>
          <p:nvPr/>
        </p:nvSpPr>
        <p:spPr>
          <a:xfrm>
            <a:off x="3931920" y="4032504"/>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1.5 hrs</a:t>
            </a:r>
            <a:endParaRPr lang="en-US" sz="1000" dirty="0"/>
          </a:p>
        </p:txBody>
      </p:sp>
      <p:sp>
        <p:nvSpPr>
          <p:cNvPr id="28" name="Shape 26"/>
          <p:cNvSpPr/>
          <p:nvPr/>
        </p:nvSpPr>
        <p:spPr>
          <a:xfrm>
            <a:off x="548640" y="4325112"/>
            <a:ext cx="5029200" cy="256032"/>
          </a:xfrm>
          <a:prstGeom prst="rect">
            <a:avLst/>
          </a:prstGeom>
          <a:solidFill>
            <a:srgbClr val="FEF2F2"/>
          </a:solidFill>
          <a:ln/>
        </p:spPr>
        <p:txBody>
          <a:bodyPr/>
          <a:lstStyle/>
          <a:p>
            <a:endParaRPr lang="en-US"/>
          </a:p>
        </p:txBody>
      </p:sp>
      <p:sp>
        <p:nvSpPr>
          <p:cNvPr id="29" name="Text 27"/>
          <p:cNvSpPr/>
          <p:nvPr/>
        </p:nvSpPr>
        <p:spPr>
          <a:xfrm>
            <a:off x="640080" y="4325112"/>
            <a:ext cx="22860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Password Reset</a:t>
            </a:r>
            <a:endParaRPr lang="en-US" sz="1000" dirty="0"/>
          </a:p>
        </p:txBody>
      </p:sp>
      <p:sp>
        <p:nvSpPr>
          <p:cNvPr id="30" name="Text 28"/>
          <p:cNvSpPr/>
          <p:nvPr/>
        </p:nvSpPr>
        <p:spPr>
          <a:xfrm>
            <a:off x="3017520" y="4325112"/>
            <a:ext cx="731520" cy="256032"/>
          </a:xfrm>
          <a:prstGeom prst="rect">
            <a:avLst/>
          </a:prstGeom>
          <a:noFill/>
          <a:ln/>
        </p:spPr>
        <p:txBody>
          <a:bodyPr wrap="square" lIns="0" tIns="0" rIns="0" bIns="0"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9</a:t>
            </a:r>
            <a:endParaRPr lang="en-US" sz="1000" dirty="0"/>
          </a:p>
        </p:txBody>
      </p:sp>
      <p:sp>
        <p:nvSpPr>
          <p:cNvPr id="31" name="Text 29"/>
          <p:cNvSpPr/>
          <p:nvPr/>
        </p:nvSpPr>
        <p:spPr>
          <a:xfrm>
            <a:off x="3931920" y="4325112"/>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1.5 hrs</a:t>
            </a:r>
            <a:endParaRPr lang="en-US" sz="1000" dirty="0"/>
          </a:p>
        </p:txBody>
      </p:sp>
      <p:sp>
        <p:nvSpPr>
          <p:cNvPr id="32" name="Shape 30"/>
          <p:cNvSpPr/>
          <p:nvPr/>
        </p:nvSpPr>
        <p:spPr>
          <a:xfrm>
            <a:off x="548640" y="4617720"/>
            <a:ext cx="5029200" cy="256032"/>
          </a:xfrm>
          <a:prstGeom prst="rect">
            <a:avLst/>
          </a:prstGeom>
          <a:solidFill>
            <a:srgbClr val="FEF2F2"/>
          </a:solidFill>
          <a:ln/>
        </p:spPr>
        <p:txBody>
          <a:bodyPr/>
          <a:lstStyle/>
          <a:p>
            <a:endParaRPr lang="en-US"/>
          </a:p>
        </p:txBody>
      </p:sp>
      <p:sp>
        <p:nvSpPr>
          <p:cNvPr id="33" name="Text 31"/>
          <p:cNvSpPr/>
          <p:nvPr/>
        </p:nvSpPr>
        <p:spPr>
          <a:xfrm>
            <a:off x="640080" y="4617720"/>
            <a:ext cx="228600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Tax Calculation</a:t>
            </a:r>
            <a:endParaRPr lang="en-US" sz="1000" dirty="0"/>
          </a:p>
        </p:txBody>
      </p:sp>
      <p:sp>
        <p:nvSpPr>
          <p:cNvPr id="34" name="Text 32"/>
          <p:cNvSpPr/>
          <p:nvPr/>
        </p:nvSpPr>
        <p:spPr>
          <a:xfrm>
            <a:off x="3017520" y="4617720"/>
            <a:ext cx="731520" cy="256032"/>
          </a:xfrm>
          <a:prstGeom prst="rect">
            <a:avLst/>
          </a:prstGeom>
          <a:noFill/>
          <a:ln/>
        </p:spPr>
        <p:txBody>
          <a:bodyPr wrap="square" lIns="0" tIns="0" rIns="0" bIns="0"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3931920" y="4617720"/>
            <a:ext cx="914400"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1.0 hrs</a:t>
            </a:r>
            <a:endParaRPr lang="en-US" sz="1000" dirty="0"/>
          </a:p>
        </p:txBody>
      </p:sp>
      <p:sp>
        <p:nvSpPr>
          <p:cNvPr id="36" name="Shape 34"/>
          <p:cNvSpPr/>
          <p:nvPr/>
        </p:nvSpPr>
        <p:spPr>
          <a:xfrm>
            <a:off x="457200" y="4325112"/>
            <a:ext cx="5212080" cy="0"/>
          </a:xfrm>
          <a:prstGeom prst="line">
            <a:avLst/>
          </a:prstGeom>
          <a:noFill/>
          <a:ln w="25400">
            <a:solidFill>
              <a:srgbClr val="DC2626"/>
            </a:solidFill>
            <a:prstDash val="dash"/>
          </a:ln>
        </p:spPr>
        <p:txBody>
          <a:bodyPr/>
          <a:lstStyle/>
          <a:p>
            <a:endParaRPr lang="en-US"/>
          </a:p>
        </p:txBody>
      </p:sp>
      <p:sp>
        <p:nvSpPr>
          <p:cNvPr id="37" name="Text 35"/>
          <p:cNvSpPr/>
          <p:nvPr/>
        </p:nvSpPr>
        <p:spPr>
          <a:xfrm>
            <a:off x="91440" y="4206240"/>
            <a:ext cx="457200" cy="228600"/>
          </a:xfrm>
          <a:prstGeom prst="rect">
            <a:avLst/>
          </a:prstGeom>
          <a:noFill/>
          <a:ln/>
        </p:spPr>
        <p:txBody>
          <a:bodyPr wrap="square" lIns="0" tIns="0" rIns="0" bIns="0" rtlCol="0" anchor="ctr"/>
          <a:lstStyle/>
          <a:p>
            <a:pPr marL="0" indent="0" algn="ctr">
              <a:buNone/>
            </a:pPr>
            <a:r>
              <a:rPr lang="en-US" sz="700" b="1" dirty="0">
                <a:solidFill>
                  <a:srgbClr val="DC2626"/>
                </a:solidFill>
                <a:latin typeface="Calibri" pitchFamily="34" charset="0"/>
                <a:ea typeface="Calibri" pitchFamily="34" charset="-122"/>
                <a:cs typeface="Calibri" pitchFamily="34" charset="-120"/>
              </a:rPr>
              <a:t>CUT-LINE</a:t>
            </a:r>
            <a:endParaRPr lang="en-US" sz="700" dirty="0"/>
          </a:p>
        </p:txBody>
      </p:sp>
      <p:sp>
        <p:nvSpPr>
          <p:cNvPr id="38" name="Shape 36"/>
          <p:cNvSpPr/>
          <p:nvPr/>
        </p:nvSpPr>
        <p:spPr>
          <a:xfrm>
            <a:off x="5943600" y="3108960"/>
            <a:ext cx="2834640" cy="1828800"/>
          </a:xfrm>
          <a:prstGeom prst="rect">
            <a:avLst/>
          </a:prstGeom>
          <a:solidFill>
            <a:srgbClr val="F5F7FA"/>
          </a:solidFill>
          <a:ln/>
          <a:effectLst>
            <a:outerShdw blurRad="50800" dist="25400" dir="8100000" algn="bl" rotWithShape="0">
              <a:srgbClr val="000000">
                <a:alpha val="10000"/>
              </a:srgbClr>
            </a:outerShdw>
          </a:effectLst>
        </p:spPr>
        <p:txBody>
          <a:bodyPr/>
          <a:lstStyle/>
          <a:p>
            <a:endParaRPr lang="en-US"/>
          </a:p>
        </p:txBody>
      </p:sp>
      <p:sp>
        <p:nvSpPr>
          <p:cNvPr id="39" name="Text 37"/>
          <p:cNvSpPr/>
          <p:nvPr/>
        </p:nvSpPr>
        <p:spPr>
          <a:xfrm>
            <a:off x="6126480" y="3200400"/>
            <a:ext cx="2468880" cy="32004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The cut-line gives you:</a:t>
            </a:r>
            <a:endParaRPr lang="en-US" sz="1200" dirty="0"/>
          </a:p>
        </p:txBody>
      </p:sp>
      <p:sp>
        <p:nvSpPr>
          <p:cNvPr id="40" name="Text 38"/>
          <p:cNvSpPr/>
          <p:nvPr/>
        </p:nvSpPr>
        <p:spPr>
          <a:xfrm>
            <a:off x="6217920" y="3566160"/>
            <a:ext cx="2468880" cy="1280160"/>
          </a:xfrm>
          <a:prstGeom prst="rect">
            <a:avLst/>
          </a:prstGeom>
          <a:noFill/>
          <a:ln/>
        </p:spPr>
        <p:txBody>
          <a:bodyPr wrap="square" lIns="0" tIns="0" rIns="0" bIns="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Visible scope per cycle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Estimated time above the line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Explicit deferred items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Adjustable when schedules shift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Managing Accepted Risk</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dirty="0">
                <a:solidFill>
                  <a:srgbClr val="334155"/>
                </a:solidFill>
                <a:latin typeface="Calibri" pitchFamily="34" charset="0"/>
                <a:ea typeface="Calibri" pitchFamily="34" charset="-122"/>
                <a:cs typeface="Calibri" pitchFamily="34" charset="-120"/>
              </a:rPr>
              <a:t>Items below the cut-line represent risk the organization is accepting.</a:t>
            </a:r>
            <a:endParaRPr lang="en-US" sz="1500" dirty="0"/>
          </a:p>
        </p:txBody>
      </p:sp>
      <p:sp>
        <p:nvSpPr>
          <p:cNvPr id="4" name="Text 2"/>
          <p:cNvSpPr/>
          <p:nvPr/>
        </p:nvSpPr>
        <p:spPr>
          <a:xfrm>
            <a:off x="548640" y="1463040"/>
            <a:ext cx="822960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That acceptance should be:</a:t>
            </a:r>
            <a:endParaRPr lang="en-US" sz="1500" dirty="0"/>
          </a:p>
        </p:txBody>
      </p:sp>
      <p:sp>
        <p:nvSpPr>
          <p:cNvPr id="5" name="Shape 3"/>
          <p:cNvSpPr/>
          <p:nvPr/>
        </p:nvSpPr>
        <p:spPr>
          <a:xfrm>
            <a:off x="548640" y="1965960"/>
            <a:ext cx="804672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548640" y="1965960"/>
            <a:ext cx="73152" cy="54864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77240" y="2057400"/>
            <a:ext cx="347472" cy="347472"/>
          </a:xfrm>
          <a:prstGeom prst="rect">
            <a:avLst/>
          </a:prstGeom>
        </p:spPr>
      </p:pic>
      <p:sp>
        <p:nvSpPr>
          <p:cNvPr id="8" name="Text 5"/>
          <p:cNvSpPr/>
          <p:nvPr/>
        </p:nvSpPr>
        <p:spPr>
          <a:xfrm>
            <a:off x="1280160" y="1965960"/>
            <a:ext cx="1645920" cy="5486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Intentional</a:t>
            </a:r>
            <a:endParaRPr lang="en-US" sz="1400" dirty="0"/>
          </a:p>
        </p:txBody>
      </p:sp>
      <p:sp>
        <p:nvSpPr>
          <p:cNvPr id="9" name="Text 6"/>
          <p:cNvSpPr/>
          <p:nvPr/>
        </p:nvSpPr>
        <p:spPr>
          <a:xfrm>
            <a:off x="3017520" y="1965960"/>
            <a:ext cx="5394960" cy="5486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decision to defer testing is deliberate, not accidental</a:t>
            </a:r>
            <a:endParaRPr lang="en-US" sz="1200" dirty="0"/>
          </a:p>
        </p:txBody>
      </p:sp>
      <p:sp>
        <p:nvSpPr>
          <p:cNvPr id="10" name="Shape 7"/>
          <p:cNvSpPr/>
          <p:nvPr/>
        </p:nvSpPr>
        <p:spPr>
          <a:xfrm>
            <a:off x="548640" y="2606040"/>
            <a:ext cx="804672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8"/>
          <p:cNvSpPr/>
          <p:nvPr/>
        </p:nvSpPr>
        <p:spPr>
          <a:xfrm>
            <a:off x="548640" y="2606040"/>
            <a:ext cx="73152" cy="548640"/>
          </a:xfrm>
          <a:prstGeom prst="rect">
            <a:avLst/>
          </a:prstGeom>
          <a:solidFill>
            <a:srgbClr val="0D948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77240" y="2697480"/>
            <a:ext cx="347472" cy="347472"/>
          </a:xfrm>
          <a:prstGeom prst="rect">
            <a:avLst/>
          </a:prstGeom>
        </p:spPr>
      </p:pic>
      <p:sp>
        <p:nvSpPr>
          <p:cNvPr id="13" name="Text 9"/>
          <p:cNvSpPr/>
          <p:nvPr/>
        </p:nvSpPr>
        <p:spPr>
          <a:xfrm>
            <a:off x="1280160" y="2606040"/>
            <a:ext cx="1645920" cy="5486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Visible</a:t>
            </a:r>
            <a:endParaRPr lang="en-US" sz="1400" dirty="0"/>
          </a:p>
        </p:txBody>
      </p:sp>
      <p:sp>
        <p:nvSpPr>
          <p:cNvPr id="14" name="Text 10"/>
          <p:cNvSpPr/>
          <p:nvPr/>
        </p:nvSpPr>
        <p:spPr>
          <a:xfrm>
            <a:off x="3017520" y="2606040"/>
            <a:ext cx="5394960" cy="5486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Deferred items are documented — not invisible</a:t>
            </a:r>
            <a:endParaRPr lang="en-US" sz="1200" dirty="0"/>
          </a:p>
        </p:txBody>
      </p:sp>
      <p:sp>
        <p:nvSpPr>
          <p:cNvPr id="15" name="Shape 11"/>
          <p:cNvSpPr/>
          <p:nvPr/>
        </p:nvSpPr>
        <p:spPr>
          <a:xfrm>
            <a:off x="548640" y="3246120"/>
            <a:ext cx="804672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6" name="Shape 12"/>
          <p:cNvSpPr/>
          <p:nvPr/>
        </p:nvSpPr>
        <p:spPr>
          <a:xfrm>
            <a:off x="548640" y="3246120"/>
            <a:ext cx="73152" cy="548640"/>
          </a:xfrm>
          <a:prstGeom prst="rect">
            <a:avLst/>
          </a:prstGeom>
          <a:solidFill>
            <a:srgbClr val="0D9488"/>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777240" y="3337560"/>
            <a:ext cx="347472" cy="347472"/>
          </a:xfrm>
          <a:prstGeom prst="rect">
            <a:avLst/>
          </a:prstGeom>
        </p:spPr>
      </p:pic>
      <p:sp>
        <p:nvSpPr>
          <p:cNvPr id="18" name="Text 13"/>
          <p:cNvSpPr/>
          <p:nvPr/>
        </p:nvSpPr>
        <p:spPr>
          <a:xfrm>
            <a:off x="1280160" y="3246120"/>
            <a:ext cx="1645920" cy="5486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Owned</a:t>
            </a:r>
            <a:endParaRPr lang="en-US" sz="1400" dirty="0"/>
          </a:p>
        </p:txBody>
      </p:sp>
      <p:sp>
        <p:nvSpPr>
          <p:cNvPr id="19" name="Text 14"/>
          <p:cNvSpPr/>
          <p:nvPr/>
        </p:nvSpPr>
        <p:spPr>
          <a:xfrm>
            <a:off x="3017520" y="3246120"/>
            <a:ext cx="5394960" cy="5486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Someone accountable signs off on the accepted risk</a:t>
            </a:r>
            <a:endParaRPr lang="en-US" sz="1200" dirty="0"/>
          </a:p>
        </p:txBody>
      </p:sp>
      <p:sp>
        <p:nvSpPr>
          <p:cNvPr id="20" name="Shape 15"/>
          <p:cNvSpPr/>
          <p:nvPr/>
        </p:nvSpPr>
        <p:spPr>
          <a:xfrm>
            <a:off x="548640" y="3886200"/>
            <a:ext cx="804672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6"/>
          <p:cNvSpPr/>
          <p:nvPr/>
        </p:nvSpPr>
        <p:spPr>
          <a:xfrm>
            <a:off x="548640" y="3886200"/>
            <a:ext cx="73152" cy="548640"/>
          </a:xfrm>
          <a:prstGeom prst="rect">
            <a:avLst/>
          </a:prstGeom>
          <a:solidFill>
            <a:srgbClr val="0D9488"/>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777240" y="3977640"/>
            <a:ext cx="347472" cy="347472"/>
          </a:xfrm>
          <a:prstGeom prst="rect">
            <a:avLst/>
          </a:prstGeom>
        </p:spPr>
      </p:pic>
      <p:sp>
        <p:nvSpPr>
          <p:cNvPr id="23" name="Text 17"/>
          <p:cNvSpPr/>
          <p:nvPr/>
        </p:nvSpPr>
        <p:spPr>
          <a:xfrm>
            <a:off x="1280160" y="3886200"/>
            <a:ext cx="1645920" cy="5486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Revisited</a:t>
            </a:r>
            <a:endParaRPr lang="en-US" sz="1400" dirty="0"/>
          </a:p>
        </p:txBody>
      </p:sp>
      <p:sp>
        <p:nvSpPr>
          <p:cNvPr id="24" name="Text 18"/>
          <p:cNvSpPr/>
          <p:nvPr/>
        </p:nvSpPr>
        <p:spPr>
          <a:xfrm>
            <a:off x="3017520" y="3886200"/>
            <a:ext cx="5394960" cy="5486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Deferred items are reviewed in the next cycle, not forgotten</a:t>
            </a:r>
            <a:endParaRPr lang="en-US" sz="1200" dirty="0"/>
          </a:p>
        </p:txBody>
      </p:sp>
      <p:sp>
        <p:nvSpPr>
          <p:cNvPr id="25" name="Shape 19"/>
          <p:cNvSpPr/>
          <p:nvPr/>
        </p:nvSpPr>
        <p:spPr>
          <a:xfrm>
            <a:off x="548640" y="4526280"/>
            <a:ext cx="8046720" cy="411480"/>
          </a:xfrm>
          <a:prstGeom prst="rect">
            <a:avLst/>
          </a:prstGeom>
          <a:solidFill>
            <a:srgbClr val="1B2A3D"/>
          </a:solidFill>
          <a:ln/>
        </p:spPr>
        <p:txBody>
          <a:bodyPr/>
          <a:lstStyle/>
          <a:p>
            <a:endParaRPr lang="en-US"/>
          </a:p>
        </p:txBody>
      </p:sp>
      <p:sp>
        <p:nvSpPr>
          <p:cNvPr id="26" name="Text 20"/>
          <p:cNvSpPr/>
          <p:nvPr/>
        </p:nvSpPr>
        <p:spPr>
          <a:xfrm>
            <a:off x="731520" y="4526280"/>
            <a:ext cx="7680960" cy="411480"/>
          </a:xfrm>
          <a:prstGeom prst="rect">
            <a:avLst/>
          </a:prstGeom>
          <a:noFill/>
          <a:ln/>
        </p:spPr>
        <p:txBody>
          <a:bodyPr wrap="square" lIns="0" tIns="0" rIns="0" bIns="0" rtlCol="0" anchor="ctr"/>
          <a:lstStyle/>
          <a:p>
            <a:pPr marL="0" indent="0" algn="ctr">
              <a:buNone/>
            </a:pPr>
            <a:r>
              <a:rPr lang="en-US" sz="1300" b="1" i="1" dirty="0">
                <a:solidFill>
                  <a:srgbClr val="0D9488"/>
                </a:solidFill>
                <a:latin typeface="Calibri" pitchFamily="34" charset="0"/>
                <a:ea typeface="Calibri" pitchFamily="34" charset="-122"/>
                <a:cs typeface="Calibri" pitchFamily="34" charset="-120"/>
              </a:rPr>
              <a:t>The cut-line is a tool for communication, not a license to skip testing.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365760"/>
            <a:ext cx="7772400" cy="64008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What This Means for Release Decisions</a:t>
            </a:r>
            <a:endParaRPr lang="en-US" sz="3000" dirty="0"/>
          </a:p>
        </p:txBody>
      </p:sp>
      <p:sp>
        <p:nvSpPr>
          <p:cNvPr id="4" name="Shape 2"/>
          <p:cNvSpPr/>
          <p:nvPr/>
        </p:nvSpPr>
        <p:spPr>
          <a:xfrm>
            <a:off x="731520" y="1188720"/>
            <a:ext cx="7680960" cy="548640"/>
          </a:xfrm>
          <a:prstGeom prst="rect">
            <a:avLst/>
          </a:prstGeom>
          <a:solidFill>
            <a:srgbClr val="24344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280160"/>
            <a:ext cx="347472" cy="347472"/>
          </a:xfrm>
          <a:prstGeom prst="rect">
            <a:avLst/>
          </a:prstGeom>
        </p:spPr>
      </p:pic>
      <p:sp>
        <p:nvSpPr>
          <p:cNvPr id="6" name="Text 3"/>
          <p:cNvSpPr/>
          <p:nvPr/>
        </p:nvSpPr>
        <p:spPr>
          <a:xfrm>
            <a:off x="1417320" y="1188720"/>
            <a:ext cx="2011680" cy="5486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Predictable timelines</a:t>
            </a:r>
            <a:endParaRPr lang="en-US" sz="1400" dirty="0"/>
          </a:p>
        </p:txBody>
      </p:sp>
      <p:sp>
        <p:nvSpPr>
          <p:cNvPr id="7" name="Text 4"/>
          <p:cNvSpPr/>
          <p:nvPr/>
        </p:nvSpPr>
        <p:spPr>
          <a:xfrm>
            <a:off x="3474720" y="1188720"/>
            <a:ext cx="47548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Testing estimates are backed by visible scope and prioritized effort, not guesswork.</a:t>
            </a:r>
            <a:endParaRPr lang="en-US" sz="1200" dirty="0"/>
          </a:p>
        </p:txBody>
      </p:sp>
      <p:sp>
        <p:nvSpPr>
          <p:cNvPr id="8" name="Shape 5"/>
          <p:cNvSpPr/>
          <p:nvPr/>
        </p:nvSpPr>
        <p:spPr>
          <a:xfrm>
            <a:off x="731520" y="1874520"/>
            <a:ext cx="7680960" cy="548640"/>
          </a:xfrm>
          <a:prstGeom prst="rect">
            <a:avLst/>
          </a:prstGeom>
          <a:solidFill>
            <a:srgbClr val="243447"/>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914400" y="1965960"/>
            <a:ext cx="347472" cy="347472"/>
          </a:xfrm>
          <a:prstGeom prst="rect">
            <a:avLst/>
          </a:prstGeom>
        </p:spPr>
      </p:pic>
      <p:sp>
        <p:nvSpPr>
          <p:cNvPr id="10" name="Text 6"/>
          <p:cNvSpPr/>
          <p:nvPr/>
        </p:nvSpPr>
        <p:spPr>
          <a:xfrm>
            <a:off x="1417320" y="1874520"/>
            <a:ext cx="2011680" cy="5486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Flexible scheduling</a:t>
            </a:r>
            <a:endParaRPr lang="en-US" sz="1400" dirty="0"/>
          </a:p>
        </p:txBody>
      </p:sp>
      <p:sp>
        <p:nvSpPr>
          <p:cNvPr id="11" name="Text 7"/>
          <p:cNvSpPr/>
          <p:nvPr/>
        </p:nvSpPr>
        <p:spPr>
          <a:xfrm>
            <a:off x="3474720" y="1874520"/>
            <a:ext cx="47548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When timelines shift, you can see exactly what changes — and what the cost is.</a:t>
            </a:r>
            <a:endParaRPr lang="en-US" sz="1200" dirty="0"/>
          </a:p>
        </p:txBody>
      </p:sp>
      <p:sp>
        <p:nvSpPr>
          <p:cNvPr id="12" name="Shape 8"/>
          <p:cNvSpPr/>
          <p:nvPr/>
        </p:nvSpPr>
        <p:spPr>
          <a:xfrm>
            <a:off x="731520" y="2560320"/>
            <a:ext cx="7680960" cy="548640"/>
          </a:xfrm>
          <a:prstGeom prst="rect">
            <a:avLst/>
          </a:prstGeom>
          <a:solidFill>
            <a:srgbClr val="243447"/>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914400" y="2651760"/>
            <a:ext cx="347472" cy="347472"/>
          </a:xfrm>
          <a:prstGeom prst="rect">
            <a:avLst/>
          </a:prstGeom>
        </p:spPr>
      </p:pic>
      <p:sp>
        <p:nvSpPr>
          <p:cNvPr id="14" name="Text 9"/>
          <p:cNvSpPr/>
          <p:nvPr/>
        </p:nvSpPr>
        <p:spPr>
          <a:xfrm>
            <a:off x="1417320" y="2560320"/>
            <a:ext cx="2011680" cy="5486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Informed release confidence</a:t>
            </a:r>
            <a:endParaRPr lang="en-US" sz="1400" dirty="0"/>
          </a:p>
        </p:txBody>
      </p:sp>
      <p:sp>
        <p:nvSpPr>
          <p:cNvPr id="15" name="Text 10"/>
          <p:cNvSpPr/>
          <p:nvPr/>
        </p:nvSpPr>
        <p:spPr>
          <a:xfrm>
            <a:off x="3474720" y="2560320"/>
            <a:ext cx="47548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You know what was tested, what wasn't, and why. Release decisions are data-driven.</a:t>
            </a:r>
            <a:endParaRPr lang="en-US" sz="1200" dirty="0"/>
          </a:p>
        </p:txBody>
      </p:sp>
      <p:sp>
        <p:nvSpPr>
          <p:cNvPr id="16" name="Shape 11"/>
          <p:cNvSpPr/>
          <p:nvPr/>
        </p:nvSpPr>
        <p:spPr>
          <a:xfrm>
            <a:off x="731520" y="3246120"/>
            <a:ext cx="7680960" cy="548640"/>
          </a:xfrm>
          <a:prstGeom prst="rect">
            <a:avLst/>
          </a:prstGeom>
          <a:solidFill>
            <a:srgbClr val="243447"/>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914400" y="3337560"/>
            <a:ext cx="347472" cy="347472"/>
          </a:xfrm>
          <a:prstGeom prst="rect">
            <a:avLst/>
          </a:prstGeom>
        </p:spPr>
      </p:pic>
      <p:sp>
        <p:nvSpPr>
          <p:cNvPr id="18" name="Text 12"/>
          <p:cNvSpPr/>
          <p:nvPr/>
        </p:nvSpPr>
        <p:spPr>
          <a:xfrm>
            <a:off x="1417320" y="3246120"/>
            <a:ext cx="2011680" cy="5486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Traceable coverage</a:t>
            </a:r>
            <a:endParaRPr lang="en-US" sz="1400" dirty="0"/>
          </a:p>
        </p:txBody>
      </p:sp>
      <p:sp>
        <p:nvSpPr>
          <p:cNvPr id="19" name="Text 13"/>
          <p:cNvSpPr/>
          <p:nvPr/>
        </p:nvSpPr>
        <p:spPr>
          <a:xfrm>
            <a:off x="3474720" y="3246120"/>
            <a:ext cx="47548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If a defect escapes, you can trace whether it was covered, deferred, or missed.</a:t>
            </a:r>
            <a:endParaRPr lang="en-US" sz="1200" dirty="0"/>
          </a:p>
        </p:txBody>
      </p:sp>
      <p:sp>
        <p:nvSpPr>
          <p:cNvPr id="20" name="Shape 14"/>
          <p:cNvSpPr/>
          <p:nvPr/>
        </p:nvSpPr>
        <p:spPr>
          <a:xfrm>
            <a:off x="731520" y="3931920"/>
            <a:ext cx="7680960" cy="548640"/>
          </a:xfrm>
          <a:prstGeom prst="rect">
            <a:avLst/>
          </a:prstGeom>
          <a:solidFill>
            <a:srgbClr val="243447"/>
          </a:solidFill>
          <a:ln/>
        </p:spPr>
        <p:txBody>
          <a:bodyPr/>
          <a:lstStyle/>
          <a:p>
            <a:endParaRPr lang="en-US"/>
          </a:p>
        </p:txBody>
      </p:sp>
      <p:pic>
        <p:nvPicPr>
          <p:cNvPr id="21" name="Image 4" descr="preencoded.png"/>
          <p:cNvPicPr>
            <a:picLocks noChangeAspect="1"/>
          </p:cNvPicPr>
          <p:nvPr/>
        </p:nvPicPr>
        <p:blipFill>
          <a:blip r:embed="rId7"/>
          <a:stretch>
            <a:fillRect/>
          </a:stretch>
        </p:blipFill>
        <p:spPr>
          <a:xfrm>
            <a:off x="914400" y="4023360"/>
            <a:ext cx="347472" cy="347472"/>
          </a:xfrm>
          <a:prstGeom prst="rect">
            <a:avLst/>
          </a:prstGeom>
        </p:spPr>
      </p:pic>
      <p:sp>
        <p:nvSpPr>
          <p:cNvPr id="22" name="Text 15"/>
          <p:cNvSpPr/>
          <p:nvPr/>
        </p:nvSpPr>
        <p:spPr>
          <a:xfrm>
            <a:off x="1417320" y="3931920"/>
            <a:ext cx="2011680" cy="548640"/>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Reduced QA cycle time</a:t>
            </a:r>
            <a:endParaRPr lang="en-US" sz="1400" dirty="0"/>
          </a:p>
        </p:txBody>
      </p:sp>
      <p:sp>
        <p:nvSpPr>
          <p:cNvPr id="23" name="Text 16"/>
          <p:cNvSpPr/>
          <p:nvPr/>
        </p:nvSpPr>
        <p:spPr>
          <a:xfrm>
            <a:off x="3474720" y="3931920"/>
            <a:ext cx="475488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Focused, prioritized testing eliminates redundant effort and scope creep.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What This Needs From Leadership</a:t>
            </a:r>
            <a:endParaRPr lang="en-US" sz="3000" dirty="0"/>
          </a:p>
        </p:txBody>
      </p:sp>
      <p:sp>
        <p:nvSpPr>
          <p:cNvPr id="3" name="Text 1"/>
          <p:cNvSpPr/>
          <p:nvPr/>
        </p:nvSpPr>
        <p:spPr>
          <a:xfrm>
            <a:off x="548640" y="1005840"/>
            <a:ext cx="8229600" cy="365760"/>
          </a:xfrm>
          <a:prstGeom prst="rect">
            <a:avLst/>
          </a:prstGeom>
          <a:noFill/>
          <a:ln/>
        </p:spPr>
        <p:txBody>
          <a:bodyPr wrap="square" lIns="0" tIns="0" rIns="0" bIns="0" rtlCol="0" anchor="ctr"/>
          <a:lstStyle/>
          <a:p>
            <a:pPr marL="0" indent="0">
              <a:buNone/>
            </a:pPr>
            <a:r>
              <a:rPr lang="en-US" sz="1500" i="1" dirty="0">
                <a:solidFill>
                  <a:srgbClr val="334155"/>
                </a:solidFill>
                <a:latin typeface="Calibri" pitchFamily="34" charset="0"/>
                <a:ea typeface="Calibri" pitchFamily="34" charset="-122"/>
                <a:cs typeface="Calibri" pitchFamily="34" charset="-120"/>
              </a:rPr>
              <a:t>This framework only works if both sides commit to the process.</a:t>
            </a:r>
            <a:endParaRPr lang="en-US" sz="1500" dirty="0"/>
          </a:p>
        </p:txBody>
      </p:sp>
      <p:sp>
        <p:nvSpPr>
          <p:cNvPr id="4" name="Shape 2"/>
          <p:cNvSpPr/>
          <p:nvPr/>
        </p:nvSpPr>
        <p:spPr>
          <a:xfrm>
            <a:off x="548640" y="1554480"/>
            <a:ext cx="3840480" cy="30175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548640" y="1554480"/>
            <a:ext cx="3840480" cy="457200"/>
          </a:xfrm>
          <a:prstGeom prst="rect">
            <a:avLst/>
          </a:prstGeom>
          <a:solidFill>
            <a:srgbClr val="0D9488"/>
          </a:solidFill>
          <a:ln/>
        </p:spPr>
        <p:txBody>
          <a:bodyPr/>
          <a:lstStyle/>
          <a:p>
            <a:endParaRPr lang="en-US"/>
          </a:p>
        </p:txBody>
      </p:sp>
      <p:sp>
        <p:nvSpPr>
          <p:cNvPr id="6" name="Text 4"/>
          <p:cNvSpPr/>
          <p:nvPr/>
        </p:nvSpPr>
        <p:spPr>
          <a:xfrm>
            <a:off x="731520" y="1554480"/>
            <a:ext cx="3474720" cy="45720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QA Commits To:</a:t>
            </a:r>
            <a:endParaRPr lang="en-US" sz="1500" dirty="0"/>
          </a:p>
        </p:txBody>
      </p:sp>
      <p:sp>
        <p:nvSpPr>
          <p:cNvPr id="7" name="Text 5"/>
          <p:cNvSpPr/>
          <p:nvPr/>
        </p:nvSpPr>
        <p:spPr>
          <a:xfrm>
            <a:off x="822960" y="2148840"/>
            <a:ext cx="3383280" cy="2286000"/>
          </a:xfrm>
          <a:prstGeom prst="rect">
            <a:avLst/>
          </a:prstGeom>
          <a:noFill/>
          <a:ln/>
        </p:spPr>
        <p:txBody>
          <a:bodyPr wrap="square" lIns="0" tIns="0" rIns="0" bIns="0" rtlCol="0" anchor="t"/>
          <a:lstStyle/>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Producing visible coverage inventories</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Prioritizing based on assessed risk</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Providing estimated execution times</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Presenting clear tradeoff data</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Maintaining artifacts over time</a:t>
            </a:r>
            <a:endParaRPr lang="en-US" sz="1200" dirty="0"/>
          </a:p>
        </p:txBody>
      </p:sp>
      <p:sp>
        <p:nvSpPr>
          <p:cNvPr id="8" name="Shape 6"/>
          <p:cNvSpPr/>
          <p:nvPr/>
        </p:nvSpPr>
        <p:spPr>
          <a:xfrm>
            <a:off x="4754880" y="1554480"/>
            <a:ext cx="3840480" cy="30175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7"/>
          <p:cNvSpPr/>
          <p:nvPr/>
        </p:nvSpPr>
        <p:spPr>
          <a:xfrm>
            <a:off x="4754880" y="1554480"/>
            <a:ext cx="3840480" cy="457200"/>
          </a:xfrm>
          <a:prstGeom prst="rect">
            <a:avLst/>
          </a:prstGeom>
          <a:solidFill>
            <a:srgbClr val="1B2A3D"/>
          </a:solidFill>
          <a:ln/>
        </p:spPr>
        <p:txBody>
          <a:bodyPr/>
          <a:lstStyle/>
          <a:p>
            <a:endParaRPr lang="en-US"/>
          </a:p>
        </p:txBody>
      </p:sp>
      <p:sp>
        <p:nvSpPr>
          <p:cNvPr id="10" name="Text 8"/>
          <p:cNvSpPr/>
          <p:nvPr/>
        </p:nvSpPr>
        <p:spPr>
          <a:xfrm>
            <a:off x="4937760" y="1554480"/>
            <a:ext cx="3474720" cy="457200"/>
          </a:xfrm>
          <a:prstGeom prst="rect">
            <a:avLst/>
          </a:prstGeom>
          <a:noFill/>
          <a:ln/>
        </p:spPr>
        <p:txBody>
          <a:bodyPr wrap="square" lIns="0" tIns="0" rIns="0" bIns="0" rtlCol="0" anchor="ctr"/>
          <a:lstStyle/>
          <a:p>
            <a:pPr marL="0" indent="0">
              <a:buNone/>
            </a:pPr>
            <a:r>
              <a:rPr lang="en-US" sz="1500" b="1" dirty="0">
                <a:solidFill>
                  <a:srgbClr val="0D9488"/>
                </a:solidFill>
                <a:latin typeface="Trebuchet MS" pitchFamily="34" charset="0"/>
                <a:ea typeface="Trebuchet MS" pitchFamily="34" charset="-122"/>
                <a:cs typeface="Trebuchet MS" pitchFamily="34" charset="-120"/>
              </a:rPr>
              <a:t>Leadership Commits To:</a:t>
            </a:r>
            <a:endParaRPr lang="en-US" sz="1500" dirty="0"/>
          </a:p>
        </p:txBody>
      </p:sp>
      <p:sp>
        <p:nvSpPr>
          <p:cNvPr id="11" name="Text 9"/>
          <p:cNvSpPr/>
          <p:nvPr/>
        </p:nvSpPr>
        <p:spPr>
          <a:xfrm>
            <a:off x="5029200" y="2148840"/>
            <a:ext cx="3383280" cy="2286000"/>
          </a:xfrm>
          <a:prstGeom prst="rect">
            <a:avLst/>
          </a:prstGeom>
          <a:noFill/>
          <a:ln/>
        </p:spPr>
        <p:txBody>
          <a:bodyPr wrap="square" lIns="0" tIns="0" rIns="0" bIns="0" rtlCol="0" anchor="t"/>
          <a:lstStyle/>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Using the artifacts in scheduling decisions</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Accepting tradeoffs explicitly, not implicitly</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Owning risk acceptance decisions</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Supporting the team's investment in this process</a:t>
            </a:r>
            <a:endParaRPr lang="en-US" sz="1200" dirty="0"/>
          </a:p>
          <a:p>
            <a:pPr marL="342900" indent="-342900">
              <a:lnSpc>
                <a:spcPct val="150000"/>
              </a:lnSpc>
              <a:buSzPct val="100000"/>
              <a:buChar char="•"/>
            </a:pPr>
            <a:r>
              <a:rPr lang="en-US" sz="1200" dirty="0">
                <a:solidFill>
                  <a:srgbClr val="334155"/>
                </a:solidFill>
                <a:latin typeface="Calibri" pitchFamily="34" charset="0"/>
                <a:ea typeface="Calibri" pitchFamily="34" charset="-122"/>
                <a:cs typeface="Calibri" pitchFamily="34" charset="-120"/>
              </a:rPr>
              <a:t>Asking questions based on the data, not around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txBody>
          <a:bodyPr/>
          <a:lstStyle/>
          <a:p>
            <a:endParaRPr lang="en-US"/>
          </a:p>
        </p:txBody>
      </p:sp>
      <p:sp>
        <p:nvSpPr>
          <p:cNvPr id="3" name="Text 1"/>
          <p:cNvSpPr/>
          <p:nvPr/>
        </p:nvSpPr>
        <p:spPr>
          <a:xfrm>
            <a:off x="731520" y="32004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pic>
        <p:nvPicPr>
          <p:cNvPr id="4" name="Image 0" descr="preencoded.png"/>
          <p:cNvPicPr>
            <a:picLocks noChangeAspect="1"/>
          </p:cNvPicPr>
          <p:nvPr/>
        </p:nvPicPr>
        <p:blipFill>
          <a:blip r:embed="rId3"/>
          <a:stretch>
            <a:fillRect/>
          </a:stretch>
        </p:blipFill>
        <p:spPr>
          <a:xfrm>
            <a:off x="731520" y="1088136"/>
            <a:ext cx="256032" cy="256032"/>
          </a:xfrm>
          <a:prstGeom prst="rect">
            <a:avLst/>
          </a:prstGeom>
        </p:spPr>
      </p:pic>
      <p:sp>
        <p:nvSpPr>
          <p:cNvPr id="5" name="Text 2"/>
          <p:cNvSpPr/>
          <p:nvPr/>
        </p:nvSpPr>
        <p:spPr>
          <a:xfrm>
            <a:off x="1188720" y="105156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Testing unpredictability is a visibility problem, not a QA problem.</a:t>
            </a:r>
            <a:endParaRPr lang="en-US" sz="1500" dirty="0"/>
          </a:p>
        </p:txBody>
      </p:sp>
      <p:pic>
        <p:nvPicPr>
          <p:cNvPr id="6" name="Image 1" descr="preencoded.png"/>
          <p:cNvPicPr>
            <a:picLocks noChangeAspect="1"/>
          </p:cNvPicPr>
          <p:nvPr/>
        </p:nvPicPr>
        <p:blipFill>
          <a:blip r:embed="rId3"/>
          <a:stretch>
            <a:fillRect/>
          </a:stretch>
        </p:blipFill>
        <p:spPr>
          <a:xfrm>
            <a:off x="731520" y="1499616"/>
            <a:ext cx="256032" cy="256032"/>
          </a:xfrm>
          <a:prstGeom prst="rect">
            <a:avLst/>
          </a:prstGeom>
        </p:spPr>
      </p:pic>
      <p:sp>
        <p:nvSpPr>
          <p:cNvPr id="7" name="Text 3"/>
          <p:cNvSpPr/>
          <p:nvPr/>
        </p:nvSpPr>
        <p:spPr>
          <a:xfrm>
            <a:off x="1188720" y="146304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team is building visible coverage inventories and risk-based priorities.</a:t>
            </a:r>
            <a:endParaRPr lang="en-US" sz="1500" dirty="0"/>
          </a:p>
        </p:txBody>
      </p:sp>
      <p:pic>
        <p:nvPicPr>
          <p:cNvPr id="8" name="Image 2" descr="preencoded.png"/>
          <p:cNvPicPr>
            <a:picLocks noChangeAspect="1"/>
          </p:cNvPicPr>
          <p:nvPr/>
        </p:nvPicPr>
        <p:blipFill>
          <a:blip r:embed="rId3"/>
          <a:stretch>
            <a:fillRect/>
          </a:stretch>
        </p:blipFill>
        <p:spPr>
          <a:xfrm>
            <a:off x="731520" y="1911096"/>
            <a:ext cx="256032" cy="256032"/>
          </a:xfrm>
          <a:prstGeom prst="rect">
            <a:avLst/>
          </a:prstGeom>
        </p:spPr>
      </p:pic>
      <p:sp>
        <p:nvSpPr>
          <p:cNvPr id="9" name="Text 4"/>
          <p:cNvSpPr/>
          <p:nvPr/>
        </p:nvSpPr>
        <p:spPr>
          <a:xfrm>
            <a:off x="1188720" y="187452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These artifacts make scheduling and release conversations objective.</a:t>
            </a:r>
            <a:endParaRPr lang="en-US" sz="1500" dirty="0"/>
          </a:p>
        </p:txBody>
      </p:sp>
      <p:pic>
        <p:nvPicPr>
          <p:cNvPr id="10" name="Image 3" descr="preencoded.png"/>
          <p:cNvPicPr>
            <a:picLocks noChangeAspect="1"/>
          </p:cNvPicPr>
          <p:nvPr/>
        </p:nvPicPr>
        <p:blipFill>
          <a:blip r:embed="rId3"/>
          <a:stretch>
            <a:fillRect/>
          </a:stretch>
        </p:blipFill>
        <p:spPr>
          <a:xfrm>
            <a:off x="731520" y="2322576"/>
            <a:ext cx="256032" cy="256032"/>
          </a:xfrm>
          <a:prstGeom prst="rect">
            <a:avLst/>
          </a:prstGeom>
        </p:spPr>
      </p:pic>
      <p:sp>
        <p:nvSpPr>
          <p:cNvPr id="11" name="Text 5"/>
          <p:cNvSpPr/>
          <p:nvPr/>
        </p:nvSpPr>
        <p:spPr>
          <a:xfrm>
            <a:off x="1188720" y="228600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cut-line lets you adjust scope with clear, visible tradeoffs.</a:t>
            </a:r>
            <a:endParaRPr lang="en-US" sz="1500" dirty="0"/>
          </a:p>
        </p:txBody>
      </p:sp>
      <p:pic>
        <p:nvPicPr>
          <p:cNvPr id="12" name="Image 4" descr="preencoded.png"/>
          <p:cNvPicPr>
            <a:picLocks noChangeAspect="1"/>
          </p:cNvPicPr>
          <p:nvPr/>
        </p:nvPicPr>
        <p:blipFill>
          <a:blip r:embed="rId3"/>
          <a:stretch>
            <a:fillRect/>
          </a:stretch>
        </p:blipFill>
        <p:spPr>
          <a:xfrm>
            <a:off x="731520" y="2734056"/>
            <a:ext cx="256032" cy="256032"/>
          </a:xfrm>
          <a:prstGeom prst="rect">
            <a:avLst/>
          </a:prstGeom>
        </p:spPr>
      </p:pic>
      <p:sp>
        <p:nvSpPr>
          <p:cNvPr id="13" name="Text 6"/>
          <p:cNvSpPr/>
          <p:nvPr/>
        </p:nvSpPr>
        <p:spPr>
          <a:xfrm>
            <a:off x="1188720" y="269748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Accepted risk should be intentional, visible, owned, and revisited.</a:t>
            </a:r>
            <a:endParaRPr lang="en-US" sz="1500" dirty="0"/>
          </a:p>
        </p:txBody>
      </p:sp>
      <p:pic>
        <p:nvPicPr>
          <p:cNvPr id="14" name="Image 5" descr="preencoded.png"/>
          <p:cNvPicPr>
            <a:picLocks noChangeAspect="1"/>
          </p:cNvPicPr>
          <p:nvPr/>
        </p:nvPicPr>
        <p:blipFill>
          <a:blip r:embed="rId3"/>
          <a:stretch>
            <a:fillRect/>
          </a:stretch>
        </p:blipFill>
        <p:spPr>
          <a:xfrm>
            <a:off x="731520" y="3145536"/>
            <a:ext cx="256032" cy="256032"/>
          </a:xfrm>
          <a:prstGeom prst="rect">
            <a:avLst/>
          </a:prstGeom>
        </p:spPr>
      </p:pic>
      <p:sp>
        <p:nvSpPr>
          <p:cNvPr id="15" name="Text 7"/>
          <p:cNvSpPr/>
          <p:nvPr/>
        </p:nvSpPr>
        <p:spPr>
          <a:xfrm>
            <a:off x="1188720" y="3108960"/>
            <a:ext cx="73152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This works when both QA and leadership commit to the process.</a:t>
            </a:r>
            <a:endParaRPr lang="en-US" sz="1500" dirty="0"/>
          </a:p>
        </p:txBody>
      </p:sp>
      <p:sp>
        <p:nvSpPr>
          <p:cNvPr id="16" name="Shape 8"/>
          <p:cNvSpPr/>
          <p:nvPr/>
        </p:nvSpPr>
        <p:spPr>
          <a:xfrm>
            <a:off x="548640" y="3703320"/>
            <a:ext cx="8046720" cy="1097280"/>
          </a:xfrm>
          <a:prstGeom prst="rect">
            <a:avLst/>
          </a:prstGeom>
          <a:solidFill>
            <a:srgbClr val="243447"/>
          </a:solidFill>
          <a:ln/>
        </p:spPr>
        <p:txBody>
          <a:bodyPr/>
          <a:lstStyle/>
          <a:p>
            <a:endParaRPr lang="en-US"/>
          </a:p>
        </p:txBody>
      </p:sp>
      <p:sp>
        <p:nvSpPr>
          <p:cNvPr id="17" name="Text 9"/>
          <p:cNvSpPr/>
          <p:nvPr/>
        </p:nvSpPr>
        <p:spPr>
          <a:xfrm>
            <a:off x="731520" y="3794760"/>
            <a:ext cx="768096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Good testing is not about maximum coverage.</a:t>
            </a:r>
            <a:endParaRPr lang="en-US" sz="2000" dirty="0"/>
          </a:p>
        </p:txBody>
      </p:sp>
      <p:sp>
        <p:nvSpPr>
          <p:cNvPr id="18" name="Text 10"/>
          <p:cNvSpPr/>
          <p:nvPr/>
        </p:nvSpPr>
        <p:spPr>
          <a:xfrm>
            <a:off x="731520" y="4251960"/>
            <a:ext cx="7680960"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Trebuchet MS" pitchFamily="34" charset="0"/>
                <a:ea typeface="Trebuchet MS" pitchFamily="34" charset="-122"/>
                <a:cs typeface="Trebuchet MS" pitchFamily="34" charset="-120"/>
              </a:rPr>
              <a:t>It is about communicating risk.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1642</Words>
  <Application>Microsoft Office PowerPoint</Application>
  <PresentationFormat>On-screen Show (16:9)</PresentationFormat>
  <Paragraphs>187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Coverage and Risk — A Framework for Scheduling and Release Decisions</dc:title>
  <dc:subject>PptxGenJS Presentation</dc:subject>
  <dc:creator>QA Training</dc:creator>
  <cp:lastModifiedBy>Gary McNickle</cp:lastModifiedBy>
  <cp:revision>1</cp:revision>
  <dcterms:created xsi:type="dcterms:W3CDTF">2026-05-21T17:58:40Z</dcterms:created>
  <dcterms:modified xsi:type="dcterms:W3CDTF">2026-05-22T00:59:45Z</dcterms:modified>
</cp:coreProperties>
</file>