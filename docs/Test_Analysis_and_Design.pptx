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A63582-BD76-4D21-86C9-B9D6EF697863}" v="1" dt="2026-05-22T00:41:05.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1" d="100"/>
          <a:sy n="211" d="100"/>
        </p:scale>
        <p:origin x="35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y McNickle" userId="e9d346d2d806edb0" providerId="LiveId" clId="{4F1CA071-7AA7-4987-BA1A-E5FD4B4E25F8}"/>
    <pc:docChg chg="modSld">
      <pc:chgData name="Gary McNickle" userId="e9d346d2d806edb0" providerId="LiveId" clId="{4F1CA071-7AA7-4987-BA1A-E5FD4B4E25F8}" dt="2026-05-22T00:41:10.998" v="17" actId="20577"/>
      <pc:docMkLst>
        <pc:docMk/>
      </pc:docMkLst>
      <pc:sldChg chg="modSp mod">
        <pc:chgData name="Gary McNickle" userId="e9d346d2d806edb0" providerId="LiveId" clId="{4F1CA071-7AA7-4987-BA1A-E5FD4B4E25F8}" dt="2026-05-22T00:41:10.998" v="17" actId="20577"/>
        <pc:sldMkLst>
          <pc:docMk/>
          <pc:sldMk cId="0" sldId="256"/>
        </pc:sldMkLst>
        <pc:spChg chg="mod">
          <ac:chgData name="Gary McNickle" userId="e9d346d2d806edb0" providerId="LiveId" clId="{4F1CA071-7AA7-4987-BA1A-E5FD4B4E25F8}" dt="2026-05-22T00:41:10.998" v="17"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1190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team. Frame this as a practical working session, not an academic exercise. The goal is to walk away with a repeatable process for organizing and communicating test coverage. Mention that this material draws from 'Systematic Software Testing' by Rick Craig and Stefan Jaskiel, adapted for modern agile workflows.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symptoms and ask the team if any feel familiar. The point is not to assign blame — it's to identify the structural gap. If there's no visible model of coverage, these outcomes are inevitable. The quote at the bottom is the foundational principle: since you can't test everything, you need a system for deciding what to test and communicating those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thesis of the entire training. Pause here and let it land. Good testing isn't about trying to cover everything — it's about making deliberate choices, knowing what you're covering and what you're not, and being able to explain those decisions. The four pillars describe what that looks like in practice.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defines what we mean by test analysis. It's not writing test cases — that comes later. Test analysis is the thinking that happens before you write anything. It's about building a model of what needs to be tested, organized in a way that makes sense and can be communicated. The output is an artifact — a visible, shareable representation of your test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fundamental building block. A test objective is the broad category — like 'Checkout.' The inventory is the decomposed list of things within that objective that actually need to be tested. The ecommerce checkout example makes this concrete. Notice how 'Checkout' by itself is too vague to schedule or prioritize, but the inventory items are specific enough to plan around.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bother?' Inventories aren't extra paperwork — they're the tool that makes everything else work. Without visible coverage, scheduling is guesswork, priorities are tribal knowledge, and you can't answer basic questions like 'what are we not testing?' Walk through each benefit and connect it back to the problems from slide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brainstorming team is critical because no single person has complete knowledge of the system. Keep the group small — 3 to 7 is ideal. Include people who know different parts of the system: developers know what's fragile, support knows what customers hit, product knows what matters commercially. The key ground rule: focus on breadth first, resist the urge to dive into implementation details.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brainstorming session starts. The team identifies broad areas of the system that need testing. These are test objectives — not test cases. Using the ecommerce example, these are categories that anyone on the team would recognize. Emphasize that this step should be fast and high-level. Resist the urge to decompose right away — that comes next. The goal is to get the major areas on the board.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people usually struggle — finding the right level of granularity. Too broad and you can't schedule or prioritize. Too detailed and you drown in test cases before you have a plan. The 'Better' column is the sweet spot: each item is meaningful, you could schedule it, and someone could understand what it covers without a paragraph of explanation. Use the four criteria at the bottom as a litmus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introduce risk-based thinking. Not everything is equally important. Login failing is catastrophic — coupon codes failing is annoying. This simple likelihood-by-impact model (from Craig's risk analysis approach) gives the team a way to have that conversation objectively. The values don't need to be precise — they need to be discussable. The point is to create a shared, visible ranking that everyone can reference.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heart of the process. Notice the structure: objectives (Authentication, Shopping Cart, Checkout) group the inventories, and each inventory item has its own row showing exactly which test suites cover it. This is what makes scheduling conversations concrete — you can point to specific rows and say 'smoke testing covers these 5 items, and that's why it takes the time it does.' The dashes make gaps immediately visible: Password Reset has no smoke coverage and no automation. If that's an intentional decision, great. If not, the matrix just surfaced a risk.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matrix really proves its value. Gaps become obvious when you can see them. The example on the right is powerful — if Checkout is your highest-risk area and it has no smoke coverage and no automation, that's a visible problem you can point to. Without the matrix, this risk concentration exists silently. With the matrix, it's impossible to ignore.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rubber meets the road for the team's original problem — smoke testing taking a week. Without inventories, smoke testing becomes 'test the important stuff' which gradually expands to 'test everything we can think of.' Inventories let you draw a clear line: smoke testing covers these specific items, regression covers these. That line is visible, discussable, and adjustable. If someone wants to add something to smoke, you can show what that does to the timeline.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addresses the problem that started this whole initiative. When leadership asks 'why does testing take so long?' the answer should not be defensive — it should be data-driven. With inventories and matrices, you can show exactly what you're testing, what you're not, and what the tradeoffs are. The conversation becomes collaborative instead of adversarial. The quote at the bottom is the key mindset shift.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Recap the key points and end on the thesis. Emphasize that this isn't about adding process or documentation for its own sake — it's about giving the team the tools to have better conversations about testing. The next step is to schedule a brainstorming session with the team and start building real inventories for your own system. If you're doing the leadership deck separately, mention that it will cover how these artifacts support release decisions and scheduling at a management level.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p:spPr>
        <p:txBody>
          <a:bodyPr/>
          <a:lstStyle/>
          <a:p>
            <a:endParaRPr lang="en-US"/>
          </a:p>
        </p:txBody>
      </p:sp>
      <p:sp>
        <p:nvSpPr>
          <p:cNvPr id="3" name="Text 1"/>
          <p:cNvSpPr/>
          <p:nvPr/>
        </p:nvSpPr>
        <p:spPr>
          <a:xfrm>
            <a:off x="731520" y="731520"/>
            <a:ext cx="7315200" cy="201168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Trebuchet MS" pitchFamily="34" charset="0"/>
                <a:ea typeface="Trebuchet MS" pitchFamily="34" charset="-122"/>
                <a:cs typeface="Trebuchet MS" pitchFamily="34" charset="-120"/>
              </a:rPr>
              <a:t>Test Analysis</a:t>
            </a:r>
            <a:endParaRPr lang="en-US" sz="4400" dirty="0"/>
          </a:p>
          <a:p>
            <a:pPr marL="0" indent="0">
              <a:lnSpc>
                <a:spcPct val="110000"/>
              </a:lnSpc>
              <a:buNone/>
            </a:pPr>
            <a:r>
              <a:rPr lang="en-US" sz="4400" b="1" dirty="0">
                <a:solidFill>
                  <a:srgbClr val="FFFFFF"/>
                </a:solidFill>
                <a:latin typeface="Trebuchet MS" pitchFamily="34" charset="0"/>
                <a:ea typeface="Trebuchet MS" pitchFamily="34" charset="-122"/>
                <a:cs typeface="Trebuchet MS" pitchFamily="34" charset="-120"/>
              </a:rPr>
              <a:t>and Design</a:t>
            </a:r>
            <a:endParaRPr lang="en-US" sz="4400" dirty="0"/>
          </a:p>
        </p:txBody>
      </p:sp>
      <p:sp>
        <p:nvSpPr>
          <p:cNvPr id="4" name="Text 2"/>
          <p:cNvSpPr/>
          <p:nvPr/>
        </p:nvSpPr>
        <p:spPr>
          <a:xfrm>
            <a:off x="731520" y="2743200"/>
            <a:ext cx="7315200" cy="548640"/>
          </a:xfrm>
          <a:prstGeom prst="rect">
            <a:avLst/>
          </a:prstGeom>
          <a:noFill/>
          <a:ln/>
        </p:spPr>
        <p:txBody>
          <a:bodyPr wrap="square" lIns="0" tIns="0" rIns="0" bIns="0" rtlCol="0" anchor="ctr"/>
          <a:lstStyle/>
          <a:p>
            <a:pPr marL="0" indent="0">
              <a:buNone/>
            </a:pPr>
            <a:r>
              <a:rPr lang="en-US" sz="2200" dirty="0">
                <a:solidFill>
                  <a:srgbClr val="0D9488"/>
                </a:solidFill>
                <a:latin typeface="Calibri" pitchFamily="34" charset="0"/>
                <a:ea typeface="Calibri" pitchFamily="34" charset="-122"/>
                <a:cs typeface="Calibri" pitchFamily="34" charset="-120"/>
              </a:rPr>
              <a:t>Creating Test Inventories</a:t>
            </a:r>
            <a:endParaRPr lang="en-US" sz="2200" dirty="0"/>
          </a:p>
        </p:txBody>
      </p:sp>
      <p:sp>
        <p:nvSpPr>
          <p:cNvPr id="5" name="Text 3"/>
          <p:cNvSpPr/>
          <p:nvPr/>
        </p:nvSpPr>
        <p:spPr>
          <a:xfrm>
            <a:off x="731520" y="3383280"/>
            <a:ext cx="6400800" cy="45720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Organizing testing into communicable, risk-oriented coverage</a:t>
            </a:r>
          </a:p>
          <a:p>
            <a:r>
              <a:rPr lang="en-US" sz="1400" i="1" dirty="0">
                <a:solidFill>
                  <a:srgbClr val="64748B"/>
                </a:solidFill>
                <a:latin typeface="Calibri" pitchFamily="34" charset="0"/>
                <a:ea typeface="Calibri" pitchFamily="34" charset="-122"/>
                <a:cs typeface="Calibri" pitchFamily="34" charset="-120"/>
              </a:rPr>
              <a:t>Part 1 of the Test Analysis and Design series</a:t>
            </a:r>
          </a:p>
          <a:p>
            <a:r>
              <a:rPr lang="en-US" sz="1400" i="1" dirty="0">
                <a:solidFill>
                  <a:srgbClr val="64748B"/>
                </a:solidFill>
                <a:latin typeface="Calibri" pitchFamily="34" charset="0"/>
                <a:ea typeface="Calibri" pitchFamily="34" charset="-122"/>
                <a:cs typeface="Calibri" pitchFamily="34" charset="-120"/>
              </a:rPr>
              <a:t>Gary McNickle</a:t>
            </a:r>
          </a:p>
          <a:p>
            <a:pPr marL="0" indent="0">
              <a:buNone/>
            </a:pPr>
            <a:endParaRPr lang="en-US" sz="1400" dirty="0"/>
          </a:p>
        </p:txBody>
      </p:sp>
      <p:pic>
        <p:nvPicPr>
          <p:cNvPr id="6" name="Image 0" descr="preencoded.png"/>
          <p:cNvPicPr>
            <a:picLocks noChangeAspect="1"/>
          </p:cNvPicPr>
          <p:nvPr/>
        </p:nvPicPr>
        <p:blipFill>
          <a:blip r:embed="rId3"/>
          <a:stretch>
            <a:fillRect/>
          </a:stretch>
        </p:blipFill>
        <p:spPr>
          <a:xfrm>
            <a:off x="7772400" y="3474720"/>
            <a:ext cx="914400" cy="914400"/>
          </a:xfrm>
          <a:prstGeom prst="rect">
            <a:avLst/>
          </a:prstGeom>
        </p:spPr>
      </p:pic>
      <p:sp>
        <p:nvSpPr>
          <p:cNvPr id="7" name="Text 4"/>
          <p:cNvSpPr/>
          <p:nvPr/>
        </p:nvSpPr>
        <p:spPr>
          <a:xfrm>
            <a:off x="731520" y="4572000"/>
            <a:ext cx="6400800"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Based on concepts from Systematic Software Testing by Rick Craig and Stefan Jaskiel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Why Testing Discussions Break Down</a:t>
            </a:r>
            <a:endParaRPr lang="en-US" sz="3000" dirty="0"/>
          </a:p>
        </p:txBody>
      </p:sp>
      <p:sp>
        <p:nvSpPr>
          <p:cNvPr id="3" name="Shape 1"/>
          <p:cNvSpPr/>
          <p:nvPr/>
        </p:nvSpPr>
        <p:spPr>
          <a:xfrm>
            <a:off x="548640" y="1280160"/>
            <a:ext cx="384048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548640" y="1280160"/>
            <a:ext cx="73152" cy="640080"/>
          </a:xfrm>
          <a:prstGeom prst="rect">
            <a:avLst/>
          </a:prstGeom>
          <a:solidFill>
            <a:srgbClr val="D97706"/>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77240" y="1417320"/>
            <a:ext cx="320040" cy="320040"/>
          </a:xfrm>
          <a:prstGeom prst="rect">
            <a:avLst/>
          </a:prstGeom>
        </p:spPr>
      </p:pic>
      <p:sp>
        <p:nvSpPr>
          <p:cNvPr id="6" name="Text 3"/>
          <p:cNvSpPr/>
          <p:nvPr/>
        </p:nvSpPr>
        <p:spPr>
          <a:xfrm>
            <a:off x="1188720" y="1325880"/>
            <a:ext cx="3017520" cy="5486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QA timelines keep growing with no clear explanation</a:t>
            </a:r>
            <a:endParaRPr lang="en-US" sz="1200" dirty="0"/>
          </a:p>
        </p:txBody>
      </p:sp>
      <p:sp>
        <p:nvSpPr>
          <p:cNvPr id="7" name="Shape 4"/>
          <p:cNvSpPr/>
          <p:nvPr/>
        </p:nvSpPr>
        <p:spPr>
          <a:xfrm>
            <a:off x="4663440" y="1280160"/>
            <a:ext cx="384048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5"/>
          <p:cNvSpPr/>
          <p:nvPr/>
        </p:nvSpPr>
        <p:spPr>
          <a:xfrm>
            <a:off x="4663440" y="1280160"/>
            <a:ext cx="73152" cy="640080"/>
          </a:xfrm>
          <a:prstGeom prst="rect">
            <a:avLst/>
          </a:prstGeom>
          <a:solidFill>
            <a:srgbClr val="D97706"/>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4892040" y="1417320"/>
            <a:ext cx="320040" cy="320040"/>
          </a:xfrm>
          <a:prstGeom prst="rect">
            <a:avLst/>
          </a:prstGeom>
        </p:spPr>
      </p:pic>
      <p:sp>
        <p:nvSpPr>
          <p:cNvPr id="10" name="Text 6"/>
          <p:cNvSpPr/>
          <p:nvPr/>
        </p:nvSpPr>
        <p:spPr>
          <a:xfrm>
            <a:off x="5303520" y="1325880"/>
            <a:ext cx="3017520" cy="5486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Smoke testing scope is unclear or inconsistent</a:t>
            </a:r>
            <a:endParaRPr lang="en-US" sz="1200" dirty="0"/>
          </a:p>
        </p:txBody>
      </p:sp>
      <p:sp>
        <p:nvSpPr>
          <p:cNvPr id="11" name="Shape 7"/>
          <p:cNvSpPr/>
          <p:nvPr/>
        </p:nvSpPr>
        <p:spPr>
          <a:xfrm>
            <a:off x="548640" y="2057400"/>
            <a:ext cx="384048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8"/>
          <p:cNvSpPr/>
          <p:nvPr/>
        </p:nvSpPr>
        <p:spPr>
          <a:xfrm>
            <a:off x="548640" y="2057400"/>
            <a:ext cx="73152" cy="640080"/>
          </a:xfrm>
          <a:prstGeom prst="rect">
            <a:avLst/>
          </a:prstGeom>
          <a:solidFill>
            <a:srgbClr val="D97706"/>
          </a:solidFill>
          <a:ln/>
        </p:spPr>
        <p:txBody>
          <a:bodyPr/>
          <a:lstStyle/>
          <a:p>
            <a:endParaRPr lang="en-US"/>
          </a:p>
        </p:txBody>
      </p:sp>
      <p:pic>
        <p:nvPicPr>
          <p:cNvPr id="13" name="Image 2" descr="preencoded.png"/>
          <p:cNvPicPr>
            <a:picLocks noChangeAspect="1"/>
          </p:cNvPicPr>
          <p:nvPr/>
        </p:nvPicPr>
        <p:blipFill>
          <a:blip r:embed="rId3"/>
          <a:stretch>
            <a:fillRect/>
          </a:stretch>
        </p:blipFill>
        <p:spPr>
          <a:xfrm>
            <a:off x="777240" y="2194560"/>
            <a:ext cx="320040" cy="320040"/>
          </a:xfrm>
          <a:prstGeom prst="rect">
            <a:avLst/>
          </a:prstGeom>
        </p:spPr>
      </p:pic>
      <p:sp>
        <p:nvSpPr>
          <p:cNvPr id="14" name="Text 9"/>
          <p:cNvSpPr/>
          <p:nvPr/>
        </p:nvSpPr>
        <p:spPr>
          <a:xfrm>
            <a:off x="1188720" y="2103120"/>
            <a:ext cx="3017520" cy="5486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Coverage exists mostly as tribal knowledge</a:t>
            </a:r>
            <a:endParaRPr lang="en-US" sz="1200" dirty="0"/>
          </a:p>
        </p:txBody>
      </p:sp>
      <p:sp>
        <p:nvSpPr>
          <p:cNvPr id="15" name="Shape 10"/>
          <p:cNvSpPr/>
          <p:nvPr/>
        </p:nvSpPr>
        <p:spPr>
          <a:xfrm>
            <a:off x="4663440" y="2057400"/>
            <a:ext cx="384048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6" name="Shape 11"/>
          <p:cNvSpPr/>
          <p:nvPr/>
        </p:nvSpPr>
        <p:spPr>
          <a:xfrm>
            <a:off x="4663440" y="2057400"/>
            <a:ext cx="73152" cy="640080"/>
          </a:xfrm>
          <a:prstGeom prst="rect">
            <a:avLst/>
          </a:prstGeom>
          <a:solidFill>
            <a:srgbClr val="D97706"/>
          </a:solidFill>
          <a:ln/>
        </p:spPr>
        <p:txBody>
          <a:bodyPr/>
          <a:lstStyle/>
          <a:p>
            <a:endParaRPr lang="en-US"/>
          </a:p>
        </p:txBody>
      </p:sp>
      <p:pic>
        <p:nvPicPr>
          <p:cNvPr id="17" name="Image 3" descr="preencoded.png"/>
          <p:cNvPicPr>
            <a:picLocks noChangeAspect="1"/>
          </p:cNvPicPr>
          <p:nvPr/>
        </p:nvPicPr>
        <p:blipFill>
          <a:blip r:embed="rId3"/>
          <a:stretch>
            <a:fillRect/>
          </a:stretch>
        </p:blipFill>
        <p:spPr>
          <a:xfrm>
            <a:off x="4892040" y="2194560"/>
            <a:ext cx="320040" cy="320040"/>
          </a:xfrm>
          <a:prstGeom prst="rect">
            <a:avLst/>
          </a:prstGeom>
        </p:spPr>
      </p:pic>
      <p:sp>
        <p:nvSpPr>
          <p:cNvPr id="18" name="Text 12"/>
          <p:cNvSpPr/>
          <p:nvPr/>
        </p:nvSpPr>
        <p:spPr>
          <a:xfrm>
            <a:off x="5303520" y="2103120"/>
            <a:ext cx="3017520" cy="5486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Testing priorities are difficult to explain objectively</a:t>
            </a:r>
            <a:endParaRPr lang="en-US" sz="1200" dirty="0"/>
          </a:p>
        </p:txBody>
      </p:sp>
      <p:sp>
        <p:nvSpPr>
          <p:cNvPr id="19" name="Shape 13"/>
          <p:cNvSpPr/>
          <p:nvPr/>
        </p:nvSpPr>
        <p:spPr>
          <a:xfrm>
            <a:off x="548640" y="2834640"/>
            <a:ext cx="384048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14"/>
          <p:cNvSpPr/>
          <p:nvPr/>
        </p:nvSpPr>
        <p:spPr>
          <a:xfrm>
            <a:off x="548640" y="2834640"/>
            <a:ext cx="73152" cy="640080"/>
          </a:xfrm>
          <a:prstGeom prst="rect">
            <a:avLst/>
          </a:prstGeom>
          <a:solidFill>
            <a:srgbClr val="D97706"/>
          </a:solidFill>
          <a:ln/>
        </p:spPr>
        <p:txBody>
          <a:bodyPr/>
          <a:lstStyle/>
          <a:p>
            <a:endParaRPr lang="en-US"/>
          </a:p>
        </p:txBody>
      </p:sp>
      <p:pic>
        <p:nvPicPr>
          <p:cNvPr id="21" name="Image 4" descr="preencoded.png"/>
          <p:cNvPicPr>
            <a:picLocks noChangeAspect="1"/>
          </p:cNvPicPr>
          <p:nvPr/>
        </p:nvPicPr>
        <p:blipFill>
          <a:blip r:embed="rId3"/>
          <a:stretch>
            <a:fillRect/>
          </a:stretch>
        </p:blipFill>
        <p:spPr>
          <a:xfrm>
            <a:off x="777240" y="2971800"/>
            <a:ext cx="320040" cy="320040"/>
          </a:xfrm>
          <a:prstGeom prst="rect">
            <a:avLst/>
          </a:prstGeom>
        </p:spPr>
      </p:pic>
      <p:sp>
        <p:nvSpPr>
          <p:cNvPr id="22" name="Text 15"/>
          <p:cNvSpPr/>
          <p:nvPr/>
        </p:nvSpPr>
        <p:spPr>
          <a:xfrm>
            <a:off x="1188720" y="2880360"/>
            <a:ext cx="3017520" cy="5486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Leadership asks "why does testing take so long?"</a:t>
            </a:r>
            <a:endParaRPr lang="en-US" sz="1200" dirty="0"/>
          </a:p>
        </p:txBody>
      </p:sp>
      <p:sp>
        <p:nvSpPr>
          <p:cNvPr id="23" name="Shape 16"/>
          <p:cNvSpPr/>
          <p:nvPr/>
        </p:nvSpPr>
        <p:spPr>
          <a:xfrm>
            <a:off x="4663440" y="2834640"/>
            <a:ext cx="384048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17"/>
          <p:cNvSpPr/>
          <p:nvPr/>
        </p:nvSpPr>
        <p:spPr>
          <a:xfrm>
            <a:off x="4663440" y="2834640"/>
            <a:ext cx="73152" cy="640080"/>
          </a:xfrm>
          <a:prstGeom prst="rect">
            <a:avLst/>
          </a:prstGeom>
          <a:solidFill>
            <a:srgbClr val="D97706"/>
          </a:solidFill>
          <a:ln/>
        </p:spPr>
        <p:txBody>
          <a:bodyPr/>
          <a:lstStyle/>
          <a:p>
            <a:endParaRPr lang="en-US"/>
          </a:p>
        </p:txBody>
      </p:sp>
      <p:pic>
        <p:nvPicPr>
          <p:cNvPr id="25" name="Image 5" descr="preencoded.png"/>
          <p:cNvPicPr>
            <a:picLocks noChangeAspect="1"/>
          </p:cNvPicPr>
          <p:nvPr/>
        </p:nvPicPr>
        <p:blipFill>
          <a:blip r:embed="rId3"/>
          <a:stretch>
            <a:fillRect/>
          </a:stretch>
        </p:blipFill>
        <p:spPr>
          <a:xfrm>
            <a:off x="4892040" y="2971800"/>
            <a:ext cx="320040" cy="320040"/>
          </a:xfrm>
          <a:prstGeom prst="rect">
            <a:avLst/>
          </a:prstGeom>
        </p:spPr>
      </p:pic>
      <p:sp>
        <p:nvSpPr>
          <p:cNvPr id="26" name="Text 18"/>
          <p:cNvSpPr/>
          <p:nvPr/>
        </p:nvSpPr>
        <p:spPr>
          <a:xfrm>
            <a:off x="5303520" y="2880360"/>
            <a:ext cx="3017520" cy="5486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Nobody can explain what gets cut when schedules tighten</a:t>
            </a:r>
            <a:endParaRPr lang="en-US" sz="1200" dirty="0"/>
          </a:p>
        </p:txBody>
      </p:sp>
      <p:sp>
        <p:nvSpPr>
          <p:cNvPr id="27" name="Shape 19"/>
          <p:cNvSpPr/>
          <p:nvPr/>
        </p:nvSpPr>
        <p:spPr>
          <a:xfrm>
            <a:off x="548640" y="3749040"/>
            <a:ext cx="8046720" cy="822960"/>
          </a:xfrm>
          <a:prstGeom prst="rect">
            <a:avLst/>
          </a:prstGeom>
          <a:solidFill>
            <a:srgbClr val="1B2A3D"/>
          </a:solidFill>
          <a:ln/>
        </p:spPr>
        <p:txBody>
          <a:bodyPr/>
          <a:lstStyle/>
          <a:p>
            <a:endParaRPr lang="en-US"/>
          </a:p>
        </p:txBody>
      </p:sp>
      <p:sp>
        <p:nvSpPr>
          <p:cNvPr id="28" name="Text 20"/>
          <p:cNvSpPr/>
          <p:nvPr/>
        </p:nvSpPr>
        <p:spPr>
          <a:xfrm>
            <a:off x="548640" y="3749040"/>
            <a:ext cx="8046720" cy="82296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You cannot test everything.</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548640"/>
            <a:ext cx="7772400" cy="1645920"/>
          </a:xfrm>
          <a:prstGeom prst="rect">
            <a:avLst/>
          </a:prstGeom>
          <a:noFill/>
          <a:ln/>
        </p:spPr>
        <p:txBody>
          <a:bodyPr wrap="square" lIns="0" tIns="0" rIns="0" bIns="0" rtlCol="0" anchor="ctr"/>
          <a:lstStyle/>
          <a:p>
            <a:pPr marL="0" indent="0">
              <a:lnSpc>
                <a:spcPct val="115000"/>
              </a:lnSpc>
              <a:buNone/>
            </a:pPr>
            <a:r>
              <a:rPr lang="en-US" sz="3600" b="1" dirty="0">
                <a:solidFill>
                  <a:srgbClr val="FFFFFF"/>
                </a:solidFill>
                <a:latin typeface="Trebuchet MS" pitchFamily="34" charset="0"/>
                <a:ea typeface="Trebuchet MS" pitchFamily="34" charset="-122"/>
                <a:cs typeface="Trebuchet MS" pitchFamily="34" charset="-120"/>
              </a:rPr>
              <a:t>Good testing is not about</a:t>
            </a:r>
            <a:endParaRPr lang="en-US" sz="3600" dirty="0"/>
          </a:p>
          <a:p>
            <a:pPr marL="0" indent="0">
              <a:lnSpc>
                <a:spcPct val="115000"/>
              </a:lnSpc>
              <a:buNone/>
            </a:pPr>
            <a:r>
              <a:rPr lang="en-US" sz="3600" b="1" dirty="0">
                <a:solidFill>
                  <a:srgbClr val="FFFFFF"/>
                </a:solidFill>
                <a:latin typeface="Trebuchet MS" pitchFamily="34" charset="0"/>
                <a:ea typeface="Trebuchet MS" pitchFamily="34" charset="-122"/>
                <a:cs typeface="Trebuchet MS" pitchFamily="34" charset="-120"/>
              </a:rPr>
              <a:t>maximum coverage.</a:t>
            </a:r>
            <a:endParaRPr lang="en-US" sz="3600" dirty="0"/>
          </a:p>
        </p:txBody>
      </p:sp>
      <p:sp>
        <p:nvSpPr>
          <p:cNvPr id="4" name="Text 2"/>
          <p:cNvSpPr/>
          <p:nvPr/>
        </p:nvSpPr>
        <p:spPr>
          <a:xfrm>
            <a:off x="731520" y="2194560"/>
            <a:ext cx="7772400" cy="731520"/>
          </a:xfrm>
          <a:prstGeom prst="rect">
            <a:avLst/>
          </a:prstGeom>
          <a:noFill/>
          <a:ln/>
        </p:spPr>
        <p:txBody>
          <a:bodyPr wrap="square" lIns="0" tIns="0" rIns="0" bIns="0" rtlCol="0" anchor="ctr"/>
          <a:lstStyle/>
          <a:p>
            <a:pPr marL="0" indent="0">
              <a:buNone/>
            </a:pPr>
            <a:r>
              <a:rPr lang="en-US" sz="3000" b="1" dirty="0">
                <a:solidFill>
                  <a:srgbClr val="0D9488"/>
                </a:solidFill>
                <a:latin typeface="Trebuchet MS" pitchFamily="34" charset="0"/>
                <a:ea typeface="Trebuchet MS" pitchFamily="34" charset="-122"/>
                <a:cs typeface="Trebuchet MS" pitchFamily="34" charset="-120"/>
              </a:rPr>
              <a:t>It is about communicating risk.</a:t>
            </a:r>
            <a:endParaRPr lang="en-US" sz="3000" dirty="0"/>
          </a:p>
        </p:txBody>
      </p:sp>
      <p:sp>
        <p:nvSpPr>
          <p:cNvPr id="5" name="Shape 3"/>
          <p:cNvSpPr/>
          <p:nvPr/>
        </p:nvSpPr>
        <p:spPr>
          <a:xfrm>
            <a:off x="548640" y="3291840"/>
            <a:ext cx="1828800" cy="1371600"/>
          </a:xfrm>
          <a:prstGeom prst="rect">
            <a:avLst/>
          </a:prstGeom>
          <a:solidFill>
            <a:srgbClr val="24344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34440" y="3429000"/>
            <a:ext cx="457200" cy="457200"/>
          </a:xfrm>
          <a:prstGeom prst="rect">
            <a:avLst/>
          </a:prstGeom>
        </p:spPr>
      </p:pic>
      <p:sp>
        <p:nvSpPr>
          <p:cNvPr id="7" name="Text 4"/>
          <p:cNvSpPr/>
          <p:nvPr/>
        </p:nvSpPr>
        <p:spPr>
          <a:xfrm>
            <a:off x="640080" y="3931920"/>
            <a:ext cx="1645920" cy="6400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Identify coverage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intentionally</a:t>
            </a:r>
            <a:endParaRPr lang="en-US" sz="1100" dirty="0"/>
          </a:p>
        </p:txBody>
      </p:sp>
      <p:sp>
        <p:nvSpPr>
          <p:cNvPr id="8" name="Shape 5"/>
          <p:cNvSpPr/>
          <p:nvPr/>
        </p:nvSpPr>
        <p:spPr>
          <a:xfrm>
            <a:off x="2606040" y="3291840"/>
            <a:ext cx="1828800" cy="1371600"/>
          </a:xfrm>
          <a:prstGeom prst="rect">
            <a:avLst/>
          </a:prstGeom>
          <a:solidFill>
            <a:srgbClr val="243447"/>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3291840" y="3429000"/>
            <a:ext cx="457200" cy="457200"/>
          </a:xfrm>
          <a:prstGeom prst="rect">
            <a:avLst/>
          </a:prstGeom>
        </p:spPr>
      </p:pic>
      <p:sp>
        <p:nvSpPr>
          <p:cNvPr id="10" name="Text 6"/>
          <p:cNvSpPr/>
          <p:nvPr/>
        </p:nvSpPr>
        <p:spPr>
          <a:xfrm>
            <a:off x="2697480" y="3931920"/>
            <a:ext cx="1645920" cy="6400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Prioritize based</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on risk</a:t>
            </a:r>
            <a:endParaRPr lang="en-US" sz="1100" dirty="0"/>
          </a:p>
        </p:txBody>
      </p:sp>
      <p:sp>
        <p:nvSpPr>
          <p:cNvPr id="11" name="Shape 7"/>
          <p:cNvSpPr/>
          <p:nvPr/>
        </p:nvSpPr>
        <p:spPr>
          <a:xfrm>
            <a:off x="4663440" y="3291840"/>
            <a:ext cx="1828800" cy="1371600"/>
          </a:xfrm>
          <a:prstGeom prst="rect">
            <a:avLst/>
          </a:prstGeom>
          <a:solidFill>
            <a:srgbClr val="243447"/>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5349240" y="3429000"/>
            <a:ext cx="457200" cy="457200"/>
          </a:xfrm>
          <a:prstGeom prst="rect">
            <a:avLst/>
          </a:prstGeom>
        </p:spPr>
      </p:pic>
      <p:sp>
        <p:nvSpPr>
          <p:cNvPr id="13" name="Text 8"/>
          <p:cNvSpPr/>
          <p:nvPr/>
        </p:nvSpPr>
        <p:spPr>
          <a:xfrm>
            <a:off x="4754880" y="3931920"/>
            <a:ext cx="1645920" cy="6400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Support informed</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release decisions</a:t>
            </a:r>
            <a:endParaRPr lang="en-US" sz="1100" dirty="0"/>
          </a:p>
        </p:txBody>
      </p:sp>
      <p:sp>
        <p:nvSpPr>
          <p:cNvPr id="14" name="Shape 9"/>
          <p:cNvSpPr/>
          <p:nvPr/>
        </p:nvSpPr>
        <p:spPr>
          <a:xfrm>
            <a:off x="6720840" y="3291840"/>
            <a:ext cx="1828800" cy="1371600"/>
          </a:xfrm>
          <a:prstGeom prst="rect">
            <a:avLst/>
          </a:prstGeom>
          <a:solidFill>
            <a:srgbClr val="243447"/>
          </a:solidFill>
          <a:ln/>
        </p:spPr>
        <p:txBody>
          <a:bodyPr/>
          <a:lstStyle/>
          <a:p>
            <a:endParaRPr lang="en-US"/>
          </a:p>
        </p:txBody>
      </p:sp>
      <p:pic>
        <p:nvPicPr>
          <p:cNvPr id="15" name="Image 3" descr="preencoded.png"/>
          <p:cNvPicPr>
            <a:picLocks noChangeAspect="1"/>
          </p:cNvPicPr>
          <p:nvPr/>
        </p:nvPicPr>
        <p:blipFill>
          <a:blip r:embed="rId6"/>
          <a:stretch>
            <a:fillRect/>
          </a:stretch>
        </p:blipFill>
        <p:spPr>
          <a:xfrm>
            <a:off x="7406640" y="3429000"/>
            <a:ext cx="457200" cy="457200"/>
          </a:xfrm>
          <a:prstGeom prst="rect">
            <a:avLst/>
          </a:prstGeom>
        </p:spPr>
      </p:pic>
      <p:sp>
        <p:nvSpPr>
          <p:cNvPr id="16" name="Text 10"/>
          <p:cNvSpPr/>
          <p:nvPr/>
        </p:nvSpPr>
        <p:spPr>
          <a:xfrm>
            <a:off x="6812280" y="3931920"/>
            <a:ext cx="1645920" cy="6400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Communicate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tradeoffs clearly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Test Analysis and Design</a:t>
            </a:r>
            <a:endParaRPr lang="en-US" sz="3000" dirty="0"/>
          </a:p>
        </p:txBody>
      </p:sp>
      <p:sp>
        <p:nvSpPr>
          <p:cNvPr id="3" name="Text 1"/>
          <p:cNvSpPr/>
          <p:nvPr/>
        </p:nvSpPr>
        <p:spPr>
          <a:xfrm>
            <a:off x="548640" y="1188720"/>
            <a:ext cx="8229600" cy="457200"/>
          </a:xfrm>
          <a:prstGeom prst="rect">
            <a:avLst/>
          </a:prstGeom>
          <a:noFill/>
          <a:ln/>
        </p:spPr>
        <p:txBody>
          <a:bodyPr wrap="square" lIns="0" tIns="0" rIns="0" bIns="0" rtlCol="0" anchor="ctr"/>
          <a:lstStyle/>
          <a:p>
            <a:pPr marL="0" indent="0">
              <a:buNone/>
            </a:pPr>
            <a:r>
              <a:rPr lang="en-US" sz="1600" dirty="0">
                <a:solidFill>
                  <a:srgbClr val="334155"/>
                </a:solidFill>
                <a:latin typeface="Calibri" pitchFamily="34" charset="0"/>
                <a:ea typeface="Calibri" pitchFamily="34" charset="-122"/>
                <a:cs typeface="Calibri" pitchFamily="34" charset="-120"/>
              </a:rPr>
              <a:t>Test analysis is the process of:</a:t>
            </a:r>
            <a:endParaRPr lang="en-US" sz="1600" dirty="0"/>
          </a:p>
        </p:txBody>
      </p:sp>
      <p:sp>
        <p:nvSpPr>
          <p:cNvPr id="4" name="Shape 2"/>
          <p:cNvSpPr/>
          <p:nvPr/>
        </p:nvSpPr>
        <p:spPr>
          <a:xfrm>
            <a:off x="548640" y="182880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77240" y="1901952"/>
            <a:ext cx="347472" cy="347472"/>
          </a:xfrm>
          <a:prstGeom prst="rect">
            <a:avLst/>
          </a:prstGeom>
        </p:spPr>
      </p:pic>
      <p:sp>
        <p:nvSpPr>
          <p:cNvPr id="6" name="Text 3"/>
          <p:cNvSpPr/>
          <p:nvPr/>
        </p:nvSpPr>
        <p:spPr>
          <a:xfrm>
            <a:off x="1280160" y="1828800"/>
            <a:ext cx="7132320" cy="50292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Determining what should be tested</a:t>
            </a:r>
            <a:endParaRPr lang="en-US" sz="1500" dirty="0"/>
          </a:p>
        </p:txBody>
      </p:sp>
      <p:sp>
        <p:nvSpPr>
          <p:cNvPr id="7" name="Shape 4"/>
          <p:cNvSpPr/>
          <p:nvPr/>
        </p:nvSpPr>
        <p:spPr>
          <a:xfrm>
            <a:off x="548640" y="246888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777240" y="2542032"/>
            <a:ext cx="347472" cy="347472"/>
          </a:xfrm>
          <a:prstGeom prst="rect">
            <a:avLst/>
          </a:prstGeom>
        </p:spPr>
      </p:pic>
      <p:sp>
        <p:nvSpPr>
          <p:cNvPr id="9" name="Text 5"/>
          <p:cNvSpPr/>
          <p:nvPr/>
        </p:nvSpPr>
        <p:spPr>
          <a:xfrm>
            <a:off x="1280160" y="2468880"/>
            <a:ext cx="7132320" cy="50292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Organizing testing into meaningful coverage areas</a:t>
            </a:r>
            <a:endParaRPr lang="en-US" sz="1500" dirty="0"/>
          </a:p>
        </p:txBody>
      </p:sp>
      <p:sp>
        <p:nvSpPr>
          <p:cNvPr id="10" name="Shape 6"/>
          <p:cNvSpPr/>
          <p:nvPr/>
        </p:nvSpPr>
        <p:spPr>
          <a:xfrm>
            <a:off x="548640" y="310896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777240" y="3182112"/>
            <a:ext cx="347472" cy="347472"/>
          </a:xfrm>
          <a:prstGeom prst="rect">
            <a:avLst/>
          </a:prstGeom>
        </p:spPr>
      </p:pic>
      <p:sp>
        <p:nvSpPr>
          <p:cNvPr id="12" name="Text 7"/>
          <p:cNvSpPr/>
          <p:nvPr/>
        </p:nvSpPr>
        <p:spPr>
          <a:xfrm>
            <a:off x="1280160" y="3108960"/>
            <a:ext cx="7132320" cy="50292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Identifying gaps in coverage</a:t>
            </a:r>
            <a:endParaRPr lang="en-US" sz="1500" dirty="0"/>
          </a:p>
        </p:txBody>
      </p:sp>
      <p:sp>
        <p:nvSpPr>
          <p:cNvPr id="13" name="Shape 8"/>
          <p:cNvSpPr/>
          <p:nvPr/>
        </p:nvSpPr>
        <p:spPr>
          <a:xfrm>
            <a:off x="548640" y="374904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14" name="Image 3" descr="preencoded.png"/>
          <p:cNvPicPr>
            <a:picLocks noChangeAspect="1"/>
          </p:cNvPicPr>
          <p:nvPr/>
        </p:nvPicPr>
        <p:blipFill>
          <a:blip r:embed="rId6"/>
          <a:stretch>
            <a:fillRect/>
          </a:stretch>
        </p:blipFill>
        <p:spPr>
          <a:xfrm>
            <a:off x="777240" y="3822192"/>
            <a:ext cx="347472" cy="347472"/>
          </a:xfrm>
          <a:prstGeom prst="rect">
            <a:avLst/>
          </a:prstGeom>
        </p:spPr>
      </p:pic>
      <p:sp>
        <p:nvSpPr>
          <p:cNvPr id="15" name="Text 9"/>
          <p:cNvSpPr/>
          <p:nvPr/>
        </p:nvSpPr>
        <p:spPr>
          <a:xfrm>
            <a:off x="1280160" y="3749040"/>
            <a:ext cx="7132320" cy="50292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Supporting efficient and effective testing</a:t>
            </a:r>
            <a:endParaRPr lang="en-US" sz="1500" dirty="0"/>
          </a:p>
        </p:txBody>
      </p:sp>
      <p:sp>
        <p:nvSpPr>
          <p:cNvPr id="16" name="Shape 10"/>
          <p:cNvSpPr/>
          <p:nvPr/>
        </p:nvSpPr>
        <p:spPr>
          <a:xfrm>
            <a:off x="548640" y="4206240"/>
            <a:ext cx="8046720" cy="640080"/>
          </a:xfrm>
          <a:prstGeom prst="rect">
            <a:avLst/>
          </a:prstGeom>
          <a:solidFill>
            <a:srgbClr val="CCFBF1"/>
          </a:solidFill>
          <a:ln/>
        </p:spPr>
        <p:txBody>
          <a:bodyPr/>
          <a:lstStyle/>
          <a:p>
            <a:endParaRPr lang="en-US"/>
          </a:p>
        </p:txBody>
      </p:sp>
      <p:sp>
        <p:nvSpPr>
          <p:cNvPr id="17" name="Text 11"/>
          <p:cNvSpPr/>
          <p:nvPr/>
        </p:nvSpPr>
        <p:spPr>
          <a:xfrm>
            <a:off x="731520" y="4206240"/>
            <a:ext cx="7680960" cy="640080"/>
          </a:xfrm>
          <a:prstGeom prst="rect">
            <a:avLst/>
          </a:prstGeom>
          <a:noFill/>
          <a:ln/>
        </p:spPr>
        <p:txBody>
          <a:bodyPr wrap="square" lIns="0" tIns="0" rIns="0" bIns="0"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The result is a structured, communicable model of test coverage.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Objectives and Inventories</a:t>
            </a:r>
            <a:endParaRPr lang="en-US" sz="3000" dirty="0"/>
          </a:p>
        </p:txBody>
      </p:sp>
      <p:sp>
        <p:nvSpPr>
          <p:cNvPr id="3" name="Shape 1"/>
          <p:cNvSpPr/>
          <p:nvPr/>
        </p:nvSpPr>
        <p:spPr>
          <a:xfrm>
            <a:off x="548640" y="1188720"/>
            <a:ext cx="3749040" cy="1097280"/>
          </a:xfrm>
          <a:prstGeom prst="rect">
            <a:avLst/>
          </a:prstGeom>
          <a:solidFill>
            <a:srgbClr val="1B2A3D"/>
          </a:solidFill>
          <a:ln/>
        </p:spPr>
        <p:txBody>
          <a:bodyPr/>
          <a:lstStyle/>
          <a:p>
            <a:endParaRPr lang="en-US"/>
          </a:p>
        </p:txBody>
      </p:sp>
      <p:sp>
        <p:nvSpPr>
          <p:cNvPr id="4" name="Text 2"/>
          <p:cNvSpPr/>
          <p:nvPr/>
        </p:nvSpPr>
        <p:spPr>
          <a:xfrm>
            <a:off x="548640" y="1188720"/>
            <a:ext cx="3749040" cy="457200"/>
          </a:xfrm>
          <a:prstGeom prst="rect">
            <a:avLst/>
          </a:prstGeom>
          <a:noFill/>
          <a:ln/>
        </p:spPr>
        <p:txBody>
          <a:bodyPr wrap="square" lIns="0" tIns="0" rIns="0" bIns="0" rtlCol="0" anchor="ctr"/>
          <a:lstStyle/>
          <a:p>
            <a:pPr marL="0" indent="0" algn="ctr">
              <a:buNone/>
            </a:pPr>
            <a:r>
              <a:rPr lang="en-US" sz="1800" b="1" dirty="0">
                <a:solidFill>
                  <a:srgbClr val="0D9488"/>
                </a:solidFill>
                <a:latin typeface="Trebuchet MS" pitchFamily="34" charset="0"/>
                <a:ea typeface="Trebuchet MS" pitchFamily="34" charset="-122"/>
                <a:cs typeface="Trebuchet MS" pitchFamily="34" charset="-120"/>
              </a:rPr>
              <a:t>Test Objective</a:t>
            </a:r>
            <a:endParaRPr lang="en-US" sz="1800" dirty="0"/>
          </a:p>
        </p:txBody>
      </p:sp>
      <p:sp>
        <p:nvSpPr>
          <p:cNvPr id="5" name="Text 3"/>
          <p:cNvSpPr/>
          <p:nvPr/>
        </p:nvSpPr>
        <p:spPr>
          <a:xfrm>
            <a:off x="548640" y="1645920"/>
            <a:ext cx="3749040" cy="5943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A broad category of functionality</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or behavior requiring validation.</a:t>
            </a:r>
            <a:endParaRPr lang="en-US" sz="1200" dirty="0"/>
          </a:p>
        </p:txBody>
      </p:sp>
      <p:sp>
        <p:nvSpPr>
          <p:cNvPr id="6" name="Shape 4"/>
          <p:cNvSpPr/>
          <p:nvPr/>
        </p:nvSpPr>
        <p:spPr>
          <a:xfrm>
            <a:off x="4846320" y="1188720"/>
            <a:ext cx="3749040" cy="1097280"/>
          </a:xfrm>
          <a:prstGeom prst="rect">
            <a:avLst/>
          </a:prstGeom>
          <a:solidFill>
            <a:srgbClr val="0D9488"/>
          </a:solidFill>
          <a:ln/>
        </p:spPr>
        <p:txBody>
          <a:bodyPr/>
          <a:lstStyle/>
          <a:p>
            <a:endParaRPr lang="en-US"/>
          </a:p>
        </p:txBody>
      </p:sp>
      <p:sp>
        <p:nvSpPr>
          <p:cNvPr id="7" name="Text 5"/>
          <p:cNvSpPr/>
          <p:nvPr/>
        </p:nvSpPr>
        <p:spPr>
          <a:xfrm>
            <a:off x="4846320" y="1188720"/>
            <a:ext cx="37490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Inventory</a:t>
            </a:r>
            <a:endParaRPr lang="en-US" sz="1800" dirty="0"/>
          </a:p>
        </p:txBody>
      </p:sp>
      <p:sp>
        <p:nvSpPr>
          <p:cNvPr id="8" name="Text 6"/>
          <p:cNvSpPr/>
          <p:nvPr/>
        </p:nvSpPr>
        <p:spPr>
          <a:xfrm>
            <a:off x="4846320" y="1645920"/>
            <a:ext cx="3749040" cy="5943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Decomposed list of specific workflows,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conditions, or attributes requiring coverage.</a:t>
            </a:r>
            <a:endParaRPr lang="en-US" sz="1200" dirty="0"/>
          </a:p>
        </p:txBody>
      </p:sp>
      <p:sp>
        <p:nvSpPr>
          <p:cNvPr id="9" name="Text 7"/>
          <p:cNvSpPr/>
          <p:nvPr/>
        </p:nvSpPr>
        <p:spPr>
          <a:xfrm>
            <a:off x="548640" y="2560320"/>
            <a:ext cx="8229600" cy="365760"/>
          </a:xfrm>
          <a:prstGeom prst="rect">
            <a:avLst/>
          </a:prstGeom>
          <a:noFill/>
          <a:ln/>
        </p:spPr>
        <p:txBody>
          <a:bodyPr wrap="square" lIns="0" tIns="0" rIns="0" bIns="0"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Example</a:t>
            </a:r>
            <a:endParaRPr lang="en-US" sz="1400" dirty="0"/>
          </a:p>
        </p:txBody>
      </p:sp>
      <p:sp>
        <p:nvSpPr>
          <p:cNvPr id="10" name="Shape 8"/>
          <p:cNvSpPr/>
          <p:nvPr/>
        </p:nvSpPr>
        <p:spPr>
          <a:xfrm>
            <a:off x="548640" y="2926080"/>
            <a:ext cx="2286000" cy="1828800"/>
          </a:xfrm>
          <a:prstGeom prst="rect">
            <a:avLst/>
          </a:prstGeom>
          <a:solidFill>
            <a:srgbClr val="1B2A3D"/>
          </a:solidFill>
          <a:ln/>
        </p:spPr>
        <p:txBody>
          <a:bodyPr/>
          <a:lstStyle/>
          <a:p>
            <a:endParaRPr lang="en-US"/>
          </a:p>
        </p:txBody>
      </p:sp>
      <p:sp>
        <p:nvSpPr>
          <p:cNvPr id="11" name="Text 9"/>
          <p:cNvSpPr/>
          <p:nvPr/>
        </p:nvSpPr>
        <p:spPr>
          <a:xfrm>
            <a:off x="731520" y="3063240"/>
            <a:ext cx="19202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Objective:</a:t>
            </a:r>
            <a:endParaRPr lang="en-US" sz="1100" dirty="0"/>
          </a:p>
        </p:txBody>
      </p:sp>
      <p:sp>
        <p:nvSpPr>
          <p:cNvPr id="12" name="Text 10"/>
          <p:cNvSpPr/>
          <p:nvPr/>
        </p:nvSpPr>
        <p:spPr>
          <a:xfrm>
            <a:off x="731520" y="3337560"/>
            <a:ext cx="1920240" cy="365760"/>
          </a:xfrm>
          <a:prstGeom prst="rect">
            <a:avLst/>
          </a:prstGeom>
          <a:noFill/>
          <a:ln/>
        </p:spPr>
        <p:txBody>
          <a:bodyPr wrap="square" lIns="0" tIns="0" rIns="0" bIns="0" rtlCol="0" anchor="ctr"/>
          <a:lstStyle/>
          <a:p>
            <a:pPr marL="0" indent="0">
              <a:buNone/>
            </a:pPr>
            <a:r>
              <a:rPr lang="en-US" sz="2000" b="1" dirty="0">
                <a:solidFill>
                  <a:srgbClr val="0D9488"/>
                </a:solidFill>
                <a:latin typeface="Trebuchet MS" pitchFamily="34" charset="0"/>
                <a:ea typeface="Trebuchet MS" pitchFamily="34" charset="-122"/>
                <a:cs typeface="Trebuchet MS" pitchFamily="34" charset="-120"/>
              </a:rPr>
              <a:t>Checkout</a:t>
            </a:r>
            <a:endParaRPr lang="en-US" sz="2000" dirty="0"/>
          </a:p>
        </p:txBody>
      </p:sp>
      <p:pic>
        <p:nvPicPr>
          <p:cNvPr id="13" name="Image 0" descr="preencoded.png"/>
          <p:cNvPicPr>
            <a:picLocks noChangeAspect="1"/>
          </p:cNvPicPr>
          <p:nvPr/>
        </p:nvPicPr>
        <p:blipFill>
          <a:blip r:embed="rId3"/>
          <a:stretch>
            <a:fillRect/>
          </a:stretch>
        </p:blipFill>
        <p:spPr>
          <a:xfrm>
            <a:off x="3017520" y="3611880"/>
            <a:ext cx="411480" cy="411480"/>
          </a:xfrm>
          <a:prstGeom prst="rect">
            <a:avLst/>
          </a:prstGeom>
        </p:spPr>
      </p:pic>
      <p:sp>
        <p:nvSpPr>
          <p:cNvPr id="14" name="Shape 11"/>
          <p:cNvSpPr/>
          <p:nvPr/>
        </p:nvSpPr>
        <p:spPr>
          <a:xfrm>
            <a:off x="3657600" y="2926080"/>
            <a:ext cx="4937760" cy="1828800"/>
          </a:xfrm>
          <a:prstGeom prst="rect">
            <a:avLst/>
          </a:prstGeom>
          <a:solidFill>
            <a:srgbClr val="F5F7FA"/>
          </a:solidFill>
          <a:ln/>
        </p:spPr>
        <p:txBody>
          <a:bodyPr/>
          <a:lstStyle/>
          <a:p>
            <a:endParaRPr lang="en-US"/>
          </a:p>
        </p:txBody>
      </p:sp>
      <p:sp>
        <p:nvSpPr>
          <p:cNvPr id="15" name="Text 12"/>
          <p:cNvSpPr/>
          <p:nvPr/>
        </p:nvSpPr>
        <p:spPr>
          <a:xfrm>
            <a:off x="3840480" y="3017520"/>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Inventory:</a:t>
            </a:r>
            <a:endParaRPr lang="en-US" sz="1100" dirty="0"/>
          </a:p>
        </p:txBody>
      </p:sp>
      <p:sp>
        <p:nvSpPr>
          <p:cNvPr id="16" name="Text 13"/>
          <p:cNvSpPr/>
          <p:nvPr/>
        </p:nvSpPr>
        <p:spPr>
          <a:xfrm>
            <a:off x="3840480" y="3291840"/>
            <a:ext cx="4572000" cy="1371600"/>
          </a:xfrm>
          <a:prstGeom prst="rect">
            <a:avLst/>
          </a:prstGeom>
          <a:noFill/>
          <a:ln/>
        </p:spPr>
        <p:txBody>
          <a:bodyPr wrap="square" lIns="0" tIns="0" rIns="0" bIns="0"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Credit card payment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PayPal payment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Invalid payment method</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Guest checkout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Saved payment method</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Tax calculation</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Coupon codes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Order confirmation email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Inventories Create Visibility</a:t>
            </a:r>
            <a:endParaRPr lang="en-US" sz="3000" dirty="0"/>
          </a:p>
        </p:txBody>
      </p:sp>
      <p:sp>
        <p:nvSpPr>
          <p:cNvPr id="3" name="Shape 1"/>
          <p:cNvSpPr/>
          <p:nvPr/>
        </p:nvSpPr>
        <p:spPr>
          <a:xfrm>
            <a:off x="548640" y="1188720"/>
            <a:ext cx="397764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731520" y="1371600"/>
            <a:ext cx="594360" cy="594360"/>
          </a:xfrm>
          <a:prstGeom prst="ellipse">
            <a:avLst/>
          </a:prstGeom>
          <a:solidFill>
            <a:srgbClr val="1B2A3D"/>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50392" y="1490472"/>
            <a:ext cx="365760" cy="365760"/>
          </a:xfrm>
          <a:prstGeom prst="rect">
            <a:avLst/>
          </a:prstGeom>
        </p:spPr>
      </p:pic>
      <p:sp>
        <p:nvSpPr>
          <p:cNvPr id="6" name="Text 3"/>
          <p:cNvSpPr/>
          <p:nvPr/>
        </p:nvSpPr>
        <p:spPr>
          <a:xfrm>
            <a:off x="1508760" y="1298448"/>
            <a:ext cx="283464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Make coverage visible</a:t>
            </a:r>
            <a:endParaRPr lang="en-US" sz="1400" dirty="0"/>
          </a:p>
        </p:txBody>
      </p:sp>
      <p:sp>
        <p:nvSpPr>
          <p:cNvPr id="7" name="Text 4"/>
          <p:cNvSpPr/>
          <p:nvPr/>
        </p:nvSpPr>
        <p:spPr>
          <a:xfrm>
            <a:off x="1508760" y="1691640"/>
            <a:ext cx="2834640" cy="3657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Everyone sees what's tested</a:t>
            </a:r>
            <a:endParaRPr lang="en-US" sz="1100" dirty="0"/>
          </a:p>
        </p:txBody>
      </p:sp>
      <p:sp>
        <p:nvSpPr>
          <p:cNvPr id="8" name="Shape 5"/>
          <p:cNvSpPr/>
          <p:nvPr/>
        </p:nvSpPr>
        <p:spPr>
          <a:xfrm>
            <a:off x="4800600" y="1188720"/>
            <a:ext cx="397764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4983480" y="1371600"/>
            <a:ext cx="594360" cy="594360"/>
          </a:xfrm>
          <a:prstGeom prst="ellipse">
            <a:avLst/>
          </a:prstGeom>
          <a:solidFill>
            <a:srgbClr val="1B2A3D"/>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102352" y="1490472"/>
            <a:ext cx="365760" cy="365760"/>
          </a:xfrm>
          <a:prstGeom prst="rect">
            <a:avLst/>
          </a:prstGeom>
        </p:spPr>
      </p:pic>
      <p:sp>
        <p:nvSpPr>
          <p:cNvPr id="11" name="Text 7"/>
          <p:cNvSpPr/>
          <p:nvPr/>
        </p:nvSpPr>
        <p:spPr>
          <a:xfrm>
            <a:off x="5760720" y="1298448"/>
            <a:ext cx="283464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Identify testing gaps</a:t>
            </a:r>
            <a:endParaRPr lang="en-US" sz="1400" dirty="0"/>
          </a:p>
        </p:txBody>
      </p:sp>
      <p:sp>
        <p:nvSpPr>
          <p:cNvPr id="12" name="Text 8"/>
          <p:cNvSpPr/>
          <p:nvPr/>
        </p:nvSpPr>
        <p:spPr>
          <a:xfrm>
            <a:off x="5760720" y="1691640"/>
            <a:ext cx="2834640" cy="3657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Find what's missing before it matters</a:t>
            </a:r>
            <a:endParaRPr lang="en-US" sz="1100" dirty="0"/>
          </a:p>
        </p:txBody>
      </p:sp>
      <p:sp>
        <p:nvSpPr>
          <p:cNvPr id="13" name="Shape 9"/>
          <p:cNvSpPr/>
          <p:nvPr/>
        </p:nvSpPr>
        <p:spPr>
          <a:xfrm>
            <a:off x="548640" y="2377440"/>
            <a:ext cx="397764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0"/>
          <p:cNvSpPr/>
          <p:nvPr/>
        </p:nvSpPr>
        <p:spPr>
          <a:xfrm>
            <a:off x="731520" y="2560320"/>
            <a:ext cx="594360" cy="594360"/>
          </a:xfrm>
          <a:prstGeom prst="ellipse">
            <a:avLst/>
          </a:prstGeom>
          <a:solidFill>
            <a:srgbClr val="1B2A3D"/>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850392" y="2679192"/>
            <a:ext cx="365760" cy="365760"/>
          </a:xfrm>
          <a:prstGeom prst="rect">
            <a:avLst/>
          </a:prstGeom>
        </p:spPr>
      </p:pic>
      <p:sp>
        <p:nvSpPr>
          <p:cNvPr id="16" name="Text 11"/>
          <p:cNvSpPr/>
          <p:nvPr/>
        </p:nvSpPr>
        <p:spPr>
          <a:xfrm>
            <a:off x="1508760" y="2487168"/>
            <a:ext cx="283464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Reduce redundant testing</a:t>
            </a:r>
            <a:endParaRPr lang="en-US" sz="1400" dirty="0"/>
          </a:p>
        </p:txBody>
      </p:sp>
      <p:sp>
        <p:nvSpPr>
          <p:cNvPr id="17" name="Text 12"/>
          <p:cNvSpPr/>
          <p:nvPr/>
        </p:nvSpPr>
        <p:spPr>
          <a:xfrm>
            <a:off x="1508760" y="2880360"/>
            <a:ext cx="2834640" cy="3657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Eliminate duplicate effort</a:t>
            </a:r>
            <a:endParaRPr lang="en-US" sz="1100" dirty="0"/>
          </a:p>
        </p:txBody>
      </p:sp>
      <p:sp>
        <p:nvSpPr>
          <p:cNvPr id="18" name="Shape 13"/>
          <p:cNvSpPr/>
          <p:nvPr/>
        </p:nvSpPr>
        <p:spPr>
          <a:xfrm>
            <a:off x="4800600" y="2377440"/>
            <a:ext cx="397764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4"/>
          <p:cNvSpPr/>
          <p:nvPr/>
        </p:nvSpPr>
        <p:spPr>
          <a:xfrm>
            <a:off x="4983480" y="2560320"/>
            <a:ext cx="594360" cy="594360"/>
          </a:xfrm>
          <a:prstGeom prst="ellipse">
            <a:avLst/>
          </a:prstGeom>
          <a:solidFill>
            <a:srgbClr val="1B2A3D"/>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5102352" y="2679192"/>
            <a:ext cx="365760" cy="365760"/>
          </a:xfrm>
          <a:prstGeom prst="rect">
            <a:avLst/>
          </a:prstGeom>
        </p:spPr>
      </p:pic>
      <p:sp>
        <p:nvSpPr>
          <p:cNvPr id="21" name="Text 15"/>
          <p:cNvSpPr/>
          <p:nvPr/>
        </p:nvSpPr>
        <p:spPr>
          <a:xfrm>
            <a:off x="5760720" y="2487168"/>
            <a:ext cx="283464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Clarify smoke vs regression</a:t>
            </a:r>
            <a:endParaRPr lang="en-US" sz="1400" dirty="0"/>
          </a:p>
        </p:txBody>
      </p:sp>
      <p:sp>
        <p:nvSpPr>
          <p:cNvPr id="22" name="Text 16"/>
          <p:cNvSpPr/>
          <p:nvPr/>
        </p:nvSpPr>
        <p:spPr>
          <a:xfrm>
            <a:off x="5760720" y="2880360"/>
            <a:ext cx="2834640" cy="3657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Define boundaries intentionally</a:t>
            </a:r>
            <a:endParaRPr lang="en-US" sz="1100" dirty="0"/>
          </a:p>
        </p:txBody>
      </p:sp>
      <p:sp>
        <p:nvSpPr>
          <p:cNvPr id="23" name="Shape 17"/>
          <p:cNvSpPr/>
          <p:nvPr/>
        </p:nvSpPr>
        <p:spPr>
          <a:xfrm>
            <a:off x="548640" y="3566160"/>
            <a:ext cx="397764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18"/>
          <p:cNvSpPr/>
          <p:nvPr/>
        </p:nvSpPr>
        <p:spPr>
          <a:xfrm>
            <a:off x="731520" y="3749040"/>
            <a:ext cx="594360" cy="594360"/>
          </a:xfrm>
          <a:prstGeom prst="ellipse">
            <a:avLst/>
          </a:prstGeom>
          <a:solidFill>
            <a:srgbClr val="1B2A3D"/>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850392" y="3867912"/>
            <a:ext cx="365760" cy="365760"/>
          </a:xfrm>
          <a:prstGeom prst="rect">
            <a:avLst/>
          </a:prstGeom>
        </p:spPr>
      </p:pic>
      <p:sp>
        <p:nvSpPr>
          <p:cNvPr id="26" name="Text 19"/>
          <p:cNvSpPr/>
          <p:nvPr/>
        </p:nvSpPr>
        <p:spPr>
          <a:xfrm>
            <a:off x="1508760" y="3675888"/>
            <a:ext cx="283464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Prioritize testing effort</a:t>
            </a:r>
            <a:endParaRPr lang="en-US" sz="1400" dirty="0"/>
          </a:p>
        </p:txBody>
      </p:sp>
      <p:sp>
        <p:nvSpPr>
          <p:cNvPr id="27" name="Text 20"/>
          <p:cNvSpPr/>
          <p:nvPr/>
        </p:nvSpPr>
        <p:spPr>
          <a:xfrm>
            <a:off x="1508760" y="4069080"/>
            <a:ext cx="2834640" cy="3657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Focus on what carries the most risk</a:t>
            </a:r>
            <a:endParaRPr lang="en-US" sz="1100" dirty="0"/>
          </a:p>
        </p:txBody>
      </p:sp>
      <p:sp>
        <p:nvSpPr>
          <p:cNvPr id="28" name="Shape 21"/>
          <p:cNvSpPr/>
          <p:nvPr/>
        </p:nvSpPr>
        <p:spPr>
          <a:xfrm>
            <a:off x="4800600" y="3566160"/>
            <a:ext cx="397764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2"/>
          <p:cNvSpPr/>
          <p:nvPr/>
        </p:nvSpPr>
        <p:spPr>
          <a:xfrm>
            <a:off x="4983480" y="3749040"/>
            <a:ext cx="594360" cy="594360"/>
          </a:xfrm>
          <a:prstGeom prst="ellipse">
            <a:avLst/>
          </a:prstGeom>
          <a:solidFill>
            <a:srgbClr val="1B2A3D"/>
          </a:solidFill>
          <a:ln/>
        </p:spPr>
        <p:txBody>
          <a:bodyPr/>
          <a:lstStyle/>
          <a:p>
            <a:endParaRPr lang="en-US"/>
          </a:p>
        </p:txBody>
      </p:sp>
      <p:pic>
        <p:nvPicPr>
          <p:cNvPr id="30" name="Image 5" descr="preencoded.png"/>
          <p:cNvPicPr>
            <a:picLocks noChangeAspect="1"/>
          </p:cNvPicPr>
          <p:nvPr/>
        </p:nvPicPr>
        <p:blipFill>
          <a:blip r:embed="rId8"/>
          <a:stretch>
            <a:fillRect/>
          </a:stretch>
        </p:blipFill>
        <p:spPr>
          <a:xfrm>
            <a:off x="5102352" y="3867912"/>
            <a:ext cx="365760" cy="365760"/>
          </a:xfrm>
          <a:prstGeom prst="rect">
            <a:avLst/>
          </a:prstGeom>
        </p:spPr>
      </p:pic>
      <p:sp>
        <p:nvSpPr>
          <p:cNvPr id="31" name="Text 23"/>
          <p:cNvSpPr/>
          <p:nvPr/>
        </p:nvSpPr>
        <p:spPr>
          <a:xfrm>
            <a:off x="5760720" y="3675888"/>
            <a:ext cx="283464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Support scheduling discussions</a:t>
            </a:r>
            <a:endParaRPr lang="en-US" sz="1400" dirty="0"/>
          </a:p>
        </p:txBody>
      </p:sp>
      <p:sp>
        <p:nvSpPr>
          <p:cNvPr id="32" name="Text 24"/>
          <p:cNvSpPr/>
          <p:nvPr/>
        </p:nvSpPr>
        <p:spPr>
          <a:xfrm>
            <a:off x="5760720" y="4069080"/>
            <a:ext cx="2834640" cy="3657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Objective basis for time estimates</a:t>
            </a:r>
            <a:endParaRPr lang="en-US" sz="1100" dirty="0"/>
          </a:p>
        </p:txBody>
      </p:sp>
      <p:sp>
        <p:nvSpPr>
          <p:cNvPr id="33" name="Shape 25"/>
          <p:cNvSpPr/>
          <p:nvPr/>
        </p:nvSpPr>
        <p:spPr>
          <a:xfrm>
            <a:off x="548640" y="4297680"/>
            <a:ext cx="8046720" cy="548640"/>
          </a:xfrm>
          <a:prstGeom prst="rect">
            <a:avLst/>
          </a:prstGeom>
          <a:solidFill>
            <a:srgbClr val="CCFBF1"/>
          </a:solidFill>
          <a:ln/>
        </p:spPr>
        <p:txBody>
          <a:bodyPr/>
          <a:lstStyle/>
          <a:p>
            <a:endParaRPr lang="en-US"/>
          </a:p>
        </p:txBody>
      </p:sp>
      <p:sp>
        <p:nvSpPr>
          <p:cNvPr id="34" name="Text 26"/>
          <p:cNvSpPr/>
          <p:nvPr/>
        </p:nvSpPr>
        <p:spPr>
          <a:xfrm>
            <a:off x="731520" y="4297680"/>
            <a:ext cx="7680960" cy="548640"/>
          </a:xfrm>
          <a:prstGeom prst="rect">
            <a:avLst/>
          </a:prstGeom>
          <a:noFill/>
          <a:ln/>
        </p:spPr>
        <p:txBody>
          <a:bodyPr wrap="square" lIns="0" tIns="0" rIns="0" bIns="0" rtlCol="0" anchor="ctr"/>
          <a:lstStyle/>
          <a:p>
            <a:pPr marL="0" indent="0">
              <a:buNone/>
            </a:pPr>
            <a:r>
              <a:rPr lang="en-US" sz="1300" b="1" i="1" dirty="0">
                <a:solidFill>
                  <a:srgbClr val="0F766E"/>
                </a:solidFill>
                <a:latin typeface="Calibri" pitchFamily="34" charset="0"/>
                <a:ea typeface="Calibri" pitchFamily="34" charset="-122"/>
                <a:cs typeface="Calibri" pitchFamily="34" charset="-120"/>
              </a:rPr>
              <a:t>Inventories transform testing from assumptions into visible coverage.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B2A3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234440" y="640080"/>
            <a:ext cx="731520" cy="731520"/>
          </a:xfrm>
          <a:prstGeom prst="rect">
            <a:avLst/>
          </a:prstGeom>
        </p:spPr>
      </p:pic>
      <p:sp>
        <p:nvSpPr>
          <p:cNvPr id="4" name="Text 1"/>
          <p:cNvSpPr/>
          <p:nvPr/>
        </p:nvSpPr>
        <p:spPr>
          <a:xfrm>
            <a:off x="365760" y="1463040"/>
            <a:ext cx="2468880" cy="109728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ea typeface="Trebuchet MS" pitchFamily="34" charset="-122"/>
                <a:cs typeface="Trebuchet MS" pitchFamily="34" charset="-120"/>
              </a:rPr>
              <a:t>Build the</a:t>
            </a:r>
            <a:endParaRPr lang="en-US" sz="2600" dirty="0"/>
          </a:p>
          <a:p>
            <a:pPr marL="0" indent="0" algn="ctr">
              <a:buNone/>
            </a:pPr>
            <a:r>
              <a:rPr lang="en-US" sz="2600" b="1" dirty="0">
                <a:solidFill>
                  <a:srgbClr val="FFFFFF"/>
                </a:solidFill>
                <a:latin typeface="Trebuchet MS" pitchFamily="34" charset="0"/>
                <a:ea typeface="Trebuchet MS" pitchFamily="34" charset="-122"/>
                <a:cs typeface="Trebuchet MS" pitchFamily="34" charset="-120"/>
              </a:rPr>
              <a:t>Right Team</a:t>
            </a:r>
            <a:endParaRPr lang="en-US" sz="2600" dirty="0"/>
          </a:p>
        </p:txBody>
      </p:sp>
      <p:sp>
        <p:nvSpPr>
          <p:cNvPr id="5" name="Text 2"/>
          <p:cNvSpPr/>
          <p:nvPr/>
        </p:nvSpPr>
        <p:spPr>
          <a:xfrm>
            <a:off x="365760" y="2926080"/>
            <a:ext cx="2468880" cy="1097280"/>
          </a:xfrm>
          <a:prstGeom prst="rect">
            <a:avLst/>
          </a:prstGeom>
          <a:noFill/>
          <a:ln/>
        </p:spPr>
        <p:txBody>
          <a:bodyPr wrap="square" lIns="0" tIns="0" rIns="0" bIns="0" rtlCol="0" anchor="ctr"/>
          <a:lstStyle/>
          <a:p>
            <a:pPr marL="0" indent="0" algn="ctr">
              <a:lnSpc>
                <a:spcPct val="160000"/>
              </a:lnSpc>
              <a:buNone/>
            </a:pPr>
            <a:r>
              <a:rPr lang="en-US" sz="1300" dirty="0">
                <a:solidFill>
                  <a:srgbClr val="0D9488"/>
                </a:solidFill>
                <a:latin typeface="Calibri" pitchFamily="34" charset="0"/>
                <a:ea typeface="Calibri" pitchFamily="34" charset="-122"/>
                <a:cs typeface="Calibri" pitchFamily="34" charset="-120"/>
              </a:rPr>
              <a:t>3–7 people</a:t>
            </a:r>
            <a:endParaRPr lang="en-US" sz="1300" dirty="0"/>
          </a:p>
          <a:p>
            <a:pPr marL="0" indent="0" algn="ctr">
              <a:lnSpc>
                <a:spcPct val="160000"/>
              </a:lnSpc>
              <a:buNone/>
            </a:pPr>
            <a:r>
              <a:rPr lang="en-US" sz="1300" dirty="0">
                <a:solidFill>
                  <a:srgbClr val="0D9488"/>
                </a:solidFill>
                <a:latin typeface="Calibri" pitchFamily="34" charset="0"/>
                <a:ea typeface="Calibri" pitchFamily="34" charset="-122"/>
                <a:cs typeface="Calibri" pitchFamily="34" charset="-120"/>
              </a:rPr>
              <a:t>Multiple viewpoints</a:t>
            </a:r>
            <a:endParaRPr lang="en-US" sz="1300" dirty="0"/>
          </a:p>
          <a:p>
            <a:pPr marL="0" indent="0" algn="ctr">
              <a:lnSpc>
                <a:spcPct val="160000"/>
              </a:lnSpc>
              <a:buNone/>
            </a:pPr>
            <a:r>
              <a:rPr lang="en-US" sz="1300" dirty="0">
                <a:solidFill>
                  <a:srgbClr val="0D9488"/>
                </a:solidFill>
                <a:latin typeface="Calibri" pitchFamily="34" charset="0"/>
                <a:ea typeface="Calibri" pitchFamily="34" charset="-122"/>
                <a:cs typeface="Calibri" pitchFamily="34" charset="-120"/>
              </a:rPr>
              <a:t>Breadth before depth</a:t>
            </a:r>
            <a:endParaRPr lang="en-US" sz="1300" dirty="0"/>
          </a:p>
        </p:txBody>
      </p:sp>
      <p:sp>
        <p:nvSpPr>
          <p:cNvPr id="6" name="Text 3"/>
          <p:cNvSpPr/>
          <p:nvPr/>
        </p:nvSpPr>
        <p:spPr>
          <a:xfrm>
            <a:off x="3566160" y="457200"/>
            <a:ext cx="5029200" cy="4572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Good candidates include:</a:t>
            </a:r>
            <a:endParaRPr lang="en-US" sz="1600" dirty="0"/>
          </a:p>
        </p:txBody>
      </p:sp>
      <p:sp>
        <p:nvSpPr>
          <p:cNvPr id="7" name="Shape 4"/>
          <p:cNvSpPr/>
          <p:nvPr/>
        </p:nvSpPr>
        <p:spPr>
          <a:xfrm>
            <a:off x="3749040" y="1097280"/>
            <a:ext cx="274320" cy="274320"/>
          </a:xfrm>
          <a:prstGeom prst="ellipse">
            <a:avLst/>
          </a:prstGeom>
          <a:solidFill>
            <a:srgbClr val="0D9488"/>
          </a:solidFill>
          <a:ln/>
        </p:spPr>
        <p:txBody>
          <a:bodyPr/>
          <a:lstStyle/>
          <a:p>
            <a:endParaRPr lang="en-US"/>
          </a:p>
        </p:txBody>
      </p:sp>
      <p:sp>
        <p:nvSpPr>
          <p:cNvPr id="8" name="Text 5"/>
          <p:cNvSpPr/>
          <p:nvPr/>
        </p:nvSpPr>
        <p:spPr>
          <a:xfrm>
            <a:off x="4206240" y="1051560"/>
            <a:ext cx="411480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QA engineers</a:t>
            </a:r>
            <a:endParaRPr lang="en-US" sz="1400" dirty="0"/>
          </a:p>
        </p:txBody>
      </p:sp>
      <p:sp>
        <p:nvSpPr>
          <p:cNvPr id="9" name="Shape 6"/>
          <p:cNvSpPr/>
          <p:nvPr/>
        </p:nvSpPr>
        <p:spPr>
          <a:xfrm>
            <a:off x="3749040" y="1600200"/>
            <a:ext cx="274320" cy="274320"/>
          </a:xfrm>
          <a:prstGeom prst="ellipse">
            <a:avLst/>
          </a:prstGeom>
          <a:solidFill>
            <a:srgbClr val="0D9488"/>
          </a:solidFill>
          <a:ln/>
        </p:spPr>
        <p:txBody>
          <a:bodyPr/>
          <a:lstStyle/>
          <a:p>
            <a:endParaRPr lang="en-US"/>
          </a:p>
        </p:txBody>
      </p:sp>
      <p:sp>
        <p:nvSpPr>
          <p:cNvPr id="10" name="Text 7"/>
          <p:cNvSpPr/>
          <p:nvPr/>
        </p:nvSpPr>
        <p:spPr>
          <a:xfrm>
            <a:off x="4206240" y="1554480"/>
            <a:ext cx="411480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Developers</a:t>
            </a:r>
            <a:endParaRPr lang="en-US" sz="1400" dirty="0"/>
          </a:p>
        </p:txBody>
      </p:sp>
      <p:sp>
        <p:nvSpPr>
          <p:cNvPr id="11" name="Shape 8"/>
          <p:cNvSpPr/>
          <p:nvPr/>
        </p:nvSpPr>
        <p:spPr>
          <a:xfrm>
            <a:off x="3749040" y="2103120"/>
            <a:ext cx="274320" cy="274320"/>
          </a:xfrm>
          <a:prstGeom prst="ellipse">
            <a:avLst/>
          </a:prstGeom>
          <a:solidFill>
            <a:srgbClr val="0D9488"/>
          </a:solidFill>
          <a:ln/>
        </p:spPr>
        <p:txBody>
          <a:bodyPr/>
          <a:lstStyle/>
          <a:p>
            <a:endParaRPr lang="en-US"/>
          </a:p>
        </p:txBody>
      </p:sp>
      <p:sp>
        <p:nvSpPr>
          <p:cNvPr id="12" name="Text 9"/>
          <p:cNvSpPr/>
          <p:nvPr/>
        </p:nvSpPr>
        <p:spPr>
          <a:xfrm>
            <a:off x="4206240" y="2057400"/>
            <a:ext cx="411480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Architects</a:t>
            </a:r>
            <a:endParaRPr lang="en-US" sz="1400" dirty="0"/>
          </a:p>
        </p:txBody>
      </p:sp>
      <p:sp>
        <p:nvSpPr>
          <p:cNvPr id="13" name="Shape 10"/>
          <p:cNvSpPr/>
          <p:nvPr/>
        </p:nvSpPr>
        <p:spPr>
          <a:xfrm>
            <a:off x="3749040" y="2606040"/>
            <a:ext cx="274320" cy="274320"/>
          </a:xfrm>
          <a:prstGeom prst="ellipse">
            <a:avLst/>
          </a:prstGeom>
          <a:solidFill>
            <a:srgbClr val="0D9488"/>
          </a:solidFill>
          <a:ln/>
        </p:spPr>
        <p:txBody>
          <a:bodyPr/>
          <a:lstStyle/>
          <a:p>
            <a:endParaRPr lang="en-US"/>
          </a:p>
        </p:txBody>
      </p:sp>
      <p:sp>
        <p:nvSpPr>
          <p:cNvPr id="14" name="Text 11"/>
          <p:cNvSpPr/>
          <p:nvPr/>
        </p:nvSpPr>
        <p:spPr>
          <a:xfrm>
            <a:off x="4206240" y="2560320"/>
            <a:ext cx="411480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Product managers</a:t>
            </a:r>
            <a:endParaRPr lang="en-US" sz="1400" dirty="0"/>
          </a:p>
        </p:txBody>
      </p:sp>
      <p:sp>
        <p:nvSpPr>
          <p:cNvPr id="15" name="Shape 12"/>
          <p:cNvSpPr/>
          <p:nvPr/>
        </p:nvSpPr>
        <p:spPr>
          <a:xfrm>
            <a:off x="3749040" y="3108960"/>
            <a:ext cx="274320" cy="274320"/>
          </a:xfrm>
          <a:prstGeom prst="ellipse">
            <a:avLst/>
          </a:prstGeom>
          <a:solidFill>
            <a:srgbClr val="0D9488"/>
          </a:solidFill>
          <a:ln/>
        </p:spPr>
        <p:txBody>
          <a:bodyPr/>
          <a:lstStyle/>
          <a:p>
            <a:endParaRPr lang="en-US"/>
          </a:p>
        </p:txBody>
      </p:sp>
      <p:sp>
        <p:nvSpPr>
          <p:cNvPr id="16" name="Text 13"/>
          <p:cNvSpPr/>
          <p:nvPr/>
        </p:nvSpPr>
        <p:spPr>
          <a:xfrm>
            <a:off x="4206240" y="3063240"/>
            <a:ext cx="411480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Support engineers</a:t>
            </a:r>
            <a:endParaRPr lang="en-US" sz="1400" dirty="0"/>
          </a:p>
        </p:txBody>
      </p:sp>
      <p:sp>
        <p:nvSpPr>
          <p:cNvPr id="17" name="Shape 14"/>
          <p:cNvSpPr/>
          <p:nvPr/>
        </p:nvSpPr>
        <p:spPr>
          <a:xfrm>
            <a:off x="3749040" y="3611880"/>
            <a:ext cx="274320" cy="274320"/>
          </a:xfrm>
          <a:prstGeom prst="ellipse">
            <a:avLst/>
          </a:prstGeom>
          <a:solidFill>
            <a:srgbClr val="0D9488"/>
          </a:solidFill>
          <a:ln/>
        </p:spPr>
        <p:txBody>
          <a:bodyPr/>
          <a:lstStyle/>
          <a:p>
            <a:endParaRPr lang="en-US"/>
          </a:p>
        </p:txBody>
      </p:sp>
      <p:sp>
        <p:nvSpPr>
          <p:cNvPr id="18" name="Text 15"/>
          <p:cNvSpPr/>
          <p:nvPr/>
        </p:nvSpPr>
        <p:spPr>
          <a:xfrm>
            <a:off x="4206240" y="3566160"/>
            <a:ext cx="411480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Operations staff</a:t>
            </a:r>
            <a:endParaRPr lang="en-US" sz="1400" dirty="0"/>
          </a:p>
        </p:txBody>
      </p:sp>
      <p:sp>
        <p:nvSpPr>
          <p:cNvPr id="19" name="Shape 16"/>
          <p:cNvSpPr/>
          <p:nvPr/>
        </p:nvSpPr>
        <p:spPr>
          <a:xfrm>
            <a:off x="3566160" y="4023360"/>
            <a:ext cx="5029200" cy="822960"/>
          </a:xfrm>
          <a:prstGeom prst="rect">
            <a:avLst/>
          </a:prstGeom>
          <a:solidFill>
            <a:srgbClr val="F5F7FA"/>
          </a:solidFill>
          <a:ln/>
        </p:spPr>
        <p:txBody>
          <a:bodyPr/>
          <a:lstStyle/>
          <a:p>
            <a:endParaRPr lang="en-US"/>
          </a:p>
        </p:txBody>
      </p:sp>
      <p:sp>
        <p:nvSpPr>
          <p:cNvPr id="20" name="Text 17"/>
          <p:cNvSpPr/>
          <p:nvPr/>
        </p:nvSpPr>
        <p:spPr>
          <a:xfrm>
            <a:off x="3749040" y="4023360"/>
            <a:ext cx="4663440" cy="8229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Avoid debating implementation details too early.</a:t>
            </a: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Focus on identifying what needs testing, not how.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Build Broad Coverage Areas First</a:t>
            </a:r>
            <a:endParaRPr lang="en-US" sz="30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Start by identifying broad areas of functionality.</a:t>
            </a:r>
            <a:endParaRPr lang="en-US" sz="1500" dirty="0"/>
          </a:p>
        </p:txBody>
      </p:sp>
      <p:sp>
        <p:nvSpPr>
          <p:cNvPr id="4" name="Shape 2"/>
          <p:cNvSpPr/>
          <p:nvPr/>
        </p:nvSpPr>
        <p:spPr>
          <a:xfrm>
            <a:off x="548640" y="1554480"/>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548640" y="1554480"/>
            <a:ext cx="73152" cy="457200"/>
          </a:xfrm>
          <a:prstGeom prst="rect">
            <a:avLst/>
          </a:prstGeom>
          <a:solidFill>
            <a:srgbClr val="0D9488"/>
          </a:solidFill>
          <a:ln/>
        </p:spPr>
        <p:txBody>
          <a:bodyPr/>
          <a:lstStyle/>
          <a:p>
            <a:endParaRPr lang="en-US"/>
          </a:p>
        </p:txBody>
      </p:sp>
      <p:sp>
        <p:nvSpPr>
          <p:cNvPr id="6" name="Text 4"/>
          <p:cNvSpPr/>
          <p:nvPr/>
        </p:nvSpPr>
        <p:spPr>
          <a:xfrm>
            <a:off x="777240" y="1554480"/>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Authentication</a:t>
            </a:r>
            <a:endParaRPr lang="en-US" sz="1300" dirty="0"/>
          </a:p>
        </p:txBody>
      </p:sp>
      <p:sp>
        <p:nvSpPr>
          <p:cNvPr id="7" name="Shape 5"/>
          <p:cNvSpPr/>
          <p:nvPr/>
        </p:nvSpPr>
        <p:spPr>
          <a:xfrm>
            <a:off x="4754880" y="1554480"/>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4754880" y="1554480"/>
            <a:ext cx="73152" cy="457200"/>
          </a:xfrm>
          <a:prstGeom prst="rect">
            <a:avLst/>
          </a:prstGeom>
          <a:solidFill>
            <a:srgbClr val="0D9488"/>
          </a:solidFill>
          <a:ln/>
        </p:spPr>
        <p:txBody>
          <a:bodyPr/>
          <a:lstStyle/>
          <a:p>
            <a:endParaRPr lang="en-US"/>
          </a:p>
        </p:txBody>
      </p:sp>
      <p:sp>
        <p:nvSpPr>
          <p:cNvPr id="9" name="Text 7"/>
          <p:cNvSpPr/>
          <p:nvPr/>
        </p:nvSpPr>
        <p:spPr>
          <a:xfrm>
            <a:off x="4983480" y="1554480"/>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Product Search</a:t>
            </a:r>
            <a:endParaRPr lang="en-US" sz="1300" dirty="0"/>
          </a:p>
        </p:txBody>
      </p:sp>
      <p:sp>
        <p:nvSpPr>
          <p:cNvPr id="10" name="Shape 8"/>
          <p:cNvSpPr/>
          <p:nvPr/>
        </p:nvSpPr>
        <p:spPr>
          <a:xfrm>
            <a:off x="548640" y="2121408"/>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1" name="Shape 9"/>
          <p:cNvSpPr/>
          <p:nvPr/>
        </p:nvSpPr>
        <p:spPr>
          <a:xfrm>
            <a:off x="548640" y="2121408"/>
            <a:ext cx="73152" cy="457200"/>
          </a:xfrm>
          <a:prstGeom prst="rect">
            <a:avLst/>
          </a:prstGeom>
          <a:solidFill>
            <a:srgbClr val="0D9488"/>
          </a:solidFill>
          <a:ln/>
        </p:spPr>
        <p:txBody>
          <a:bodyPr/>
          <a:lstStyle/>
          <a:p>
            <a:endParaRPr lang="en-US"/>
          </a:p>
        </p:txBody>
      </p:sp>
      <p:sp>
        <p:nvSpPr>
          <p:cNvPr id="12" name="Text 10"/>
          <p:cNvSpPr/>
          <p:nvPr/>
        </p:nvSpPr>
        <p:spPr>
          <a:xfrm>
            <a:off x="777240" y="2121408"/>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Shopping Cart</a:t>
            </a:r>
            <a:endParaRPr lang="en-US" sz="1300" dirty="0"/>
          </a:p>
        </p:txBody>
      </p:sp>
      <p:sp>
        <p:nvSpPr>
          <p:cNvPr id="13" name="Shape 11"/>
          <p:cNvSpPr/>
          <p:nvPr/>
        </p:nvSpPr>
        <p:spPr>
          <a:xfrm>
            <a:off x="4754880" y="2121408"/>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2"/>
          <p:cNvSpPr/>
          <p:nvPr/>
        </p:nvSpPr>
        <p:spPr>
          <a:xfrm>
            <a:off x="4754880" y="2121408"/>
            <a:ext cx="73152" cy="457200"/>
          </a:xfrm>
          <a:prstGeom prst="rect">
            <a:avLst/>
          </a:prstGeom>
          <a:solidFill>
            <a:srgbClr val="0D9488"/>
          </a:solidFill>
          <a:ln/>
        </p:spPr>
        <p:txBody>
          <a:bodyPr/>
          <a:lstStyle/>
          <a:p>
            <a:endParaRPr lang="en-US"/>
          </a:p>
        </p:txBody>
      </p:sp>
      <p:sp>
        <p:nvSpPr>
          <p:cNvPr id="15" name="Text 13"/>
          <p:cNvSpPr/>
          <p:nvPr/>
        </p:nvSpPr>
        <p:spPr>
          <a:xfrm>
            <a:off x="4983480" y="2121408"/>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Checkout</a:t>
            </a:r>
            <a:endParaRPr lang="en-US" sz="1300" dirty="0"/>
          </a:p>
        </p:txBody>
      </p:sp>
      <p:sp>
        <p:nvSpPr>
          <p:cNvPr id="16" name="Shape 14"/>
          <p:cNvSpPr/>
          <p:nvPr/>
        </p:nvSpPr>
        <p:spPr>
          <a:xfrm>
            <a:off x="548640" y="2688336"/>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548640" y="2688336"/>
            <a:ext cx="73152" cy="457200"/>
          </a:xfrm>
          <a:prstGeom prst="rect">
            <a:avLst/>
          </a:prstGeom>
          <a:solidFill>
            <a:srgbClr val="0D9488"/>
          </a:solidFill>
          <a:ln/>
        </p:spPr>
        <p:txBody>
          <a:bodyPr/>
          <a:lstStyle/>
          <a:p>
            <a:endParaRPr lang="en-US"/>
          </a:p>
        </p:txBody>
      </p:sp>
      <p:sp>
        <p:nvSpPr>
          <p:cNvPr id="18" name="Text 16"/>
          <p:cNvSpPr/>
          <p:nvPr/>
        </p:nvSpPr>
        <p:spPr>
          <a:xfrm>
            <a:off x="777240" y="2688336"/>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Notifications</a:t>
            </a:r>
            <a:endParaRPr lang="en-US" sz="1300" dirty="0"/>
          </a:p>
        </p:txBody>
      </p:sp>
      <p:sp>
        <p:nvSpPr>
          <p:cNvPr id="19" name="Shape 17"/>
          <p:cNvSpPr/>
          <p:nvPr/>
        </p:nvSpPr>
        <p:spPr>
          <a:xfrm>
            <a:off x="4754880" y="2688336"/>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18"/>
          <p:cNvSpPr/>
          <p:nvPr/>
        </p:nvSpPr>
        <p:spPr>
          <a:xfrm>
            <a:off x="4754880" y="2688336"/>
            <a:ext cx="73152" cy="457200"/>
          </a:xfrm>
          <a:prstGeom prst="rect">
            <a:avLst/>
          </a:prstGeom>
          <a:solidFill>
            <a:srgbClr val="0D9488"/>
          </a:solidFill>
          <a:ln/>
        </p:spPr>
        <p:txBody>
          <a:bodyPr/>
          <a:lstStyle/>
          <a:p>
            <a:endParaRPr lang="en-US"/>
          </a:p>
        </p:txBody>
      </p:sp>
      <p:sp>
        <p:nvSpPr>
          <p:cNvPr id="21" name="Text 19"/>
          <p:cNvSpPr/>
          <p:nvPr/>
        </p:nvSpPr>
        <p:spPr>
          <a:xfrm>
            <a:off x="4983480" y="2688336"/>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Reporting</a:t>
            </a:r>
            <a:endParaRPr lang="en-US" sz="1300" dirty="0"/>
          </a:p>
        </p:txBody>
      </p:sp>
      <p:sp>
        <p:nvSpPr>
          <p:cNvPr id="22" name="Shape 20"/>
          <p:cNvSpPr/>
          <p:nvPr/>
        </p:nvSpPr>
        <p:spPr>
          <a:xfrm>
            <a:off x="548640" y="3255264"/>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3" name="Shape 21"/>
          <p:cNvSpPr/>
          <p:nvPr/>
        </p:nvSpPr>
        <p:spPr>
          <a:xfrm>
            <a:off x="548640" y="3255264"/>
            <a:ext cx="73152" cy="457200"/>
          </a:xfrm>
          <a:prstGeom prst="rect">
            <a:avLst/>
          </a:prstGeom>
          <a:solidFill>
            <a:srgbClr val="0D9488"/>
          </a:solidFill>
          <a:ln/>
        </p:spPr>
        <p:txBody>
          <a:bodyPr/>
          <a:lstStyle/>
          <a:p>
            <a:endParaRPr lang="en-US"/>
          </a:p>
        </p:txBody>
      </p:sp>
      <p:sp>
        <p:nvSpPr>
          <p:cNvPr id="24" name="Text 22"/>
          <p:cNvSpPr/>
          <p:nvPr/>
        </p:nvSpPr>
        <p:spPr>
          <a:xfrm>
            <a:off x="777240" y="3255264"/>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User Administration</a:t>
            </a:r>
            <a:endParaRPr lang="en-US" sz="1300" dirty="0"/>
          </a:p>
        </p:txBody>
      </p:sp>
      <p:sp>
        <p:nvSpPr>
          <p:cNvPr id="25" name="Shape 23"/>
          <p:cNvSpPr/>
          <p:nvPr/>
        </p:nvSpPr>
        <p:spPr>
          <a:xfrm>
            <a:off x="4754880" y="3255264"/>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6" name="Shape 24"/>
          <p:cNvSpPr/>
          <p:nvPr/>
        </p:nvSpPr>
        <p:spPr>
          <a:xfrm>
            <a:off x="4754880" y="3255264"/>
            <a:ext cx="73152" cy="457200"/>
          </a:xfrm>
          <a:prstGeom prst="rect">
            <a:avLst/>
          </a:prstGeom>
          <a:solidFill>
            <a:srgbClr val="0D9488"/>
          </a:solidFill>
          <a:ln/>
        </p:spPr>
        <p:txBody>
          <a:bodyPr/>
          <a:lstStyle/>
          <a:p>
            <a:endParaRPr lang="en-US"/>
          </a:p>
        </p:txBody>
      </p:sp>
      <p:sp>
        <p:nvSpPr>
          <p:cNvPr id="27" name="Text 25"/>
          <p:cNvSpPr/>
          <p:nvPr/>
        </p:nvSpPr>
        <p:spPr>
          <a:xfrm>
            <a:off x="4983480" y="3255264"/>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Audit Logging</a:t>
            </a:r>
            <a:endParaRPr lang="en-US" sz="1300" dirty="0"/>
          </a:p>
        </p:txBody>
      </p:sp>
      <p:sp>
        <p:nvSpPr>
          <p:cNvPr id="28" name="Shape 26"/>
          <p:cNvSpPr/>
          <p:nvPr/>
        </p:nvSpPr>
        <p:spPr>
          <a:xfrm>
            <a:off x="548640" y="3822192"/>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7"/>
          <p:cNvSpPr/>
          <p:nvPr/>
        </p:nvSpPr>
        <p:spPr>
          <a:xfrm>
            <a:off x="548640" y="3822192"/>
            <a:ext cx="73152" cy="457200"/>
          </a:xfrm>
          <a:prstGeom prst="rect">
            <a:avLst/>
          </a:prstGeom>
          <a:solidFill>
            <a:srgbClr val="0D9488"/>
          </a:solidFill>
          <a:ln/>
        </p:spPr>
        <p:txBody>
          <a:bodyPr/>
          <a:lstStyle/>
          <a:p>
            <a:endParaRPr lang="en-US"/>
          </a:p>
        </p:txBody>
      </p:sp>
      <p:sp>
        <p:nvSpPr>
          <p:cNvPr id="30" name="Text 28"/>
          <p:cNvSpPr/>
          <p:nvPr/>
        </p:nvSpPr>
        <p:spPr>
          <a:xfrm>
            <a:off x="777240" y="3822192"/>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Mobile Experience</a:t>
            </a:r>
            <a:endParaRPr lang="en-US" sz="1300" dirty="0"/>
          </a:p>
        </p:txBody>
      </p:sp>
      <p:sp>
        <p:nvSpPr>
          <p:cNvPr id="31" name="Shape 29"/>
          <p:cNvSpPr/>
          <p:nvPr/>
        </p:nvSpPr>
        <p:spPr>
          <a:xfrm>
            <a:off x="4754880" y="3822192"/>
            <a:ext cx="384048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2" name="Shape 30"/>
          <p:cNvSpPr/>
          <p:nvPr/>
        </p:nvSpPr>
        <p:spPr>
          <a:xfrm>
            <a:off x="4754880" y="3822192"/>
            <a:ext cx="73152" cy="457200"/>
          </a:xfrm>
          <a:prstGeom prst="rect">
            <a:avLst/>
          </a:prstGeom>
          <a:solidFill>
            <a:srgbClr val="0D9488"/>
          </a:solidFill>
          <a:ln/>
        </p:spPr>
        <p:txBody>
          <a:bodyPr/>
          <a:lstStyle/>
          <a:p>
            <a:endParaRPr lang="en-US"/>
          </a:p>
        </p:txBody>
      </p:sp>
      <p:sp>
        <p:nvSpPr>
          <p:cNvPr id="33" name="Text 31"/>
          <p:cNvSpPr/>
          <p:nvPr/>
        </p:nvSpPr>
        <p:spPr>
          <a:xfrm>
            <a:off x="4983480" y="3822192"/>
            <a:ext cx="3474720" cy="4572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Third-Party Integrations</a:t>
            </a:r>
            <a:endParaRPr lang="en-US" sz="1300" dirty="0"/>
          </a:p>
        </p:txBody>
      </p:sp>
      <p:sp>
        <p:nvSpPr>
          <p:cNvPr id="34" name="Shape 32"/>
          <p:cNvSpPr/>
          <p:nvPr/>
        </p:nvSpPr>
        <p:spPr>
          <a:xfrm>
            <a:off x="548640" y="4480560"/>
            <a:ext cx="8046720" cy="457200"/>
          </a:xfrm>
          <a:prstGeom prst="rect">
            <a:avLst/>
          </a:prstGeom>
          <a:solidFill>
            <a:srgbClr val="CCFBF1"/>
          </a:solidFill>
          <a:ln/>
        </p:spPr>
        <p:txBody>
          <a:bodyPr/>
          <a:lstStyle/>
          <a:p>
            <a:endParaRPr lang="en-US"/>
          </a:p>
        </p:txBody>
      </p:sp>
      <p:sp>
        <p:nvSpPr>
          <p:cNvPr id="35" name="Text 33"/>
          <p:cNvSpPr/>
          <p:nvPr/>
        </p:nvSpPr>
        <p:spPr>
          <a:xfrm>
            <a:off x="731520" y="4480560"/>
            <a:ext cx="7680960" cy="457200"/>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The goal is visibility, not perfection.  Do not over-detail initially.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Decompose Objectives Into Testable Coverage</a:t>
            </a:r>
            <a:endParaRPr lang="en-US" sz="2600" dirty="0"/>
          </a:p>
        </p:txBody>
      </p:sp>
      <p:sp>
        <p:nvSpPr>
          <p:cNvPr id="3" name="Shape 1"/>
          <p:cNvSpPr/>
          <p:nvPr/>
        </p:nvSpPr>
        <p:spPr>
          <a:xfrm>
            <a:off x="548640" y="1051560"/>
            <a:ext cx="2606040" cy="502920"/>
          </a:xfrm>
          <a:prstGeom prst="rect">
            <a:avLst/>
          </a:prstGeom>
          <a:solidFill>
            <a:srgbClr val="DC2626"/>
          </a:solidFill>
          <a:ln/>
        </p:spPr>
        <p:txBody>
          <a:bodyPr/>
          <a:lstStyle/>
          <a:p>
            <a:endParaRPr lang="en-US"/>
          </a:p>
        </p:txBody>
      </p:sp>
      <p:sp>
        <p:nvSpPr>
          <p:cNvPr id="4" name="Text 2"/>
          <p:cNvSpPr/>
          <p:nvPr/>
        </p:nvSpPr>
        <p:spPr>
          <a:xfrm>
            <a:off x="548640" y="1051560"/>
            <a:ext cx="26060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Too Broad</a:t>
            </a:r>
            <a:endParaRPr lang="en-US" sz="1500" dirty="0"/>
          </a:p>
        </p:txBody>
      </p:sp>
      <p:sp>
        <p:nvSpPr>
          <p:cNvPr id="5" name="Shape 3"/>
          <p:cNvSpPr/>
          <p:nvPr/>
        </p:nvSpPr>
        <p:spPr>
          <a:xfrm>
            <a:off x="548640" y="1554480"/>
            <a:ext cx="2606040" cy="2286000"/>
          </a:xfrm>
          <a:prstGeom prst="rect">
            <a:avLst/>
          </a:prstGeom>
          <a:solidFill>
            <a:srgbClr val="FEF2F2"/>
          </a:solidFill>
          <a:ln/>
        </p:spPr>
        <p:txBody>
          <a:bodyPr/>
          <a:lstStyle/>
          <a:p>
            <a:endParaRPr lang="en-US"/>
          </a:p>
        </p:txBody>
      </p:sp>
      <p:sp>
        <p:nvSpPr>
          <p:cNvPr id="6" name="Text 4"/>
          <p:cNvSpPr/>
          <p:nvPr/>
        </p:nvSpPr>
        <p:spPr>
          <a:xfrm>
            <a:off x="731520" y="1691640"/>
            <a:ext cx="2240280" cy="20116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"Checkout"</a:t>
            </a:r>
            <a:endParaRPr lang="en-US" sz="1200" dirty="0"/>
          </a:p>
        </p:txBody>
      </p:sp>
      <p:sp>
        <p:nvSpPr>
          <p:cNvPr id="7" name="Shape 5"/>
          <p:cNvSpPr/>
          <p:nvPr/>
        </p:nvSpPr>
        <p:spPr>
          <a:xfrm>
            <a:off x="3429000" y="1051560"/>
            <a:ext cx="2606040" cy="502920"/>
          </a:xfrm>
          <a:prstGeom prst="rect">
            <a:avLst/>
          </a:prstGeom>
          <a:solidFill>
            <a:srgbClr val="16A34A"/>
          </a:solidFill>
          <a:ln/>
        </p:spPr>
        <p:txBody>
          <a:bodyPr/>
          <a:lstStyle/>
          <a:p>
            <a:endParaRPr lang="en-US"/>
          </a:p>
        </p:txBody>
      </p:sp>
      <p:sp>
        <p:nvSpPr>
          <p:cNvPr id="8" name="Text 6"/>
          <p:cNvSpPr/>
          <p:nvPr/>
        </p:nvSpPr>
        <p:spPr>
          <a:xfrm>
            <a:off x="3429000" y="1051560"/>
            <a:ext cx="26060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Better</a:t>
            </a:r>
            <a:endParaRPr lang="en-US" sz="1500" dirty="0"/>
          </a:p>
        </p:txBody>
      </p:sp>
      <p:sp>
        <p:nvSpPr>
          <p:cNvPr id="9" name="Shape 7"/>
          <p:cNvSpPr/>
          <p:nvPr/>
        </p:nvSpPr>
        <p:spPr>
          <a:xfrm>
            <a:off x="3429000" y="1554480"/>
            <a:ext cx="2606040" cy="2286000"/>
          </a:xfrm>
          <a:prstGeom prst="rect">
            <a:avLst/>
          </a:prstGeom>
          <a:solidFill>
            <a:srgbClr val="F0FDF4"/>
          </a:solidFill>
          <a:ln/>
        </p:spPr>
        <p:txBody>
          <a:bodyPr/>
          <a:lstStyle/>
          <a:p>
            <a:endParaRPr lang="en-US"/>
          </a:p>
        </p:txBody>
      </p:sp>
      <p:sp>
        <p:nvSpPr>
          <p:cNvPr id="10" name="Text 8"/>
          <p:cNvSpPr/>
          <p:nvPr/>
        </p:nvSpPr>
        <p:spPr>
          <a:xfrm>
            <a:off x="3611880" y="1691640"/>
            <a:ext cx="2240280" cy="2011680"/>
          </a:xfrm>
          <a:prstGeom prst="rect">
            <a:avLst/>
          </a:prstGeom>
          <a:noFill/>
          <a:ln/>
        </p:spPr>
        <p:txBody>
          <a:bodyPr wrap="square" lIns="0" tIns="0" rIns="0" bIns="0"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Credit card payment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PayPal payment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Invalid payment handling</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Guest checkout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Tax calculation</a:t>
            </a:r>
            <a:endParaRPr lang="en-US" sz="1200" dirty="0"/>
          </a:p>
        </p:txBody>
      </p:sp>
      <p:sp>
        <p:nvSpPr>
          <p:cNvPr id="11" name="Shape 9"/>
          <p:cNvSpPr/>
          <p:nvPr/>
        </p:nvSpPr>
        <p:spPr>
          <a:xfrm>
            <a:off x="6309360" y="1051560"/>
            <a:ext cx="2606040" cy="502920"/>
          </a:xfrm>
          <a:prstGeom prst="rect">
            <a:avLst/>
          </a:prstGeom>
          <a:solidFill>
            <a:srgbClr val="D97706"/>
          </a:solidFill>
          <a:ln/>
        </p:spPr>
        <p:txBody>
          <a:bodyPr/>
          <a:lstStyle/>
          <a:p>
            <a:endParaRPr lang="en-US"/>
          </a:p>
        </p:txBody>
      </p:sp>
      <p:sp>
        <p:nvSpPr>
          <p:cNvPr id="12" name="Text 10"/>
          <p:cNvSpPr/>
          <p:nvPr/>
        </p:nvSpPr>
        <p:spPr>
          <a:xfrm>
            <a:off x="6309360" y="1051560"/>
            <a:ext cx="26060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Too Detailed</a:t>
            </a:r>
            <a:endParaRPr lang="en-US" sz="1500" dirty="0"/>
          </a:p>
        </p:txBody>
      </p:sp>
      <p:sp>
        <p:nvSpPr>
          <p:cNvPr id="13" name="Shape 11"/>
          <p:cNvSpPr/>
          <p:nvPr/>
        </p:nvSpPr>
        <p:spPr>
          <a:xfrm>
            <a:off x="6309360" y="1554480"/>
            <a:ext cx="2606040" cy="2286000"/>
          </a:xfrm>
          <a:prstGeom prst="rect">
            <a:avLst/>
          </a:prstGeom>
          <a:solidFill>
            <a:srgbClr val="FFFBEB"/>
          </a:solidFill>
          <a:ln/>
        </p:spPr>
        <p:txBody>
          <a:bodyPr/>
          <a:lstStyle/>
          <a:p>
            <a:endParaRPr lang="en-US"/>
          </a:p>
        </p:txBody>
      </p:sp>
      <p:sp>
        <p:nvSpPr>
          <p:cNvPr id="14" name="Text 12"/>
          <p:cNvSpPr/>
          <p:nvPr/>
        </p:nvSpPr>
        <p:spPr>
          <a:xfrm>
            <a:off x="6492240" y="1691640"/>
            <a:ext cx="2240280" cy="20116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"Visa card ending 4242</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with 3 items and</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overnight shipping"</a:t>
            </a:r>
            <a:endParaRPr lang="en-US" sz="1200" dirty="0"/>
          </a:p>
        </p:txBody>
      </p:sp>
      <p:sp>
        <p:nvSpPr>
          <p:cNvPr id="15" name="Shape 13"/>
          <p:cNvSpPr/>
          <p:nvPr/>
        </p:nvSpPr>
        <p:spPr>
          <a:xfrm>
            <a:off x="548640" y="4114800"/>
            <a:ext cx="8046720" cy="777240"/>
          </a:xfrm>
          <a:prstGeom prst="rect">
            <a:avLst/>
          </a:prstGeom>
          <a:solidFill>
            <a:srgbClr val="F5F7FA"/>
          </a:solidFill>
          <a:ln/>
        </p:spPr>
        <p:txBody>
          <a:bodyPr/>
          <a:lstStyle/>
          <a:p>
            <a:endParaRPr lang="en-US"/>
          </a:p>
        </p:txBody>
      </p:sp>
      <p:sp>
        <p:nvSpPr>
          <p:cNvPr id="16" name="Text 14"/>
          <p:cNvSpPr/>
          <p:nvPr/>
        </p:nvSpPr>
        <p:spPr>
          <a:xfrm>
            <a:off x="731520" y="4114800"/>
            <a:ext cx="7680960" cy="7772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Inventories should be:  meaningful  •  maintainable  •  schedulable  •  understandable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Not All Inventories Carry Equal Risk</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0292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572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Inventory</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Likelihood</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Impact</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Login</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Product Search</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97706"/>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97706"/>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Coupon Codes</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6A34A"/>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Payment Processing</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97706"/>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Order History</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6A34A"/>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97706"/>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p:nvPr/>
        </p:nvSpPr>
        <p:spPr>
          <a:xfrm>
            <a:off x="5943600" y="1188720"/>
            <a:ext cx="292608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Prioritization helps teams:</a:t>
            </a:r>
            <a:endParaRPr lang="en-US" sz="1400" dirty="0"/>
          </a:p>
        </p:txBody>
      </p:sp>
      <p:sp>
        <p:nvSpPr>
          <p:cNvPr id="5" name="Text 2"/>
          <p:cNvSpPr/>
          <p:nvPr/>
        </p:nvSpPr>
        <p:spPr>
          <a:xfrm>
            <a:off x="5943600" y="1645920"/>
            <a:ext cx="2926080" cy="1828800"/>
          </a:xfrm>
          <a:prstGeom prst="rect">
            <a:avLst/>
          </a:prstGeom>
          <a:noFill/>
          <a:ln/>
        </p:spPr>
        <p:txBody>
          <a:bodyPr wrap="square" lIns="0" tIns="0" rIns="0" bIns="0"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Focus testing effort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Determine smoke coverage</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Support scheduling discussions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Identify automation candidates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Mapping Coverage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822960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4747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Inventory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Smoke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Regression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Automated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237744">
                <a:tc gridSpan="4">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Authentication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Login / Logout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Password Reset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Session Timeout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7744">
                <a:tc gridSpan="4">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Shopping Cart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Add to Cart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Update Quantity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Remove Item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37744">
                <a:tc gridSpan="4">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Checkout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Credit Card Payment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D97706"/>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Guest Checkout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Coupon Codes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37744">
                <a:tc>
                  <a:txBody>
                    <a:bodyPr/>
                    <a:lstStyle/>
                    <a:p>
                      <a:pPr marL="0" indent="0" algn="l">
                        <a:buNone/>
                      </a:pPr>
                      <a:r>
                        <a:rPr lang="en-US" sz="1000" dirty="0">
                          <a:solidFill>
                            <a:srgbClr val="64748B"/>
                          </a:solidFill>
                          <a:latin typeface="Calibri" pitchFamily="34" charset="0"/>
                          <a:ea typeface="Calibri" pitchFamily="34" charset="-122"/>
                          <a:cs typeface="Calibri" pitchFamily="34" charset="-120"/>
                        </a:rPr>
                        <a:t>Tax Calculation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4" name="Shape 1"/>
          <p:cNvSpPr/>
          <p:nvPr/>
        </p:nvSpPr>
        <p:spPr>
          <a:xfrm>
            <a:off x="457200" y="4434840"/>
            <a:ext cx="1920240" cy="548640"/>
          </a:xfrm>
          <a:prstGeom prst="rect">
            <a:avLst/>
          </a:prstGeom>
          <a:solidFill>
            <a:srgbClr val="F5F7FA"/>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48640" y="4507992"/>
            <a:ext cx="274320" cy="274320"/>
          </a:xfrm>
          <a:prstGeom prst="rect">
            <a:avLst/>
          </a:prstGeom>
        </p:spPr>
      </p:pic>
      <p:sp>
        <p:nvSpPr>
          <p:cNvPr id="6" name="Text 2"/>
          <p:cNvSpPr/>
          <p:nvPr/>
        </p:nvSpPr>
        <p:spPr>
          <a:xfrm>
            <a:off x="896112" y="4434840"/>
            <a:ext cx="1371600" cy="548640"/>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Coverage visibility</a:t>
            </a:r>
            <a:endParaRPr lang="en-US" sz="1000" dirty="0"/>
          </a:p>
        </p:txBody>
      </p:sp>
      <p:sp>
        <p:nvSpPr>
          <p:cNvPr id="7" name="Shape 3"/>
          <p:cNvSpPr/>
          <p:nvPr/>
        </p:nvSpPr>
        <p:spPr>
          <a:xfrm>
            <a:off x="2606040" y="4434840"/>
            <a:ext cx="1920240" cy="548640"/>
          </a:xfrm>
          <a:prstGeom prst="rect">
            <a:avLst/>
          </a:prstGeom>
          <a:solidFill>
            <a:srgbClr val="F5F7FA"/>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2697480" y="4507992"/>
            <a:ext cx="274320" cy="274320"/>
          </a:xfrm>
          <a:prstGeom prst="rect">
            <a:avLst/>
          </a:prstGeom>
        </p:spPr>
      </p:pic>
      <p:sp>
        <p:nvSpPr>
          <p:cNvPr id="9" name="Text 4"/>
          <p:cNvSpPr/>
          <p:nvPr/>
        </p:nvSpPr>
        <p:spPr>
          <a:xfrm>
            <a:off x="3044952" y="4434840"/>
            <a:ext cx="1371600" cy="548640"/>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Gap identification</a:t>
            </a:r>
            <a:endParaRPr lang="en-US" sz="1000" dirty="0"/>
          </a:p>
        </p:txBody>
      </p:sp>
      <p:sp>
        <p:nvSpPr>
          <p:cNvPr id="10" name="Shape 5"/>
          <p:cNvSpPr/>
          <p:nvPr/>
        </p:nvSpPr>
        <p:spPr>
          <a:xfrm>
            <a:off x="4754880" y="4434840"/>
            <a:ext cx="1920240" cy="548640"/>
          </a:xfrm>
          <a:prstGeom prst="rect">
            <a:avLst/>
          </a:prstGeom>
          <a:solidFill>
            <a:srgbClr val="F5F7FA"/>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4846320" y="4507992"/>
            <a:ext cx="274320" cy="274320"/>
          </a:xfrm>
          <a:prstGeom prst="rect">
            <a:avLst/>
          </a:prstGeom>
        </p:spPr>
      </p:pic>
      <p:sp>
        <p:nvSpPr>
          <p:cNvPr id="3" name="Text 6"/>
          <p:cNvSpPr/>
          <p:nvPr/>
        </p:nvSpPr>
        <p:spPr>
          <a:xfrm>
            <a:off x="5193792" y="4434840"/>
            <a:ext cx="1371600" cy="548640"/>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Scheduling support</a:t>
            </a:r>
            <a:endParaRPr lang="en-US" sz="1000" dirty="0"/>
          </a:p>
        </p:txBody>
      </p:sp>
      <p:sp>
        <p:nvSpPr>
          <p:cNvPr id="13" name="Shape 7"/>
          <p:cNvSpPr/>
          <p:nvPr/>
        </p:nvSpPr>
        <p:spPr>
          <a:xfrm>
            <a:off x="6903720" y="4434840"/>
            <a:ext cx="1920240" cy="548640"/>
          </a:xfrm>
          <a:prstGeom prst="rect">
            <a:avLst/>
          </a:prstGeom>
          <a:solidFill>
            <a:srgbClr val="F5F7FA"/>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6995160" y="4507992"/>
            <a:ext cx="274320" cy="274320"/>
          </a:xfrm>
          <a:prstGeom prst="rect">
            <a:avLst/>
          </a:prstGeom>
        </p:spPr>
      </p:pic>
      <p:sp>
        <p:nvSpPr>
          <p:cNvPr id="15" name="Text 8"/>
          <p:cNvSpPr/>
          <p:nvPr/>
        </p:nvSpPr>
        <p:spPr>
          <a:xfrm>
            <a:off x="7342632" y="4434840"/>
            <a:ext cx="1371600" cy="548640"/>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Traceability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Finding Unaddressed Coverage</a:t>
            </a:r>
            <a:endParaRPr lang="en-US" sz="3000" dirty="0"/>
          </a:p>
        </p:txBody>
      </p:sp>
      <p:sp>
        <p:nvSpPr>
          <p:cNvPr id="3" name="Text 1"/>
          <p:cNvSpPr/>
          <p:nvPr/>
        </p:nvSpPr>
        <p:spPr>
          <a:xfrm>
            <a:off x="548640" y="105156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The matrix makes it easier to identify:</a:t>
            </a:r>
            <a:endParaRPr lang="en-US" sz="1500" dirty="0"/>
          </a:p>
        </p:txBody>
      </p:sp>
      <p:sp>
        <p:nvSpPr>
          <p:cNvPr id="4" name="Text 2"/>
          <p:cNvSpPr/>
          <p:nvPr/>
        </p:nvSpPr>
        <p:spPr>
          <a:xfrm>
            <a:off x="731520" y="1463040"/>
            <a:ext cx="4114800" cy="1828800"/>
          </a:xfrm>
          <a:prstGeom prst="rect">
            <a:avLst/>
          </a:prstGeom>
          <a:noFill/>
          <a:ln/>
        </p:spPr>
        <p:txBody>
          <a:bodyPr wrap="square" lIns="0" tIns="0" rIns="0" bIns="0" rtlCol="0" anchor="t"/>
          <a:lstStyle/>
          <a:p>
            <a:pPr marL="342900" indent="-342900">
              <a:buSzPct val="100000"/>
              <a:buChar char="•"/>
            </a:pPr>
            <a:r>
              <a:rPr lang="en-US" sz="1400" dirty="0">
                <a:solidFill>
                  <a:srgbClr val="334155"/>
                </a:solidFill>
                <a:latin typeface="Calibri" pitchFamily="34" charset="0"/>
                <a:ea typeface="Calibri" pitchFamily="34" charset="-122"/>
                <a:cs typeface="Calibri" pitchFamily="34" charset="-120"/>
              </a:rPr>
              <a:t>Uncovered inventories</a:t>
            </a:r>
            <a:endParaRPr lang="en-US" sz="1400" dirty="0"/>
          </a:p>
          <a:p>
            <a:pPr marL="342900" indent="-342900">
              <a:buSzPct val="100000"/>
              <a:buChar char="•"/>
            </a:pPr>
            <a:r>
              <a:rPr lang="en-US" sz="1400" dirty="0">
                <a:solidFill>
                  <a:srgbClr val="334155"/>
                </a:solidFill>
                <a:latin typeface="Calibri" pitchFamily="34" charset="0"/>
                <a:ea typeface="Calibri" pitchFamily="34" charset="-122"/>
                <a:cs typeface="Calibri" pitchFamily="34" charset="-120"/>
              </a:rPr>
              <a:t>Weak coverage areas</a:t>
            </a:r>
            <a:endParaRPr lang="en-US" sz="1400" dirty="0"/>
          </a:p>
          <a:p>
            <a:pPr marL="342900" indent="-342900">
              <a:buSzPct val="100000"/>
              <a:buChar char="•"/>
            </a:pPr>
            <a:r>
              <a:rPr lang="en-US" sz="1400" dirty="0">
                <a:solidFill>
                  <a:srgbClr val="334155"/>
                </a:solidFill>
                <a:latin typeface="Calibri" pitchFamily="34" charset="0"/>
                <a:ea typeface="Calibri" pitchFamily="34" charset="-122"/>
                <a:cs typeface="Calibri" pitchFamily="34" charset="-120"/>
              </a:rPr>
              <a:t>Redundant testing</a:t>
            </a:r>
            <a:endParaRPr lang="en-US" sz="1400" dirty="0"/>
          </a:p>
          <a:p>
            <a:pPr marL="342900" indent="-342900">
              <a:buSzPct val="100000"/>
              <a:buChar char="•"/>
            </a:pPr>
            <a:r>
              <a:rPr lang="en-US" sz="1400" dirty="0">
                <a:solidFill>
                  <a:srgbClr val="334155"/>
                </a:solidFill>
                <a:latin typeface="Calibri" pitchFamily="34" charset="0"/>
                <a:ea typeface="Calibri" pitchFamily="34" charset="-122"/>
                <a:cs typeface="Calibri" pitchFamily="34" charset="-120"/>
              </a:rPr>
              <a:t>Missing smoke coverage</a:t>
            </a:r>
            <a:endParaRPr lang="en-US" sz="1400" dirty="0"/>
          </a:p>
          <a:p>
            <a:pPr marL="342900" indent="-342900">
              <a:buSzPct val="100000"/>
              <a:buChar char="•"/>
            </a:pPr>
            <a:r>
              <a:rPr lang="en-US" sz="1400" dirty="0">
                <a:solidFill>
                  <a:srgbClr val="334155"/>
                </a:solidFill>
                <a:latin typeface="Calibri" pitchFamily="34" charset="0"/>
                <a:ea typeface="Calibri" pitchFamily="34" charset="-122"/>
                <a:cs typeface="Calibri" pitchFamily="34" charset="-120"/>
              </a:rPr>
              <a:t>Automation opportunities</a:t>
            </a:r>
            <a:endParaRPr lang="en-US" sz="1400" dirty="0"/>
          </a:p>
        </p:txBody>
      </p:sp>
      <p:sp>
        <p:nvSpPr>
          <p:cNvPr id="5" name="Shape 3"/>
          <p:cNvSpPr/>
          <p:nvPr/>
        </p:nvSpPr>
        <p:spPr>
          <a:xfrm>
            <a:off x="4937760" y="1097280"/>
            <a:ext cx="3840480" cy="2743200"/>
          </a:xfrm>
          <a:prstGeom prst="rect">
            <a:avLst/>
          </a:prstGeom>
          <a:solidFill>
            <a:srgbClr val="FEF2F2"/>
          </a:solidFill>
          <a:ln/>
          <a:effectLst>
            <a:outerShdw blurRad="50800" dist="25400" dir="8100000" algn="bl" rotWithShape="0">
              <a:srgbClr val="000000">
                <a:alpha val="10000"/>
              </a:srgbClr>
            </a:outerShdw>
          </a:effectLst>
        </p:spPr>
        <p:txBody>
          <a:bodyPr/>
          <a:lstStyle/>
          <a:p>
            <a:endParaRPr lang="en-US"/>
          </a:p>
        </p:txBody>
      </p:sp>
      <p:sp>
        <p:nvSpPr>
          <p:cNvPr id="6" name="Shape 4"/>
          <p:cNvSpPr/>
          <p:nvPr/>
        </p:nvSpPr>
        <p:spPr>
          <a:xfrm>
            <a:off x="4937760" y="1097280"/>
            <a:ext cx="3840480" cy="502920"/>
          </a:xfrm>
          <a:prstGeom prst="rect">
            <a:avLst/>
          </a:prstGeom>
          <a:solidFill>
            <a:srgbClr val="DC2626"/>
          </a:solidFill>
          <a:ln/>
        </p:spPr>
        <p:txBody>
          <a:bodyPr/>
          <a:lstStyle/>
          <a:p>
            <a:endParaRPr lang="en-US"/>
          </a:p>
        </p:txBody>
      </p:sp>
      <p:sp>
        <p:nvSpPr>
          <p:cNvPr id="7" name="Text 5"/>
          <p:cNvSpPr/>
          <p:nvPr/>
        </p:nvSpPr>
        <p:spPr>
          <a:xfrm>
            <a:off x="4937760" y="1097280"/>
            <a:ext cx="38404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Risk Concentration Example</a:t>
            </a:r>
            <a:endParaRPr lang="en-US" sz="1400" dirty="0"/>
          </a:p>
        </p:txBody>
      </p:sp>
      <p:sp>
        <p:nvSpPr>
          <p:cNvPr id="8" name="Text 6"/>
          <p:cNvSpPr/>
          <p:nvPr/>
        </p:nvSpPr>
        <p:spPr>
          <a:xfrm>
            <a:off x="5120640" y="1737360"/>
            <a:ext cx="34747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If Checkout is marked as high risk but has:</a:t>
            </a:r>
            <a:endParaRPr lang="en-US" sz="1200" dirty="0"/>
          </a:p>
        </p:txBody>
      </p:sp>
      <p:sp>
        <p:nvSpPr>
          <p:cNvPr id="9" name="Text 7"/>
          <p:cNvSpPr/>
          <p:nvPr/>
        </p:nvSpPr>
        <p:spPr>
          <a:xfrm>
            <a:off x="5303520" y="2148840"/>
            <a:ext cx="3291840" cy="1005840"/>
          </a:xfrm>
          <a:prstGeom prst="rect">
            <a:avLst/>
          </a:prstGeom>
          <a:noFill/>
          <a:ln/>
        </p:spPr>
        <p:txBody>
          <a:bodyPr wrap="square" lIns="0" tIns="0" rIns="0" bIns="0" rtlCol="0" anchor="t"/>
          <a:lstStyle/>
          <a:p>
            <a:pPr marL="342900" indent="-342900">
              <a:buSzPct val="100000"/>
              <a:buChar char="•"/>
            </a:pPr>
            <a:r>
              <a:rPr lang="en-US" sz="1200" b="1" dirty="0">
                <a:solidFill>
                  <a:srgbClr val="DC2626"/>
                </a:solidFill>
                <a:latin typeface="Calibri" pitchFamily="34" charset="0"/>
                <a:ea typeface="Calibri" pitchFamily="34" charset="-122"/>
                <a:cs typeface="Calibri" pitchFamily="34" charset="-120"/>
              </a:rPr>
              <a:t>No smoke coverage</a:t>
            </a:r>
            <a:endParaRPr lang="en-US" sz="1200" dirty="0"/>
          </a:p>
          <a:p>
            <a:pPr marL="342900" indent="-342900">
              <a:buSzPct val="100000"/>
              <a:buChar char="•"/>
            </a:pPr>
            <a:r>
              <a:rPr lang="en-US" sz="1200" b="1" dirty="0">
                <a:solidFill>
                  <a:srgbClr val="DC2626"/>
                </a:solidFill>
                <a:latin typeface="Calibri" pitchFamily="34" charset="0"/>
                <a:ea typeface="Calibri" pitchFamily="34" charset="-122"/>
                <a:cs typeface="Calibri" pitchFamily="34" charset="-120"/>
              </a:rPr>
              <a:t>No automation</a:t>
            </a:r>
            <a:endParaRPr lang="en-US" sz="1200" dirty="0"/>
          </a:p>
          <a:p>
            <a:pPr marL="342900" indent="-342900">
              <a:buSzPct val="100000"/>
              <a:buChar char="•"/>
            </a:pPr>
            <a:r>
              <a:rPr lang="en-US" sz="1200" b="1" dirty="0">
                <a:solidFill>
                  <a:srgbClr val="DC2626"/>
                </a:solidFill>
                <a:latin typeface="Calibri" pitchFamily="34" charset="0"/>
                <a:ea typeface="Calibri" pitchFamily="34" charset="-122"/>
                <a:cs typeface="Calibri" pitchFamily="34" charset="-120"/>
              </a:rPr>
              <a:t>Limited regression coverage</a:t>
            </a:r>
            <a:endParaRPr lang="en-US" sz="1200" dirty="0"/>
          </a:p>
        </p:txBody>
      </p:sp>
      <p:sp>
        <p:nvSpPr>
          <p:cNvPr id="10" name="Text 8"/>
          <p:cNvSpPr/>
          <p:nvPr/>
        </p:nvSpPr>
        <p:spPr>
          <a:xfrm>
            <a:off x="5120640" y="3200400"/>
            <a:ext cx="3474720" cy="50292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...then the team has a visible</a:t>
            </a:r>
            <a:endParaRPr lang="en-US" sz="1200" dirty="0"/>
          </a:p>
          <a:p>
            <a:pPr marL="0" indent="0">
              <a:buNone/>
            </a:pPr>
            <a:r>
              <a:rPr lang="en-US" sz="1200" b="1" i="1" dirty="0">
                <a:solidFill>
                  <a:srgbClr val="1E293B"/>
                </a:solidFill>
                <a:latin typeface="Calibri" pitchFamily="34" charset="0"/>
                <a:ea typeface="Calibri" pitchFamily="34" charset="-122"/>
                <a:cs typeface="Calibri" pitchFamily="34" charset="-120"/>
              </a:rPr>
              <a:t>risk concentration.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Defining Coverage Intentionally</a:t>
            </a:r>
            <a:endParaRPr lang="en-US" sz="3000" dirty="0"/>
          </a:p>
        </p:txBody>
      </p:sp>
      <p:sp>
        <p:nvSpPr>
          <p:cNvPr id="3" name="Shape 1"/>
          <p:cNvSpPr/>
          <p:nvPr/>
        </p:nvSpPr>
        <p:spPr>
          <a:xfrm>
            <a:off x="548640" y="1188720"/>
            <a:ext cx="3840480" cy="3474720"/>
          </a:xfrm>
          <a:prstGeom prst="rect">
            <a:avLst/>
          </a:prstGeom>
          <a:solidFill>
            <a:srgbClr val="1B2A3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822960" y="1371600"/>
            <a:ext cx="457200" cy="457200"/>
          </a:xfrm>
          <a:prstGeom prst="rect">
            <a:avLst/>
          </a:prstGeom>
        </p:spPr>
      </p:pic>
      <p:sp>
        <p:nvSpPr>
          <p:cNvPr id="5" name="Text 2"/>
          <p:cNvSpPr/>
          <p:nvPr/>
        </p:nvSpPr>
        <p:spPr>
          <a:xfrm>
            <a:off x="1371600" y="1371600"/>
            <a:ext cx="2743200" cy="457200"/>
          </a:xfrm>
          <a:prstGeom prst="rect">
            <a:avLst/>
          </a:prstGeom>
          <a:noFill/>
          <a:ln/>
        </p:spPr>
        <p:txBody>
          <a:bodyPr wrap="square" lIns="0" tIns="0" rIns="0" bIns="0" rtlCol="0" anchor="ctr"/>
          <a:lstStyle/>
          <a:p>
            <a:pPr marL="0" indent="0">
              <a:buNone/>
            </a:pPr>
            <a:r>
              <a:rPr lang="en-US" sz="2000" b="1" dirty="0">
                <a:solidFill>
                  <a:srgbClr val="0D9488"/>
                </a:solidFill>
                <a:latin typeface="Trebuchet MS" pitchFamily="34" charset="0"/>
                <a:ea typeface="Trebuchet MS" pitchFamily="34" charset="-122"/>
                <a:cs typeface="Trebuchet MS" pitchFamily="34" charset="-120"/>
              </a:rPr>
              <a:t>Smoke Testing</a:t>
            </a:r>
            <a:endParaRPr lang="en-US" sz="2000" dirty="0"/>
          </a:p>
        </p:txBody>
      </p:sp>
      <p:sp>
        <p:nvSpPr>
          <p:cNvPr id="6" name="Text 3"/>
          <p:cNvSpPr/>
          <p:nvPr/>
        </p:nvSpPr>
        <p:spPr>
          <a:xfrm>
            <a:off x="822960" y="1965960"/>
            <a:ext cx="329184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Focused validation of:</a:t>
            </a:r>
            <a:endParaRPr lang="en-US" sz="1200" dirty="0"/>
          </a:p>
        </p:txBody>
      </p:sp>
      <p:sp>
        <p:nvSpPr>
          <p:cNvPr id="7" name="Text 4"/>
          <p:cNvSpPr/>
          <p:nvPr/>
        </p:nvSpPr>
        <p:spPr>
          <a:xfrm>
            <a:off x="914400" y="2286000"/>
            <a:ext cx="3200400" cy="91440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Critical workflows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High-risk functionality</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Release viability</a:t>
            </a:r>
            <a:endParaRPr lang="en-US" sz="1200" dirty="0"/>
          </a:p>
        </p:txBody>
      </p:sp>
      <p:sp>
        <p:nvSpPr>
          <p:cNvPr id="8" name="Text 5"/>
          <p:cNvSpPr/>
          <p:nvPr/>
        </p:nvSpPr>
        <p:spPr>
          <a:xfrm>
            <a:off x="822960" y="3200400"/>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Examples:</a:t>
            </a:r>
            <a:endParaRPr lang="en-US" sz="1100" dirty="0"/>
          </a:p>
        </p:txBody>
      </p:sp>
      <p:sp>
        <p:nvSpPr>
          <p:cNvPr id="9" name="Text 6"/>
          <p:cNvSpPr/>
          <p:nvPr/>
        </p:nvSpPr>
        <p:spPr>
          <a:xfrm>
            <a:off x="914400" y="3474720"/>
            <a:ext cx="3200400" cy="914400"/>
          </a:xfrm>
          <a:prstGeom prst="rect">
            <a:avLst/>
          </a:prstGeom>
          <a:noFill/>
          <a:ln/>
        </p:spPr>
        <p:txBody>
          <a:bodyPr wrap="square" lIns="0" tIns="0" rIns="0" bIns="0" rtlCol="0" anchor="t"/>
          <a:lstStyle/>
          <a:p>
            <a:pPr marL="342900" indent="-342900">
              <a:buSzPct val="100000"/>
              <a:buChar char="•"/>
            </a:pPr>
            <a:r>
              <a:rPr lang="en-US" sz="1200" dirty="0">
                <a:solidFill>
                  <a:srgbClr val="0D9488"/>
                </a:solidFill>
                <a:latin typeface="Calibri" pitchFamily="34" charset="0"/>
                <a:ea typeface="Calibri" pitchFamily="34" charset="-122"/>
                <a:cs typeface="Calibri" pitchFamily="34" charset="-120"/>
              </a:rPr>
              <a:t>Login</a:t>
            </a:r>
            <a:endParaRPr lang="en-US" sz="1200" dirty="0"/>
          </a:p>
          <a:p>
            <a:pPr marL="342900" indent="-342900">
              <a:buSzPct val="100000"/>
              <a:buChar char="•"/>
            </a:pPr>
            <a:r>
              <a:rPr lang="en-US" sz="1200" dirty="0">
                <a:solidFill>
                  <a:srgbClr val="0D9488"/>
                </a:solidFill>
                <a:latin typeface="Calibri" pitchFamily="34" charset="0"/>
                <a:ea typeface="Calibri" pitchFamily="34" charset="-122"/>
                <a:cs typeface="Calibri" pitchFamily="34" charset="-120"/>
              </a:rPr>
              <a:t>Add to Cart</a:t>
            </a:r>
            <a:endParaRPr lang="en-US" sz="1200" dirty="0"/>
          </a:p>
          <a:p>
            <a:pPr marL="342900" indent="-342900">
              <a:buSzPct val="100000"/>
              <a:buChar char="•"/>
            </a:pPr>
            <a:r>
              <a:rPr lang="en-US" sz="1200" dirty="0">
                <a:solidFill>
                  <a:srgbClr val="0D9488"/>
                </a:solidFill>
                <a:latin typeface="Calibri" pitchFamily="34" charset="0"/>
                <a:ea typeface="Calibri" pitchFamily="34" charset="-122"/>
                <a:cs typeface="Calibri" pitchFamily="34" charset="-120"/>
              </a:rPr>
              <a:t>Checkout</a:t>
            </a:r>
            <a:endParaRPr lang="en-US" sz="1200" dirty="0"/>
          </a:p>
          <a:p>
            <a:pPr marL="342900" indent="-342900">
              <a:buSzPct val="100000"/>
              <a:buChar char="•"/>
            </a:pPr>
            <a:r>
              <a:rPr lang="en-US" sz="1200" dirty="0">
                <a:solidFill>
                  <a:srgbClr val="0D9488"/>
                </a:solidFill>
                <a:latin typeface="Calibri" pitchFamily="34" charset="0"/>
                <a:ea typeface="Calibri" pitchFamily="34" charset="-122"/>
                <a:cs typeface="Calibri" pitchFamily="34" charset="-120"/>
              </a:rPr>
              <a:t>Payment Processing</a:t>
            </a:r>
            <a:endParaRPr lang="en-US" sz="1200" dirty="0"/>
          </a:p>
        </p:txBody>
      </p:sp>
      <p:sp>
        <p:nvSpPr>
          <p:cNvPr id="10" name="Shape 7"/>
          <p:cNvSpPr/>
          <p:nvPr/>
        </p:nvSpPr>
        <p:spPr>
          <a:xfrm>
            <a:off x="4754880" y="1188720"/>
            <a:ext cx="3840480" cy="3474720"/>
          </a:xfrm>
          <a:prstGeom prst="rect">
            <a:avLst/>
          </a:prstGeom>
          <a:solidFill>
            <a:srgbClr val="F5F7F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371600"/>
            <a:ext cx="457200" cy="457200"/>
          </a:xfrm>
          <a:prstGeom prst="rect">
            <a:avLst/>
          </a:prstGeom>
        </p:spPr>
      </p:pic>
      <p:sp>
        <p:nvSpPr>
          <p:cNvPr id="12" name="Text 8"/>
          <p:cNvSpPr/>
          <p:nvPr/>
        </p:nvSpPr>
        <p:spPr>
          <a:xfrm>
            <a:off x="5577840" y="1371600"/>
            <a:ext cx="2743200" cy="457200"/>
          </a:xfrm>
          <a:prstGeom prst="rect">
            <a:avLst/>
          </a:prstGeom>
          <a:noFill/>
          <a:ln/>
        </p:spPr>
        <p:txBody>
          <a:bodyPr wrap="square" lIns="0" tIns="0" rIns="0" bIns="0" rtlCol="0" anchor="ctr"/>
          <a:lstStyle/>
          <a:p>
            <a:pPr marL="0" indent="0">
              <a:buNone/>
            </a:pPr>
            <a:r>
              <a:rPr lang="en-US" sz="2000" b="1" dirty="0">
                <a:solidFill>
                  <a:srgbClr val="1E293B"/>
                </a:solidFill>
                <a:latin typeface="Trebuchet MS" pitchFamily="34" charset="0"/>
                <a:ea typeface="Trebuchet MS" pitchFamily="34" charset="-122"/>
                <a:cs typeface="Trebuchet MS" pitchFamily="34" charset="-120"/>
              </a:rPr>
              <a:t>Regression Testing</a:t>
            </a:r>
            <a:endParaRPr lang="en-US" sz="2000" dirty="0"/>
          </a:p>
        </p:txBody>
      </p:sp>
      <p:sp>
        <p:nvSpPr>
          <p:cNvPr id="13" name="Text 9"/>
          <p:cNvSpPr/>
          <p:nvPr/>
        </p:nvSpPr>
        <p:spPr>
          <a:xfrm>
            <a:off x="5029200" y="1965960"/>
            <a:ext cx="329184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Broader validation of:</a:t>
            </a:r>
            <a:endParaRPr lang="en-US" sz="1200" dirty="0"/>
          </a:p>
        </p:txBody>
      </p:sp>
      <p:sp>
        <p:nvSpPr>
          <p:cNvPr id="14" name="Text 10"/>
          <p:cNvSpPr/>
          <p:nvPr/>
        </p:nvSpPr>
        <p:spPr>
          <a:xfrm>
            <a:off x="5120640" y="2286000"/>
            <a:ext cx="3200400" cy="1097280"/>
          </a:xfrm>
          <a:prstGeom prst="rect">
            <a:avLst/>
          </a:prstGeom>
          <a:noFill/>
          <a:ln/>
        </p:spPr>
        <p:txBody>
          <a:bodyPr wrap="square" lIns="0" tIns="0" rIns="0" bIns="0"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System-wide confidence</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Edge cases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Lower-risk workflows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Compatibility scenarios</a:t>
            </a:r>
            <a:endParaRPr lang="en-US" sz="1200" dirty="0"/>
          </a:p>
        </p:txBody>
      </p:sp>
      <p:sp>
        <p:nvSpPr>
          <p:cNvPr id="15" name="Text 11"/>
          <p:cNvSpPr/>
          <p:nvPr/>
        </p:nvSpPr>
        <p:spPr>
          <a:xfrm>
            <a:off x="5029200" y="3749040"/>
            <a:ext cx="3291840" cy="640080"/>
          </a:xfrm>
          <a:prstGeom prst="rect">
            <a:avLst/>
          </a:prstGeom>
          <a:noFill/>
          <a:ln/>
        </p:spPr>
        <p:txBody>
          <a:bodyPr wrap="square" lIns="0" tIns="0" rIns="0" bIns="0" rtlCol="0" anchor="ctr"/>
          <a:lstStyle/>
          <a:p>
            <a:pPr marL="0" indent="0">
              <a:buNone/>
            </a:pPr>
            <a:r>
              <a:rPr lang="en-US" sz="1300" b="1" i="1" dirty="0">
                <a:solidFill>
                  <a:srgbClr val="0F766E"/>
                </a:solidFill>
                <a:latin typeface="Calibri" pitchFamily="34" charset="0"/>
                <a:ea typeface="Calibri" pitchFamily="34" charset="-122"/>
                <a:cs typeface="Calibri" pitchFamily="34" charset="-120"/>
              </a:rPr>
              <a:t>Inventories help define these</a:t>
            </a:r>
            <a:endParaRPr lang="en-US" sz="1300" dirty="0"/>
          </a:p>
          <a:p>
            <a:pPr marL="0" indent="0">
              <a:buNone/>
            </a:pPr>
            <a:r>
              <a:rPr lang="en-US" sz="1300" b="1" i="1" dirty="0">
                <a:solidFill>
                  <a:srgbClr val="0F766E"/>
                </a:solidFill>
                <a:latin typeface="Calibri" pitchFamily="34" charset="0"/>
                <a:ea typeface="Calibri" pitchFamily="34" charset="-122"/>
                <a:cs typeface="Calibri" pitchFamily="34" charset="-120"/>
              </a:rPr>
              <a:t>boundaries intentionally.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Using Inventories to Communicate Tradeoffs</a:t>
            </a:r>
            <a:endParaRPr lang="en-US" sz="2800" dirty="0"/>
          </a:p>
        </p:txBody>
      </p:sp>
      <p:sp>
        <p:nvSpPr>
          <p:cNvPr id="3" name="Text 1"/>
          <p:cNvSpPr/>
          <p:nvPr/>
        </p:nvSpPr>
        <p:spPr>
          <a:xfrm>
            <a:off x="548640" y="105156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Inventories and matrices help teams answer:</a:t>
            </a:r>
            <a:endParaRPr lang="en-US" sz="1500" dirty="0"/>
          </a:p>
        </p:txBody>
      </p:sp>
      <p:sp>
        <p:nvSpPr>
          <p:cNvPr id="4" name="Shape 2"/>
          <p:cNvSpPr/>
          <p:nvPr/>
        </p:nvSpPr>
        <p:spPr>
          <a:xfrm>
            <a:off x="548640" y="1508760"/>
            <a:ext cx="4572000" cy="411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548640" y="1508760"/>
            <a:ext cx="73152" cy="411480"/>
          </a:xfrm>
          <a:prstGeom prst="rect">
            <a:avLst/>
          </a:prstGeom>
          <a:solidFill>
            <a:srgbClr val="0D9488"/>
          </a:solidFill>
          <a:ln/>
        </p:spPr>
        <p:txBody>
          <a:bodyPr/>
          <a:lstStyle/>
          <a:p>
            <a:endParaRPr lang="en-US"/>
          </a:p>
        </p:txBody>
      </p:sp>
      <p:sp>
        <p:nvSpPr>
          <p:cNvPr id="6" name="Text 4"/>
          <p:cNvSpPr/>
          <p:nvPr/>
        </p:nvSpPr>
        <p:spPr>
          <a:xfrm>
            <a:off x="777240" y="1508760"/>
            <a:ext cx="4206240" cy="41148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What are we testing?</a:t>
            </a:r>
            <a:endParaRPr lang="en-US" sz="1400" dirty="0"/>
          </a:p>
        </p:txBody>
      </p:sp>
      <p:sp>
        <p:nvSpPr>
          <p:cNvPr id="7" name="Shape 5"/>
          <p:cNvSpPr/>
          <p:nvPr/>
        </p:nvSpPr>
        <p:spPr>
          <a:xfrm>
            <a:off x="548640" y="2011680"/>
            <a:ext cx="4572000" cy="411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548640" y="2011680"/>
            <a:ext cx="73152" cy="411480"/>
          </a:xfrm>
          <a:prstGeom prst="rect">
            <a:avLst/>
          </a:prstGeom>
          <a:solidFill>
            <a:srgbClr val="0D9488"/>
          </a:solidFill>
          <a:ln/>
        </p:spPr>
        <p:txBody>
          <a:bodyPr/>
          <a:lstStyle/>
          <a:p>
            <a:endParaRPr lang="en-US"/>
          </a:p>
        </p:txBody>
      </p:sp>
      <p:sp>
        <p:nvSpPr>
          <p:cNvPr id="9" name="Text 7"/>
          <p:cNvSpPr/>
          <p:nvPr/>
        </p:nvSpPr>
        <p:spPr>
          <a:xfrm>
            <a:off x="777240" y="2011680"/>
            <a:ext cx="4206240" cy="41148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What are we not testing?</a:t>
            </a:r>
            <a:endParaRPr lang="en-US" sz="1400" dirty="0"/>
          </a:p>
        </p:txBody>
      </p:sp>
      <p:sp>
        <p:nvSpPr>
          <p:cNvPr id="10" name="Shape 8"/>
          <p:cNvSpPr/>
          <p:nvPr/>
        </p:nvSpPr>
        <p:spPr>
          <a:xfrm>
            <a:off x="548640" y="2514600"/>
            <a:ext cx="4572000" cy="411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1" name="Shape 9"/>
          <p:cNvSpPr/>
          <p:nvPr/>
        </p:nvSpPr>
        <p:spPr>
          <a:xfrm>
            <a:off x="548640" y="2514600"/>
            <a:ext cx="73152" cy="411480"/>
          </a:xfrm>
          <a:prstGeom prst="rect">
            <a:avLst/>
          </a:prstGeom>
          <a:solidFill>
            <a:srgbClr val="0D9488"/>
          </a:solidFill>
          <a:ln/>
        </p:spPr>
        <p:txBody>
          <a:bodyPr/>
          <a:lstStyle/>
          <a:p>
            <a:endParaRPr lang="en-US"/>
          </a:p>
        </p:txBody>
      </p:sp>
      <p:sp>
        <p:nvSpPr>
          <p:cNvPr id="12" name="Text 10"/>
          <p:cNvSpPr/>
          <p:nvPr/>
        </p:nvSpPr>
        <p:spPr>
          <a:xfrm>
            <a:off x="777240" y="2514600"/>
            <a:ext cx="4206240" cy="41148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What is covered by smoke testing?</a:t>
            </a:r>
            <a:endParaRPr lang="en-US" sz="1400" dirty="0"/>
          </a:p>
        </p:txBody>
      </p:sp>
      <p:sp>
        <p:nvSpPr>
          <p:cNvPr id="13" name="Shape 11"/>
          <p:cNvSpPr/>
          <p:nvPr/>
        </p:nvSpPr>
        <p:spPr>
          <a:xfrm>
            <a:off x="548640" y="3017520"/>
            <a:ext cx="4572000" cy="411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2"/>
          <p:cNvSpPr/>
          <p:nvPr/>
        </p:nvSpPr>
        <p:spPr>
          <a:xfrm>
            <a:off x="548640" y="3017520"/>
            <a:ext cx="73152" cy="411480"/>
          </a:xfrm>
          <a:prstGeom prst="rect">
            <a:avLst/>
          </a:prstGeom>
          <a:solidFill>
            <a:srgbClr val="0D9488"/>
          </a:solidFill>
          <a:ln/>
        </p:spPr>
        <p:txBody>
          <a:bodyPr/>
          <a:lstStyle/>
          <a:p>
            <a:endParaRPr lang="en-US"/>
          </a:p>
        </p:txBody>
      </p:sp>
      <p:sp>
        <p:nvSpPr>
          <p:cNvPr id="15" name="Text 13"/>
          <p:cNvSpPr/>
          <p:nvPr/>
        </p:nvSpPr>
        <p:spPr>
          <a:xfrm>
            <a:off x="777240" y="3017520"/>
            <a:ext cx="4206240" cy="41148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What can be deferred safely?</a:t>
            </a:r>
            <a:endParaRPr lang="en-US" sz="1400" dirty="0"/>
          </a:p>
        </p:txBody>
      </p:sp>
      <p:sp>
        <p:nvSpPr>
          <p:cNvPr id="16" name="Shape 14"/>
          <p:cNvSpPr/>
          <p:nvPr/>
        </p:nvSpPr>
        <p:spPr>
          <a:xfrm>
            <a:off x="548640" y="3520440"/>
            <a:ext cx="4572000" cy="411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548640" y="3520440"/>
            <a:ext cx="73152" cy="411480"/>
          </a:xfrm>
          <a:prstGeom prst="rect">
            <a:avLst/>
          </a:prstGeom>
          <a:solidFill>
            <a:srgbClr val="0D9488"/>
          </a:solidFill>
          <a:ln/>
        </p:spPr>
        <p:txBody>
          <a:bodyPr/>
          <a:lstStyle/>
          <a:p>
            <a:endParaRPr lang="en-US"/>
          </a:p>
        </p:txBody>
      </p:sp>
      <p:sp>
        <p:nvSpPr>
          <p:cNvPr id="18" name="Text 16"/>
          <p:cNvSpPr/>
          <p:nvPr/>
        </p:nvSpPr>
        <p:spPr>
          <a:xfrm>
            <a:off x="777240" y="3520440"/>
            <a:ext cx="4206240" cy="41148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What risks are we accepting?</a:t>
            </a:r>
            <a:endParaRPr lang="en-US" sz="1400" dirty="0"/>
          </a:p>
        </p:txBody>
      </p:sp>
      <p:sp>
        <p:nvSpPr>
          <p:cNvPr id="19" name="Text 17"/>
          <p:cNvSpPr/>
          <p:nvPr/>
        </p:nvSpPr>
        <p:spPr>
          <a:xfrm>
            <a:off x="5486400" y="1508760"/>
            <a:ext cx="329184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This supports:</a:t>
            </a:r>
            <a:endParaRPr lang="en-US" sz="1500" dirty="0"/>
          </a:p>
        </p:txBody>
      </p:sp>
      <p:pic>
        <p:nvPicPr>
          <p:cNvPr id="20" name="Image 0" descr="preencoded.png"/>
          <p:cNvPicPr>
            <a:picLocks noChangeAspect="1"/>
          </p:cNvPicPr>
          <p:nvPr/>
        </p:nvPicPr>
        <p:blipFill>
          <a:blip r:embed="rId3"/>
          <a:stretch>
            <a:fillRect/>
          </a:stretch>
        </p:blipFill>
        <p:spPr>
          <a:xfrm>
            <a:off x="5577840" y="2057400"/>
            <a:ext cx="320040" cy="320040"/>
          </a:xfrm>
          <a:prstGeom prst="rect">
            <a:avLst/>
          </a:prstGeom>
        </p:spPr>
      </p:pic>
      <p:sp>
        <p:nvSpPr>
          <p:cNvPr id="21" name="Text 18"/>
          <p:cNvSpPr/>
          <p:nvPr/>
        </p:nvSpPr>
        <p:spPr>
          <a:xfrm>
            <a:off x="6035040" y="2011680"/>
            <a:ext cx="2834640" cy="41148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Objective scheduling discussions</a:t>
            </a:r>
            <a:endParaRPr lang="en-US" sz="1300" dirty="0"/>
          </a:p>
        </p:txBody>
      </p:sp>
      <p:pic>
        <p:nvPicPr>
          <p:cNvPr id="22" name="Image 1" descr="preencoded.png"/>
          <p:cNvPicPr>
            <a:picLocks noChangeAspect="1"/>
          </p:cNvPicPr>
          <p:nvPr/>
        </p:nvPicPr>
        <p:blipFill>
          <a:blip r:embed="rId4"/>
          <a:stretch>
            <a:fillRect/>
          </a:stretch>
        </p:blipFill>
        <p:spPr>
          <a:xfrm>
            <a:off x="5577840" y="2651760"/>
            <a:ext cx="320040" cy="320040"/>
          </a:xfrm>
          <a:prstGeom prst="rect">
            <a:avLst/>
          </a:prstGeom>
        </p:spPr>
      </p:pic>
      <p:sp>
        <p:nvSpPr>
          <p:cNvPr id="23" name="Text 19"/>
          <p:cNvSpPr/>
          <p:nvPr/>
        </p:nvSpPr>
        <p:spPr>
          <a:xfrm>
            <a:off x="6035040" y="2606040"/>
            <a:ext cx="2834640" cy="41148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Clearer release communication</a:t>
            </a:r>
            <a:endParaRPr lang="en-US" sz="1300" dirty="0"/>
          </a:p>
        </p:txBody>
      </p:sp>
      <p:pic>
        <p:nvPicPr>
          <p:cNvPr id="24" name="Image 2" descr="preencoded.png"/>
          <p:cNvPicPr>
            <a:picLocks noChangeAspect="1"/>
          </p:cNvPicPr>
          <p:nvPr/>
        </p:nvPicPr>
        <p:blipFill>
          <a:blip r:embed="rId5"/>
          <a:stretch>
            <a:fillRect/>
          </a:stretch>
        </p:blipFill>
        <p:spPr>
          <a:xfrm>
            <a:off x="5577840" y="3246120"/>
            <a:ext cx="320040" cy="320040"/>
          </a:xfrm>
          <a:prstGeom prst="rect">
            <a:avLst/>
          </a:prstGeom>
        </p:spPr>
      </p:pic>
      <p:sp>
        <p:nvSpPr>
          <p:cNvPr id="25" name="Text 20"/>
          <p:cNvSpPr/>
          <p:nvPr/>
        </p:nvSpPr>
        <p:spPr>
          <a:xfrm>
            <a:off x="6035040" y="3200400"/>
            <a:ext cx="2834640" cy="41148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Intentional tradeoffs</a:t>
            </a:r>
            <a:endParaRPr lang="en-US" sz="1300" dirty="0"/>
          </a:p>
        </p:txBody>
      </p:sp>
      <p:pic>
        <p:nvPicPr>
          <p:cNvPr id="26" name="Image 3" descr="preencoded.png"/>
          <p:cNvPicPr>
            <a:picLocks noChangeAspect="1"/>
          </p:cNvPicPr>
          <p:nvPr/>
        </p:nvPicPr>
        <p:blipFill>
          <a:blip r:embed="rId6"/>
          <a:stretch>
            <a:fillRect/>
          </a:stretch>
        </p:blipFill>
        <p:spPr>
          <a:xfrm>
            <a:off x="5577840" y="3840480"/>
            <a:ext cx="320040" cy="320040"/>
          </a:xfrm>
          <a:prstGeom prst="rect">
            <a:avLst/>
          </a:prstGeom>
        </p:spPr>
      </p:pic>
      <p:sp>
        <p:nvSpPr>
          <p:cNvPr id="27" name="Text 21"/>
          <p:cNvSpPr/>
          <p:nvPr/>
        </p:nvSpPr>
        <p:spPr>
          <a:xfrm>
            <a:off x="6035040" y="3794760"/>
            <a:ext cx="2834640" cy="41148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Visible risk acceptance</a:t>
            </a:r>
            <a:endParaRPr lang="en-US" sz="1300" dirty="0"/>
          </a:p>
        </p:txBody>
      </p:sp>
      <p:sp>
        <p:nvSpPr>
          <p:cNvPr id="28" name="Shape 22"/>
          <p:cNvSpPr/>
          <p:nvPr/>
        </p:nvSpPr>
        <p:spPr>
          <a:xfrm>
            <a:off x="548640" y="4206240"/>
            <a:ext cx="8046720" cy="640080"/>
          </a:xfrm>
          <a:prstGeom prst="rect">
            <a:avLst/>
          </a:prstGeom>
          <a:solidFill>
            <a:srgbClr val="1B2A3D"/>
          </a:solidFill>
          <a:ln/>
        </p:spPr>
        <p:txBody>
          <a:bodyPr/>
          <a:lstStyle/>
          <a:p>
            <a:endParaRPr lang="en-US"/>
          </a:p>
        </p:txBody>
      </p:sp>
      <p:sp>
        <p:nvSpPr>
          <p:cNvPr id="29" name="Text 23"/>
          <p:cNvSpPr/>
          <p:nvPr/>
        </p:nvSpPr>
        <p:spPr>
          <a:xfrm>
            <a:off x="731520" y="4206240"/>
            <a:ext cx="7680960" cy="640080"/>
          </a:xfrm>
          <a:prstGeom prst="rect">
            <a:avLst/>
          </a:prstGeom>
          <a:noFill/>
          <a:ln/>
        </p:spPr>
        <p:txBody>
          <a:bodyPr wrap="square" lIns="0" tIns="0" rIns="0" bIns="0" rtlCol="0" anchor="ctr"/>
          <a:lstStyle/>
          <a:p>
            <a:pPr marL="0" indent="0">
              <a:buNone/>
            </a:pPr>
            <a:r>
              <a:rPr lang="en-US" sz="1300" b="1" i="1" dirty="0">
                <a:solidFill>
                  <a:srgbClr val="0D9488"/>
                </a:solidFill>
                <a:latin typeface="Calibri" pitchFamily="34" charset="0"/>
                <a:ea typeface="Calibri" pitchFamily="34" charset="-122"/>
                <a:cs typeface="Calibri" pitchFamily="34" charset="-120"/>
              </a:rPr>
              <a:t>The conversation shifts from "we need more time" to "here is what we're covering and here is what we're not."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32004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pic>
        <p:nvPicPr>
          <p:cNvPr id="4" name="Image 0" descr="preencoded.png"/>
          <p:cNvPicPr>
            <a:picLocks noChangeAspect="1"/>
          </p:cNvPicPr>
          <p:nvPr/>
        </p:nvPicPr>
        <p:blipFill>
          <a:blip r:embed="rId3"/>
          <a:stretch>
            <a:fillRect/>
          </a:stretch>
        </p:blipFill>
        <p:spPr>
          <a:xfrm>
            <a:off x="731520" y="1088136"/>
            <a:ext cx="256032" cy="256032"/>
          </a:xfrm>
          <a:prstGeom prst="rect">
            <a:avLst/>
          </a:prstGeom>
        </p:spPr>
      </p:pic>
      <p:sp>
        <p:nvSpPr>
          <p:cNvPr id="5" name="Text 2"/>
          <p:cNvSpPr/>
          <p:nvPr/>
        </p:nvSpPr>
        <p:spPr>
          <a:xfrm>
            <a:off x="1188720" y="105156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You cannot test everything.</a:t>
            </a:r>
            <a:endParaRPr lang="en-US" sz="1500" dirty="0"/>
          </a:p>
        </p:txBody>
      </p:sp>
      <p:pic>
        <p:nvPicPr>
          <p:cNvPr id="6" name="Image 1" descr="preencoded.png"/>
          <p:cNvPicPr>
            <a:picLocks noChangeAspect="1"/>
          </p:cNvPicPr>
          <p:nvPr/>
        </p:nvPicPr>
        <p:blipFill>
          <a:blip r:embed="rId3"/>
          <a:stretch>
            <a:fillRect/>
          </a:stretch>
        </p:blipFill>
        <p:spPr>
          <a:xfrm>
            <a:off x="731520" y="1499616"/>
            <a:ext cx="256032" cy="256032"/>
          </a:xfrm>
          <a:prstGeom prst="rect">
            <a:avLst/>
          </a:prstGeom>
        </p:spPr>
      </p:pic>
      <p:sp>
        <p:nvSpPr>
          <p:cNvPr id="7" name="Text 3"/>
          <p:cNvSpPr/>
          <p:nvPr/>
        </p:nvSpPr>
        <p:spPr>
          <a:xfrm>
            <a:off x="1188720" y="146304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Coverage should be intentional.</a:t>
            </a:r>
            <a:endParaRPr lang="en-US" sz="1500" dirty="0"/>
          </a:p>
        </p:txBody>
      </p:sp>
      <p:pic>
        <p:nvPicPr>
          <p:cNvPr id="8" name="Image 2" descr="preencoded.png"/>
          <p:cNvPicPr>
            <a:picLocks noChangeAspect="1"/>
          </p:cNvPicPr>
          <p:nvPr/>
        </p:nvPicPr>
        <p:blipFill>
          <a:blip r:embed="rId3"/>
          <a:stretch>
            <a:fillRect/>
          </a:stretch>
        </p:blipFill>
        <p:spPr>
          <a:xfrm>
            <a:off x="731520" y="1911096"/>
            <a:ext cx="256032" cy="256032"/>
          </a:xfrm>
          <a:prstGeom prst="rect">
            <a:avLst/>
          </a:prstGeom>
        </p:spPr>
      </p:pic>
      <p:sp>
        <p:nvSpPr>
          <p:cNvPr id="9" name="Text 4"/>
          <p:cNvSpPr/>
          <p:nvPr/>
        </p:nvSpPr>
        <p:spPr>
          <a:xfrm>
            <a:off x="1188720" y="187452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Testing should be visible and communicable.</a:t>
            </a:r>
            <a:endParaRPr lang="en-US" sz="1500" dirty="0"/>
          </a:p>
        </p:txBody>
      </p:sp>
      <p:pic>
        <p:nvPicPr>
          <p:cNvPr id="10" name="Image 3" descr="preencoded.png"/>
          <p:cNvPicPr>
            <a:picLocks noChangeAspect="1"/>
          </p:cNvPicPr>
          <p:nvPr/>
        </p:nvPicPr>
        <p:blipFill>
          <a:blip r:embed="rId3"/>
          <a:stretch>
            <a:fillRect/>
          </a:stretch>
        </p:blipFill>
        <p:spPr>
          <a:xfrm>
            <a:off x="731520" y="2322576"/>
            <a:ext cx="256032" cy="256032"/>
          </a:xfrm>
          <a:prstGeom prst="rect">
            <a:avLst/>
          </a:prstGeom>
        </p:spPr>
      </p:pic>
      <p:sp>
        <p:nvSpPr>
          <p:cNvPr id="11" name="Text 5"/>
          <p:cNvSpPr/>
          <p:nvPr/>
        </p:nvSpPr>
        <p:spPr>
          <a:xfrm>
            <a:off x="1188720" y="228600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Inventories help teams prioritize effectively.</a:t>
            </a:r>
            <a:endParaRPr lang="en-US" sz="1500" dirty="0"/>
          </a:p>
        </p:txBody>
      </p:sp>
      <p:pic>
        <p:nvPicPr>
          <p:cNvPr id="12" name="Image 4" descr="preencoded.png"/>
          <p:cNvPicPr>
            <a:picLocks noChangeAspect="1"/>
          </p:cNvPicPr>
          <p:nvPr/>
        </p:nvPicPr>
        <p:blipFill>
          <a:blip r:embed="rId3"/>
          <a:stretch>
            <a:fillRect/>
          </a:stretch>
        </p:blipFill>
        <p:spPr>
          <a:xfrm>
            <a:off x="731520" y="2734056"/>
            <a:ext cx="256032" cy="256032"/>
          </a:xfrm>
          <a:prstGeom prst="rect">
            <a:avLst/>
          </a:prstGeom>
        </p:spPr>
      </p:pic>
      <p:sp>
        <p:nvSpPr>
          <p:cNvPr id="13" name="Text 6"/>
          <p:cNvSpPr/>
          <p:nvPr/>
        </p:nvSpPr>
        <p:spPr>
          <a:xfrm>
            <a:off x="1188720" y="2697480"/>
            <a:ext cx="73152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goal is not maximum coverage.</a:t>
            </a:r>
            <a:endParaRPr lang="en-US" sz="1500" dirty="0"/>
          </a:p>
        </p:txBody>
      </p:sp>
      <p:pic>
        <p:nvPicPr>
          <p:cNvPr id="14" name="Image 5" descr="preencoded.png"/>
          <p:cNvPicPr>
            <a:picLocks noChangeAspect="1"/>
          </p:cNvPicPr>
          <p:nvPr/>
        </p:nvPicPr>
        <p:blipFill>
          <a:blip r:embed="rId4"/>
          <a:stretch>
            <a:fillRect/>
          </a:stretch>
        </p:blipFill>
        <p:spPr>
          <a:xfrm>
            <a:off x="731520" y="3145536"/>
            <a:ext cx="256032" cy="256032"/>
          </a:xfrm>
          <a:prstGeom prst="rect">
            <a:avLst/>
          </a:prstGeom>
        </p:spPr>
      </p:pic>
      <p:sp>
        <p:nvSpPr>
          <p:cNvPr id="15" name="Text 7"/>
          <p:cNvSpPr/>
          <p:nvPr/>
        </p:nvSpPr>
        <p:spPr>
          <a:xfrm>
            <a:off x="1188720" y="3108960"/>
            <a:ext cx="7315200" cy="347472"/>
          </a:xfrm>
          <a:prstGeom prst="rect">
            <a:avLst/>
          </a:prstGeom>
          <a:noFill/>
          <a:ln/>
        </p:spPr>
        <p:txBody>
          <a:bodyPr wrap="square" lIns="0" tIns="0" rIns="0" bIns="0" rtlCol="0" anchor="ctr"/>
          <a:lstStyle/>
          <a:p>
            <a:pPr marL="0" indent="0">
              <a:buNone/>
            </a:pPr>
            <a:r>
              <a:rPr lang="en-US" sz="1500" b="1" dirty="0">
                <a:solidFill>
                  <a:srgbClr val="0D9488"/>
                </a:solidFill>
                <a:latin typeface="Calibri" pitchFamily="34" charset="0"/>
                <a:ea typeface="Calibri" pitchFamily="34" charset="-122"/>
                <a:cs typeface="Calibri" pitchFamily="34" charset="-120"/>
              </a:rPr>
              <a:t>The goal is informed risk reduction.</a:t>
            </a:r>
            <a:endParaRPr lang="en-US" sz="1500" dirty="0"/>
          </a:p>
        </p:txBody>
      </p:sp>
      <p:sp>
        <p:nvSpPr>
          <p:cNvPr id="16" name="Shape 8"/>
          <p:cNvSpPr/>
          <p:nvPr/>
        </p:nvSpPr>
        <p:spPr>
          <a:xfrm>
            <a:off x="548640" y="3703320"/>
            <a:ext cx="8046720" cy="1097280"/>
          </a:xfrm>
          <a:prstGeom prst="rect">
            <a:avLst/>
          </a:prstGeom>
          <a:solidFill>
            <a:srgbClr val="243447"/>
          </a:solidFill>
          <a:ln/>
        </p:spPr>
        <p:txBody>
          <a:bodyPr/>
          <a:lstStyle/>
          <a:p>
            <a:endParaRPr lang="en-US"/>
          </a:p>
        </p:txBody>
      </p:sp>
      <p:sp>
        <p:nvSpPr>
          <p:cNvPr id="17" name="Text 9"/>
          <p:cNvSpPr/>
          <p:nvPr/>
        </p:nvSpPr>
        <p:spPr>
          <a:xfrm>
            <a:off x="731520" y="3794760"/>
            <a:ext cx="768096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Good testing is not about maximum coverage.</a:t>
            </a:r>
            <a:endParaRPr lang="en-US" sz="2000" dirty="0"/>
          </a:p>
        </p:txBody>
      </p:sp>
      <p:sp>
        <p:nvSpPr>
          <p:cNvPr id="18" name="Text 10"/>
          <p:cNvSpPr/>
          <p:nvPr/>
        </p:nvSpPr>
        <p:spPr>
          <a:xfrm>
            <a:off x="731520" y="4251960"/>
            <a:ext cx="7680960"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It is about communicating risk.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1906</Words>
  <Application>Microsoft Office PowerPoint</Application>
  <PresentationFormat>On-screen Show (16:9)</PresentationFormat>
  <Paragraphs>268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Analysis and Design — Creating Test Inventories</dc:title>
  <dc:subject>PptxGenJS Presentation</dc:subject>
  <dc:creator>QA Training</dc:creator>
  <cp:lastModifiedBy>Gary McNickle</cp:lastModifiedBy>
  <cp:revision>1</cp:revision>
  <dcterms:created xsi:type="dcterms:W3CDTF">2026-05-21T15:17:59Z</dcterms:created>
  <dcterms:modified xsi:type="dcterms:W3CDTF">2026-05-22T00:41:15Z</dcterms:modified>
</cp:coreProperties>
</file>