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1" d="100"/>
          <a:sy n="211" d="100"/>
        </p:scale>
        <p:origin x="35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y McNickle" userId="e9d346d2d806edb0" providerId="LiveId" clId="{4F1CA071-7AA7-4987-BA1A-E5FD4B4E25F8}"/>
    <pc:docChg chg="modSld">
      <pc:chgData name="Gary McNickle" userId="e9d346d2d806edb0" providerId="LiveId" clId="{4F1CA071-7AA7-4987-BA1A-E5FD4B4E25F8}" dt="2026-05-22T00:40:29.892" v="13" actId="20577"/>
      <pc:docMkLst>
        <pc:docMk/>
      </pc:docMkLst>
      <pc:sldChg chg="modSp mod">
        <pc:chgData name="Gary McNickle" userId="e9d346d2d806edb0" providerId="LiveId" clId="{4F1CA071-7AA7-4987-BA1A-E5FD4B4E25F8}" dt="2026-05-22T00:40:29.892" v="13" actId="20577"/>
        <pc:sldMkLst>
          <pc:docMk/>
          <pc:sldMk cId="0" sldId="256"/>
        </pc:sldMkLst>
        <pc:spChg chg="mod">
          <ac:chgData name="Gary McNickle" userId="e9d346d2d806edb0" providerId="LiveId" clId="{4F1CA071-7AA7-4987-BA1A-E5FD4B4E25F8}" dt="2026-05-22T00:40:29.892" v="13" actId="20577"/>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44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2 of the series. Part 1 covered building test inventories — organizing testing into visible, communicable coverage. This deck covers how to prioritize those inventories using risk analysis. The material draws from Craig and Jaskiel's 'Systematic Software Testing,' adapted with modern examples.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Part 1. The team has inventories — a visible model of coverage. But inventories alone don't tell you where to focus. If you have 50 inventory items and time to test 30, which 30? Without risk analysis, that decision is either gut feel or 'test everything equally,' which is how you end up with smoke testing taking a week. Risk analysis provides the objective basis for making that call.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purpose clearly. Risk analysis isn't about computing a scientifically precise score — it's about creating a shared ranking that the team can discuss and act on. The three outputs (what, priority, depth) directly feed into the test matrix from Part 1. Emphasize that this is a practical tool, not an academic exercise.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8 steps at a high level. Emphasize that this is not a heavyweight process — a team can work through this in a single session for a moderately complex system. Steps 1-2 may already be done if the team completed the inventory work from Part 1. The real work is in steps 3-6, and steps 7-8 are where the operational value emerges.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team already did the inventory brainstorming from Part 1, this may be the same group. But for risk analysis, consider adding people who understand customer impact — support engineers and product managers are especially valuable here because they see what users actually hit. Developers tend to assess technical risk well but may underestimate user-facing impact. The diversity of perspectives is what makes the exercise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connects directly to Part 1. If the team has already built inventories, they're the input here. If not, a feature list from your test management tool or requirements docs works too. The key point is that you need a list of discrete, testable items to assess — the same granularity guidance from Part 1 applies. Not too broad, not too detailed.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team starts assessing risk. For each inventory item, ask: how likely is it that this will fail or behave incorrectly? The factors on the left help guide the discussion — code that changes frequently, new features, complex integrations all increase likelihood. Use High/Medium/Low — don't overthink the rating. The value comes from the conversation, not the precision of the number. Disagreements in the room are valuable — they surface different perspectives on risk.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add the second dimension: if this fails, how bad is it? This is about user and business impact, not technical severity. Tax Calculation is a great example — it rarely fails (Low likelihood) but if it does, you're charging customers wrong amounts, which has legal and trust implications (High impact). Coupon Codes fail more often but the impact is lower — a broken coupon is annoying, not catastrophic. The note at the bottom is key: these two dimensions are independent and both matter.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it becomes quantitative. Assign numerical values (5/3/1) and multiply. The math is deliberately simple — this isn't a weighted scoring system. Three items tied at 25 (Login, Add to Cart, Guest Checkout) tells you those are your highest-risk inventories. Tax Calculation is interesting: Low likelihood × High impact = 5, which is lower than you might expect for something with regulatory implications. That's exactly the kind of thing the review step (next) is designed to catch.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step. The formula gives you a starting point, but it doesn't account for everything. A feature might score low on likelihood because it's mature, but if it was just refactored, that changes things. Existing automation can lower effective risk — if Login has 95% automated coverage, you might lower its manual testing priority even though the raw score is high. This step prevents the analysis from being purely mechanical and brings real-world context back 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operationally powerful slide in the deck. The cut-line is where risk analysis directly enables scheduling discussions. Everything above the line gets tested in this cycle. Everything below is deferred or accepted risk. When leadership says 'we need to ship a week early,' you don't panic — you move the cut-line up and show exactly what drops off and what risk you're accepting. The green/red shading makes the tradeoff viscerally clear.
Important nuance: the cut-line is a tool for communication, not a license to skip testing. 'Accepted risk' has real implications — who accepts it, is it documented, does the product owner sign off, does it get revisited next cycle? Those governance questions are covered in the leadership session. If someone raises this during the practitioner training, acknowledge it and note that the leadership session addresses how cut-line decisions are managed organizationally.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back to Part 1 and shows how risk analysis output maps directly to coverage decisions. The priority tiers are the result of the Likelihood × Impact calculation. High-priority items demand the most attention, medium-priority items get consistent coverage, and low-priority items are addressed as time permits. Notice this is about priority, not about specific test suite labels — how you organize your test suites around these priorities is a separate decision.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slide. The risk analysis process produces prioritized data — but data only matters if you use it. Walk through each decision and connect it to the team's daily reality. Where to invest in automation? Look at the high-priority, high-frequency items. What gets deferred when the schedule compresses? Look at the low-priority items below the cut-line. How do you explain tradeoffs to leadership? Point to the priority data. The key message: these decisions used to be gut feel. Now they're backed by visible, discussable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Mitigation is about reducing risk before testing, not instead of testing. If Guest Checkout scores high on likelihood because the payment integration was recently refactored, a focused code review or early prototype can reduce that likelihood — which lowers the overall risk score. The critical point at the bottom: if someone says 'we'll mitigate that with a code review,' write it up as a tracked task. Otherwise it's just a verbal promise that evaporates. Mitigation lowers likelihood, which lowers priority, which can move items relative to the cut-line.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with the same thesis from Part 1. The two decks together give the team a complete toolkit: inventories make coverage visible, risk analysis makes prioritization objective, and together they support informed scheduling and release decisions. Next steps: schedule a working session with the team to run through the risk analysis process on your actual system, using the inventories you've already built. The leadership deck (Part 3) will cover how these artifacts support management-level decisions.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p:spPr>
        <p:txBody>
          <a:bodyPr/>
          <a:lstStyle/>
          <a:p>
            <a:endParaRPr lang="en-US"/>
          </a:p>
        </p:txBody>
      </p:sp>
      <p:sp>
        <p:nvSpPr>
          <p:cNvPr id="3" name="Text 1"/>
          <p:cNvSpPr/>
          <p:nvPr/>
        </p:nvSpPr>
        <p:spPr>
          <a:xfrm>
            <a:off x="731520" y="731520"/>
            <a:ext cx="7772400" cy="201168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Trebuchet MS" pitchFamily="34" charset="0"/>
                <a:ea typeface="Trebuchet MS" pitchFamily="34" charset="-122"/>
                <a:cs typeface="Trebuchet MS" pitchFamily="34" charset="-120"/>
              </a:rPr>
              <a:t>Identifying Testing Priorities</a:t>
            </a:r>
            <a:endParaRPr lang="en-US" sz="4000" dirty="0"/>
          </a:p>
          <a:p>
            <a:pPr marL="0" indent="0">
              <a:lnSpc>
                <a:spcPct val="110000"/>
              </a:lnSpc>
              <a:buNone/>
            </a:pPr>
            <a:r>
              <a:rPr lang="en-US" sz="4000" b="1" dirty="0">
                <a:solidFill>
                  <a:srgbClr val="FFFFFF"/>
                </a:solidFill>
                <a:latin typeface="Trebuchet MS" pitchFamily="34" charset="0"/>
                <a:ea typeface="Trebuchet MS" pitchFamily="34" charset="-122"/>
                <a:cs typeface="Trebuchet MS" pitchFamily="34" charset="-120"/>
              </a:rPr>
              <a:t>Through Risk Analysis</a:t>
            </a:r>
            <a:endParaRPr lang="en-US" sz="4000" dirty="0"/>
          </a:p>
        </p:txBody>
      </p:sp>
      <p:sp>
        <p:nvSpPr>
          <p:cNvPr id="4" name="Text 2"/>
          <p:cNvSpPr/>
          <p:nvPr/>
        </p:nvSpPr>
        <p:spPr>
          <a:xfrm>
            <a:off x="731520" y="2743200"/>
            <a:ext cx="7315200" cy="548640"/>
          </a:xfrm>
          <a:prstGeom prst="rect">
            <a:avLst/>
          </a:prstGeom>
          <a:noFill/>
          <a:ln/>
        </p:spPr>
        <p:txBody>
          <a:bodyPr wrap="square" lIns="0" tIns="0" rIns="0" bIns="0" rtlCol="0" anchor="ctr"/>
          <a:lstStyle/>
          <a:p>
            <a:pPr marL="0" indent="0">
              <a:buNone/>
            </a:pPr>
            <a:r>
              <a:rPr lang="en-US" sz="2200" dirty="0">
                <a:solidFill>
                  <a:srgbClr val="0D9488"/>
                </a:solidFill>
                <a:latin typeface="Calibri" pitchFamily="34" charset="0"/>
                <a:ea typeface="Calibri" pitchFamily="34" charset="-122"/>
                <a:cs typeface="Calibri" pitchFamily="34" charset="-120"/>
              </a:rPr>
              <a:t>Using risk to prioritize your test inventories</a:t>
            </a:r>
            <a:endParaRPr lang="en-US" sz="2200" dirty="0"/>
          </a:p>
        </p:txBody>
      </p:sp>
      <p:sp>
        <p:nvSpPr>
          <p:cNvPr id="5" name="Text 3"/>
          <p:cNvSpPr/>
          <p:nvPr/>
        </p:nvSpPr>
        <p:spPr>
          <a:xfrm>
            <a:off x="731520" y="3383280"/>
            <a:ext cx="6400800" cy="45720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Part 2 of the Test Analysis and Design series</a:t>
            </a:r>
          </a:p>
          <a:p>
            <a:pPr marL="0" indent="0">
              <a:buNone/>
            </a:pPr>
            <a:r>
              <a:rPr lang="en-US" sz="1400" i="1" dirty="0">
                <a:solidFill>
                  <a:srgbClr val="64748B"/>
                </a:solidFill>
                <a:latin typeface="Calibri" pitchFamily="34" charset="0"/>
                <a:cs typeface="Calibri" pitchFamily="34" charset="-120"/>
              </a:rPr>
              <a:t>Gary McNickle</a:t>
            </a:r>
            <a:endParaRPr lang="en-US" sz="1400" dirty="0"/>
          </a:p>
        </p:txBody>
      </p:sp>
      <p:pic>
        <p:nvPicPr>
          <p:cNvPr id="6" name="Image 0" descr="preencoded.png"/>
          <p:cNvPicPr>
            <a:picLocks noChangeAspect="1"/>
          </p:cNvPicPr>
          <p:nvPr/>
        </p:nvPicPr>
        <p:blipFill>
          <a:blip r:embed="rId3"/>
          <a:stretch>
            <a:fillRect/>
          </a:stretch>
        </p:blipFill>
        <p:spPr>
          <a:xfrm>
            <a:off x="7772400" y="3474720"/>
            <a:ext cx="914400" cy="914400"/>
          </a:xfrm>
          <a:prstGeom prst="rect">
            <a:avLst/>
          </a:prstGeom>
        </p:spPr>
      </p:pic>
      <p:sp>
        <p:nvSpPr>
          <p:cNvPr id="7" name="Text 4"/>
          <p:cNvSpPr/>
          <p:nvPr/>
        </p:nvSpPr>
        <p:spPr>
          <a:xfrm>
            <a:off x="731520" y="4572000"/>
            <a:ext cx="6400800"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Based on concepts from Systematic Software Testing by Rick Craig and Stefan Jaskiel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You Have Inventories — Now What?</a:t>
            </a:r>
            <a:endParaRPr lang="en-US" sz="3000" dirty="0"/>
          </a:p>
        </p:txBody>
      </p:sp>
      <p:sp>
        <p:nvSpPr>
          <p:cNvPr id="3" name="Shape 1"/>
          <p:cNvSpPr/>
          <p:nvPr/>
        </p:nvSpPr>
        <p:spPr>
          <a:xfrm>
            <a:off x="548640" y="1188720"/>
            <a:ext cx="384048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4" name="Shape 2"/>
          <p:cNvSpPr/>
          <p:nvPr/>
        </p:nvSpPr>
        <p:spPr>
          <a:xfrm>
            <a:off x="548640" y="1188720"/>
            <a:ext cx="3840480" cy="502920"/>
          </a:xfrm>
          <a:prstGeom prst="rect">
            <a:avLst/>
          </a:prstGeom>
          <a:solidFill>
            <a:srgbClr val="1B2A3D"/>
          </a:solidFill>
          <a:ln/>
        </p:spPr>
        <p:txBody>
          <a:bodyPr/>
          <a:lstStyle/>
          <a:p>
            <a:endParaRPr lang="en-US"/>
          </a:p>
        </p:txBody>
      </p:sp>
      <p:sp>
        <p:nvSpPr>
          <p:cNvPr id="5" name="Text 3"/>
          <p:cNvSpPr/>
          <p:nvPr/>
        </p:nvSpPr>
        <p:spPr>
          <a:xfrm>
            <a:off x="731520" y="1188720"/>
            <a:ext cx="3474720" cy="50292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From Part 1: Test Inventories</a:t>
            </a:r>
            <a:endParaRPr lang="en-US" sz="1400" dirty="0"/>
          </a:p>
        </p:txBody>
      </p:sp>
      <p:sp>
        <p:nvSpPr>
          <p:cNvPr id="6" name="Text 4"/>
          <p:cNvSpPr/>
          <p:nvPr/>
        </p:nvSpPr>
        <p:spPr>
          <a:xfrm>
            <a:off x="822960" y="1828800"/>
            <a:ext cx="3383280" cy="1645920"/>
          </a:xfrm>
          <a:prstGeom prst="rect">
            <a:avLst/>
          </a:prstGeom>
          <a:noFill/>
          <a:ln/>
        </p:spPr>
        <p:txBody>
          <a:bodyPr wrap="square" lIns="0" tIns="0" rIns="0" bIns="0" rtlCol="0" anchor="t"/>
          <a:lstStyle/>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Identified test objectives</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Decomposed into inventories</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Created visible coverage model</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Built a test matrix</a:t>
            </a:r>
            <a:endParaRPr lang="en-US" sz="1300" dirty="0"/>
          </a:p>
        </p:txBody>
      </p:sp>
      <p:sp>
        <p:nvSpPr>
          <p:cNvPr id="7" name="Shape 5"/>
          <p:cNvSpPr/>
          <p:nvPr/>
        </p:nvSpPr>
        <p:spPr>
          <a:xfrm>
            <a:off x="4754880" y="1188720"/>
            <a:ext cx="384048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4754880" y="1188720"/>
            <a:ext cx="3840480" cy="502920"/>
          </a:xfrm>
          <a:prstGeom prst="rect">
            <a:avLst/>
          </a:prstGeom>
          <a:solidFill>
            <a:srgbClr val="0D9488"/>
          </a:solidFill>
          <a:ln/>
        </p:spPr>
        <p:txBody>
          <a:bodyPr/>
          <a:lstStyle/>
          <a:p>
            <a:endParaRPr lang="en-US"/>
          </a:p>
        </p:txBody>
      </p:sp>
      <p:sp>
        <p:nvSpPr>
          <p:cNvPr id="9" name="Text 7"/>
          <p:cNvSpPr/>
          <p:nvPr/>
        </p:nvSpPr>
        <p:spPr>
          <a:xfrm>
            <a:off x="4937760" y="1188720"/>
            <a:ext cx="347472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Missing Piece</a:t>
            </a:r>
            <a:endParaRPr lang="en-US" sz="1400" dirty="0"/>
          </a:p>
        </p:txBody>
      </p:sp>
      <p:sp>
        <p:nvSpPr>
          <p:cNvPr id="10" name="Text 8"/>
          <p:cNvSpPr/>
          <p:nvPr/>
        </p:nvSpPr>
        <p:spPr>
          <a:xfrm>
            <a:off x="5029200" y="1828800"/>
            <a:ext cx="3383280" cy="1645920"/>
          </a:xfrm>
          <a:prstGeom prst="rect">
            <a:avLst/>
          </a:prstGeom>
          <a:noFill/>
          <a:ln/>
        </p:spPr>
        <p:txBody>
          <a:bodyPr wrap="square" lIns="0" tIns="0" rIns="0" bIns="0" rtlCol="0" anchor="t"/>
          <a:lstStyle/>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Not all inventories are equal</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Some carry far more risk</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Without prioritization, everything</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feels equally urgent</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You need a system for ranking</a:t>
            </a:r>
            <a:endParaRPr lang="en-US" sz="1300" dirty="0"/>
          </a:p>
        </p:txBody>
      </p:sp>
      <p:sp>
        <p:nvSpPr>
          <p:cNvPr id="11" name="Shape 9"/>
          <p:cNvSpPr/>
          <p:nvPr/>
        </p:nvSpPr>
        <p:spPr>
          <a:xfrm>
            <a:off x="548640" y="4114800"/>
            <a:ext cx="8046720" cy="731520"/>
          </a:xfrm>
          <a:prstGeom prst="rect">
            <a:avLst/>
          </a:prstGeom>
          <a:solidFill>
            <a:srgbClr val="1B2A3D"/>
          </a:solidFill>
          <a:ln/>
        </p:spPr>
        <p:txBody>
          <a:bodyPr/>
          <a:lstStyle/>
          <a:p>
            <a:endParaRPr lang="en-US"/>
          </a:p>
        </p:txBody>
      </p:sp>
      <p:sp>
        <p:nvSpPr>
          <p:cNvPr id="12" name="Text 10"/>
          <p:cNvSpPr/>
          <p:nvPr/>
        </p:nvSpPr>
        <p:spPr>
          <a:xfrm>
            <a:off x="731520" y="4114800"/>
            <a:ext cx="7680960" cy="731520"/>
          </a:xfrm>
          <a:prstGeom prst="rect">
            <a:avLst/>
          </a:prstGeom>
          <a:noFill/>
          <a:ln/>
        </p:spPr>
        <p:txBody>
          <a:bodyPr wrap="square" lIns="0" tIns="0" rIns="0" bIns="0" rtlCol="0" anchor="ctr"/>
          <a:lstStyle/>
          <a:p>
            <a:pPr marL="0" indent="0" algn="ctr">
              <a:buNone/>
            </a:pPr>
            <a:r>
              <a:rPr lang="en-US" sz="1500" b="1" dirty="0">
                <a:solidFill>
                  <a:srgbClr val="0D9488"/>
                </a:solidFill>
                <a:latin typeface="Calibri" pitchFamily="34" charset="0"/>
                <a:ea typeface="Calibri" pitchFamily="34" charset="-122"/>
                <a:cs typeface="Calibri" pitchFamily="34" charset="-120"/>
              </a:rPr>
              <a:t>Risk analysis gives you a shared, discussable way to prioritize testing effort.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Text 1"/>
          <p:cNvSpPr/>
          <p:nvPr/>
        </p:nvSpPr>
        <p:spPr>
          <a:xfrm>
            <a:off x="731520" y="457200"/>
            <a:ext cx="7772400" cy="7315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What Is Software Risk Analysis?</a:t>
            </a:r>
            <a:endParaRPr lang="en-US" sz="3200" dirty="0"/>
          </a:p>
        </p:txBody>
      </p:sp>
      <p:sp>
        <p:nvSpPr>
          <p:cNvPr id="4" name="Text 2"/>
          <p:cNvSpPr/>
          <p:nvPr/>
        </p:nvSpPr>
        <p:spPr>
          <a:xfrm>
            <a:off x="731520" y="1371600"/>
            <a:ext cx="77724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The purpose of software risk analysis is to determine:</a:t>
            </a:r>
            <a:endParaRPr lang="en-US" sz="1600" dirty="0"/>
          </a:p>
        </p:txBody>
      </p:sp>
      <p:sp>
        <p:nvSpPr>
          <p:cNvPr id="5" name="Shape 3"/>
          <p:cNvSpPr/>
          <p:nvPr/>
        </p:nvSpPr>
        <p:spPr>
          <a:xfrm>
            <a:off x="731520" y="1965960"/>
            <a:ext cx="7680960" cy="640080"/>
          </a:xfrm>
          <a:prstGeom prst="rect">
            <a:avLst/>
          </a:prstGeom>
          <a:solidFill>
            <a:srgbClr val="243447"/>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2103120"/>
            <a:ext cx="365760" cy="365760"/>
          </a:xfrm>
          <a:prstGeom prst="rect">
            <a:avLst/>
          </a:prstGeom>
        </p:spPr>
      </p:pic>
      <p:sp>
        <p:nvSpPr>
          <p:cNvPr id="7" name="Text 4"/>
          <p:cNvSpPr/>
          <p:nvPr/>
        </p:nvSpPr>
        <p:spPr>
          <a:xfrm>
            <a:off x="1463040" y="1965960"/>
            <a:ext cx="2286000" cy="640080"/>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What to test</a:t>
            </a:r>
            <a:endParaRPr lang="en-US" sz="1600" dirty="0"/>
          </a:p>
        </p:txBody>
      </p:sp>
      <p:sp>
        <p:nvSpPr>
          <p:cNvPr id="8" name="Text 5"/>
          <p:cNvSpPr/>
          <p:nvPr/>
        </p:nvSpPr>
        <p:spPr>
          <a:xfrm>
            <a:off x="3840480" y="1965960"/>
            <a:ext cx="438912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Which inventories demand coverage</a:t>
            </a:r>
            <a:endParaRPr lang="en-US" sz="1400" dirty="0"/>
          </a:p>
        </p:txBody>
      </p:sp>
      <p:sp>
        <p:nvSpPr>
          <p:cNvPr id="9" name="Shape 6"/>
          <p:cNvSpPr/>
          <p:nvPr/>
        </p:nvSpPr>
        <p:spPr>
          <a:xfrm>
            <a:off x="731520" y="2743200"/>
            <a:ext cx="7680960" cy="640080"/>
          </a:xfrm>
          <a:prstGeom prst="rect">
            <a:avLst/>
          </a:prstGeom>
          <a:solidFill>
            <a:srgbClr val="243447"/>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914400" y="2880360"/>
            <a:ext cx="365760" cy="365760"/>
          </a:xfrm>
          <a:prstGeom prst="rect">
            <a:avLst/>
          </a:prstGeom>
        </p:spPr>
      </p:pic>
      <p:sp>
        <p:nvSpPr>
          <p:cNvPr id="11" name="Text 7"/>
          <p:cNvSpPr/>
          <p:nvPr/>
        </p:nvSpPr>
        <p:spPr>
          <a:xfrm>
            <a:off x="1463040" y="2743200"/>
            <a:ext cx="2286000" cy="640080"/>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Testing priority</a:t>
            </a:r>
            <a:endParaRPr lang="en-US" sz="1600" dirty="0"/>
          </a:p>
        </p:txBody>
      </p:sp>
      <p:sp>
        <p:nvSpPr>
          <p:cNvPr id="12" name="Text 8"/>
          <p:cNvSpPr/>
          <p:nvPr/>
        </p:nvSpPr>
        <p:spPr>
          <a:xfrm>
            <a:off x="3840480" y="2743200"/>
            <a:ext cx="438912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Which items get tested first</a:t>
            </a:r>
            <a:endParaRPr lang="en-US" sz="1400" dirty="0"/>
          </a:p>
        </p:txBody>
      </p:sp>
      <p:sp>
        <p:nvSpPr>
          <p:cNvPr id="13" name="Shape 9"/>
          <p:cNvSpPr/>
          <p:nvPr/>
        </p:nvSpPr>
        <p:spPr>
          <a:xfrm>
            <a:off x="731520" y="3520440"/>
            <a:ext cx="7680960" cy="640080"/>
          </a:xfrm>
          <a:prstGeom prst="rect">
            <a:avLst/>
          </a:prstGeom>
          <a:solidFill>
            <a:srgbClr val="243447"/>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914400" y="3657600"/>
            <a:ext cx="365760" cy="365760"/>
          </a:xfrm>
          <a:prstGeom prst="rect">
            <a:avLst/>
          </a:prstGeom>
        </p:spPr>
      </p:pic>
      <p:sp>
        <p:nvSpPr>
          <p:cNvPr id="15" name="Text 10"/>
          <p:cNvSpPr/>
          <p:nvPr/>
        </p:nvSpPr>
        <p:spPr>
          <a:xfrm>
            <a:off x="1463040" y="3520440"/>
            <a:ext cx="2286000" cy="640080"/>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Depth of testing</a:t>
            </a:r>
            <a:endParaRPr lang="en-US" sz="1600" dirty="0"/>
          </a:p>
        </p:txBody>
      </p:sp>
      <p:sp>
        <p:nvSpPr>
          <p:cNvPr id="16" name="Text 11"/>
          <p:cNvSpPr/>
          <p:nvPr/>
        </p:nvSpPr>
        <p:spPr>
          <a:xfrm>
            <a:off x="3840480" y="3520440"/>
            <a:ext cx="438912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How thoroughly to test each area</a:t>
            </a:r>
            <a:endParaRPr lang="en-US" sz="1400" dirty="0"/>
          </a:p>
        </p:txBody>
      </p:sp>
      <p:sp>
        <p:nvSpPr>
          <p:cNvPr id="17" name="Shape 12"/>
          <p:cNvSpPr/>
          <p:nvPr/>
        </p:nvSpPr>
        <p:spPr>
          <a:xfrm>
            <a:off x="731520" y="4206240"/>
            <a:ext cx="7680960" cy="640080"/>
          </a:xfrm>
          <a:prstGeom prst="rect">
            <a:avLst/>
          </a:prstGeom>
          <a:solidFill>
            <a:srgbClr val="0F766E"/>
          </a:solidFill>
          <a:ln/>
        </p:spPr>
        <p:txBody>
          <a:bodyPr/>
          <a:lstStyle/>
          <a:p>
            <a:endParaRPr lang="en-US"/>
          </a:p>
        </p:txBody>
      </p:sp>
      <p:sp>
        <p:nvSpPr>
          <p:cNvPr id="18" name="Text 13"/>
          <p:cNvSpPr/>
          <p:nvPr/>
        </p:nvSpPr>
        <p:spPr>
          <a:xfrm>
            <a:off x="914400" y="4206240"/>
            <a:ext cx="7315200" cy="640080"/>
          </a:xfrm>
          <a:prstGeom prst="rect">
            <a:avLst/>
          </a:prstGeom>
          <a:noFill/>
          <a:ln/>
        </p:spPr>
        <p:txBody>
          <a:bodyPr wrap="square" lIns="0" tIns="0" rIns="0" bIns="0" rtlCol="0" anchor="ctr"/>
          <a:lstStyle/>
          <a:p>
            <a:pPr marL="0" indent="0" algn="ctr">
              <a:buNone/>
            </a:pPr>
            <a:r>
              <a:rPr lang="en-US" sz="1400" b="1" i="1" dirty="0">
                <a:solidFill>
                  <a:srgbClr val="FFFFFF"/>
                </a:solidFill>
                <a:latin typeface="Calibri" pitchFamily="34" charset="0"/>
                <a:ea typeface="Calibri" pitchFamily="34" charset="-122"/>
                <a:cs typeface="Calibri" pitchFamily="34" charset="-120"/>
              </a:rPr>
              <a:t>The goal is not a perfect score — it is a shared, discussable ranking.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The Risk Analysis Process</a:t>
            </a:r>
            <a:endParaRPr lang="en-US" sz="3000" dirty="0"/>
          </a:p>
        </p:txBody>
      </p:sp>
      <p:sp>
        <p:nvSpPr>
          <p:cNvPr id="3" name="Shape 1"/>
          <p:cNvSpPr/>
          <p:nvPr/>
        </p:nvSpPr>
        <p:spPr>
          <a:xfrm>
            <a:off x="548640" y="96012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4" name="Shape 2"/>
          <p:cNvSpPr/>
          <p:nvPr/>
        </p:nvSpPr>
        <p:spPr>
          <a:xfrm>
            <a:off x="685800" y="1097280"/>
            <a:ext cx="502920" cy="502920"/>
          </a:xfrm>
          <a:prstGeom prst="ellipse">
            <a:avLst/>
          </a:prstGeom>
          <a:solidFill>
            <a:srgbClr val="1B2A3D"/>
          </a:solidFill>
          <a:ln/>
        </p:spPr>
        <p:txBody>
          <a:bodyPr/>
          <a:lstStyle/>
          <a:p>
            <a:endParaRPr lang="en-US"/>
          </a:p>
        </p:txBody>
      </p:sp>
      <p:sp>
        <p:nvSpPr>
          <p:cNvPr id="5" name="Text 3"/>
          <p:cNvSpPr/>
          <p:nvPr/>
        </p:nvSpPr>
        <p:spPr>
          <a:xfrm>
            <a:off x="685800" y="109728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1</a:t>
            </a:r>
            <a:endParaRPr lang="en-US" sz="1600" dirty="0"/>
          </a:p>
        </p:txBody>
      </p:sp>
      <p:sp>
        <p:nvSpPr>
          <p:cNvPr id="6" name="Text 4"/>
          <p:cNvSpPr/>
          <p:nvPr/>
        </p:nvSpPr>
        <p:spPr>
          <a:xfrm>
            <a:off x="1325880" y="96012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Form a Brainstorming Team</a:t>
            </a:r>
            <a:endParaRPr lang="en-US" sz="1400" dirty="0"/>
          </a:p>
        </p:txBody>
      </p:sp>
      <p:sp>
        <p:nvSpPr>
          <p:cNvPr id="7" name="Shape 5"/>
          <p:cNvSpPr/>
          <p:nvPr/>
        </p:nvSpPr>
        <p:spPr>
          <a:xfrm>
            <a:off x="4800600" y="96012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4937760" y="1097280"/>
            <a:ext cx="502920" cy="502920"/>
          </a:xfrm>
          <a:prstGeom prst="ellipse">
            <a:avLst/>
          </a:prstGeom>
          <a:solidFill>
            <a:srgbClr val="1B2A3D"/>
          </a:solidFill>
          <a:ln/>
        </p:spPr>
        <p:txBody>
          <a:bodyPr/>
          <a:lstStyle/>
          <a:p>
            <a:endParaRPr lang="en-US"/>
          </a:p>
        </p:txBody>
      </p:sp>
      <p:sp>
        <p:nvSpPr>
          <p:cNvPr id="9" name="Text 7"/>
          <p:cNvSpPr/>
          <p:nvPr/>
        </p:nvSpPr>
        <p:spPr>
          <a:xfrm>
            <a:off x="4937760" y="109728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2</a:t>
            </a:r>
            <a:endParaRPr lang="en-US" sz="1600" dirty="0"/>
          </a:p>
        </p:txBody>
      </p:sp>
      <p:sp>
        <p:nvSpPr>
          <p:cNvPr id="10" name="Text 8"/>
          <p:cNvSpPr/>
          <p:nvPr/>
        </p:nvSpPr>
        <p:spPr>
          <a:xfrm>
            <a:off x="5577840" y="96012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Compile Your Inventories</a:t>
            </a:r>
            <a:endParaRPr lang="en-US" sz="1400" dirty="0"/>
          </a:p>
        </p:txBody>
      </p:sp>
      <p:sp>
        <p:nvSpPr>
          <p:cNvPr id="11" name="Shape 9"/>
          <p:cNvSpPr/>
          <p:nvPr/>
        </p:nvSpPr>
        <p:spPr>
          <a:xfrm>
            <a:off x="548640" y="192024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10"/>
          <p:cNvSpPr/>
          <p:nvPr/>
        </p:nvSpPr>
        <p:spPr>
          <a:xfrm>
            <a:off x="685800" y="2057400"/>
            <a:ext cx="502920" cy="502920"/>
          </a:xfrm>
          <a:prstGeom prst="ellipse">
            <a:avLst/>
          </a:prstGeom>
          <a:solidFill>
            <a:srgbClr val="1B2A3D"/>
          </a:solidFill>
          <a:ln/>
        </p:spPr>
        <p:txBody>
          <a:bodyPr/>
          <a:lstStyle/>
          <a:p>
            <a:endParaRPr lang="en-US"/>
          </a:p>
        </p:txBody>
      </p:sp>
      <p:sp>
        <p:nvSpPr>
          <p:cNvPr id="13" name="Text 11"/>
          <p:cNvSpPr/>
          <p:nvPr/>
        </p:nvSpPr>
        <p:spPr>
          <a:xfrm>
            <a:off x="685800" y="205740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3</a:t>
            </a:r>
            <a:endParaRPr lang="en-US" sz="1600" dirty="0"/>
          </a:p>
        </p:txBody>
      </p:sp>
      <p:sp>
        <p:nvSpPr>
          <p:cNvPr id="14" name="Text 12"/>
          <p:cNvSpPr/>
          <p:nvPr/>
        </p:nvSpPr>
        <p:spPr>
          <a:xfrm>
            <a:off x="1325880" y="192024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Determine Likelihood of Failure</a:t>
            </a:r>
            <a:endParaRPr lang="en-US" sz="1400" dirty="0"/>
          </a:p>
        </p:txBody>
      </p:sp>
      <p:sp>
        <p:nvSpPr>
          <p:cNvPr id="15" name="Shape 13"/>
          <p:cNvSpPr/>
          <p:nvPr/>
        </p:nvSpPr>
        <p:spPr>
          <a:xfrm>
            <a:off x="4800600" y="192024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6" name="Shape 14"/>
          <p:cNvSpPr/>
          <p:nvPr/>
        </p:nvSpPr>
        <p:spPr>
          <a:xfrm>
            <a:off x="4937760" y="2057400"/>
            <a:ext cx="502920" cy="502920"/>
          </a:xfrm>
          <a:prstGeom prst="ellipse">
            <a:avLst/>
          </a:prstGeom>
          <a:solidFill>
            <a:srgbClr val="1B2A3D"/>
          </a:solidFill>
          <a:ln/>
        </p:spPr>
        <p:txBody>
          <a:bodyPr/>
          <a:lstStyle/>
          <a:p>
            <a:endParaRPr lang="en-US"/>
          </a:p>
        </p:txBody>
      </p:sp>
      <p:sp>
        <p:nvSpPr>
          <p:cNvPr id="17" name="Text 15"/>
          <p:cNvSpPr/>
          <p:nvPr/>
        </p:nvSpPr>
        <p:spPr>
          <a:xfrm>
            <a:off x="4937760" y="205740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4</a:t>
            </a:r>
            <a:endParaRPr lang="en-US" sz="1600" dirty="0"/>
          </a:p>
        </p:txBody>
      </p:sp>
      <p:sp>
        <p:nvSpPr>
          <p:cNvPr id="18" name="Text 16"/>
          <p:cNvSpPr/>
          <p:nvPr/>
        </p:nvSpPr>
        <p:spPr>
          <a:xfrm>
            <a:off x="5577840" y="192024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Determine Impact of Failure</a:t>
            </a:r>
            <a:endParaRPr lang="en-US" sz="1400" dirty="0"/>
          </a:p>
        </p:txBody>
      </p:sp>
      <p:sp>
        <p:nvSpPr>
          <p:cNvPr id="19" name="Shape 17"/>
          <p:cNvSpPr/>
          <p:nvPr/>
        </p:nvSpPr>
        <p:spPr>
          <a:xfrm>
            <a:off x="548640" y="288036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0" name="Shape 18"/>
          <p:cNvSpPr/>
          <p:nvPr/>
        </p:nvSpPr>
        <p:spPr>
          <a:xfrm>
            <a:off x="685800" y="3017520"/>
            <a:ext cx="502920" cy="502920"/>
          </a:xfrm>
          <a:prstGeom prst="ellipse">
            <a:avLst/>
          </a:prstGeom>
          <a:solidFill>
            <a:srgbClr val="1B2A3D"/>
          </a:solidFill>
          <a:ln/>
        </p:spPr>
        <p:txBody>
          <a:bodyPr/>
          <a:lstStyle/>
          <a:p>
            <a:endParaRPr lang="en-US"/>
          </a:p>
        </p:txBody>
      </p:sp>
      <p:sp>
        <p:nvSpPr>
          <p:cNvPr id="21" name="Text 19"/>
          <p:cNvSpPr/>
          <p:nvPr/>
        </p:nvSpPr>
        <p:spPr>
          <a:xfrm>
            <a:off x="685800" y="301752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5</a:t>
            </a:r>
            <a:endParaRPr lang="en-US" sz="1600" dirty="0"/>
          </a:p>
        </p:txBody>
      </p:sp>
      <p:sp>
        <p:nvSpPr>
          <p:cNvPr id="22" name="Text 20"/>
          <p:cNvSpPr/>
          <p:nvPr/>
        </p:nvSpPr>
        <p:spPr>
          <a:xfrm>
            <a:off x="1325880" y="288036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Assign Numerical Values</a:t>
            </a:r>
            <a:endParaRPr lang="en-US" sz="1400" dirty="0"/>
          </a:p>
        </p:txBody>
      </p:sp>
      <p:sp>
        <p:nvSpPr>
          <p:cNvPr id="23" name="Shape 21"/>
          <p:cNvSpPr/>
          <p:nvPr/>
        </p:nvSpPr>
        <p:spPr>
          <a:xfrm>
            <a:off x="4800600" y="288036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4" name="Shape 22"/>
          <p:cNvSpPr/>
          <p:nvPr/>
        </p:nvSpPr>
        <p:spPr>
          <a:xfrm>
            <a:off x="4937760" y="3017520"/>
            <a:ext cx="502920" cy="502920"/>
          </a:xfrm>
          <a:prstGeom prst="ellipse">
            <a:avLst/>
          </a:prstGeom>
          <a:solidFill>
            <a:srgbClr val="1B2A3D"/>
          </a:solidFill>
          <a:ln/>
        </p:spPr>
        <p:txBody>
          <a:bodyPr/>
          <a:lstStyle/>
          <a:p>
            <a:endParaRPr lang="en-US"/>
          </a:p>
        </p:txBody>
      </p:sp>
      <p:sp>
        <p:nvSpPr>
          <p:cNvPr id="25" name="Text 23"/>
          <p:cNvSpPr/>
          <p:nvPr/>
        </p:nvSpPr>
        <p:spPr>
          <a:xfrm>
            <a:off x="4937760" y="301752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6</a:t>
            </a:r>
            <a:endParaRPr lang="en-US" sz="1600" dirty="0"/>
          </a:p>
        </p:txBody>
      </p:sp>
      <p:sp>
        <p:nvSpPr>
          <p:cNvPr id="26" name="Text 24"/>
          <p:cNvSpPr/>
          <p:nvPr/>
        </p:nvSpPr>
        <p:spPr>
          <a:xfrm>
            <a:off x="5577840" y="288036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Compute Risk Priority</a:t>
            </a:r>
            <a:endParaRPr lang="en-US" sz="1400" dirty="0"/>
          </a:p>
        </p:txBody>
      </p:sp>
      <p:sp>
        <p:nvSpPr>
          <p:cNvPr id="27" name="Shape 25"/>
          <p:cNvSpPr/>
          <p:nvPr/>
        </p:nvSpPr>
        <p:spPr>
          <a:xfrm>
            <a:off x="548640" y="384048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8" name="Shape 26"/>
          <p:cNvSpPr/>
          <p:nvPr/>
        </p:nvSpPr>
        <p:spPr>
          <a:xfrm>
            <a:off x="685800" y="3977640"/>
            <a:ext cx="502920" cy="502920"/>
          </a:xfrm>
          <a:prstGeom prst="ellipse">
            <a:avLst/>
          </a:prstGeom>
          <a:solidFill>
            <a:srgbClr val="1B2A3D"/>
          </a:solidFill>
          <a:ln/>
        </p:spPr>
        <p:txBody>
          <a:bodyPr/>
          <a:lstStyle/>
          <a:p>
            <a:endParaRPr lang="en-US"/>
          </a:p>
        </p:txBody>
      </p:sp>
      <p:sp>
        <p:nvSpPr>
          <p:cNvPr id="29" name="Text 27"/>
          <p:cNvSpPr/>
          <p:nvPr/>
        </p:nvSpPr>
        <p:spPr>
          <a:xfrm>
            <a:off x="685800" y="397764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7</a:t>
            </a:r>
            <a:endParaRPr lang="en-US" sz="1600" dirty="0"/>
          </a:p>
        </p:txBody>
      </p:sp>
      <p:sp>
        <p:nvSpPr>
          <p:cNvPr id="30" name="Text 28"/>
          <p:cNvSpPr/>
          <p:nvPr/>
        </p:nvSpPr>
        <p:spPr>
          <a:xfrm>
            <a:off x="1325880" y="384048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Review and Modify</a:t>
            </a:r>
            <a:endParaRPr lang="en-US" sz="1400" dirty="0"/>
          </a:p>
        </p:txBody>
      </p:sp>
      <p:sp>
        <p:nvSpPr>
          <p:cNvPr id="31" name="Shape 29"/>
          <p:cNvSpPr/>
          <p:nvPr/>
        </p:nvSpPr>
        <p:spPr>
          <a:xfrm>
            <a:off x="4800600" y="3840480"/>
            <a:ext cx="397764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2" name="Shape 30"/>
          <p:cNvSpPr/>
          <p:nvPr/>
        </p:nvSpPr>
        <p:spPr>
          <a:xfrm>
            <a:off x="4937760" y="3977640"/>
            <a:ext cx="502920" cy="502920"/>
          </a:xfrm>
          <a:prstGeom prst="ellipse">
            <a:avLst/>
          </a:prstGeom>
          <a:solidFill>
            <a:srgbClr val="1B2A3D"/>
          </a:solidFill>
          <a:ln/>
        </p:spPr>
        <p:txBody>
          <a:bodyPr/>
          <a:lstStyle/>
          <a:p>
            <a:endParaRPr lang="en-US"/>
          </a:p>
        </p:txBody>
      </p:sp>
      <p:sp>
        <p:nvSpPr>
          <p:cNvPr id="33" name="Text 31"/>
          <p:cNvSpPr/>
          <p:nvPr/>
        </p:nvSpPr>
        <p:spPr>
          <a:xfrm>
            <a:off x="4937760" y="3977640"/>
            <a:ext cx="502920" cy="50292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8</a:t>
            </a:r>
            <a:endParaRPr lang="en-US" sz="1600" dirty="0"/>
          </a:p>
        </p:txBody>
      </p:sp>
      <p:sp>
        <p:nvSpPr>
          <p:cNvPr id="34" name="Text 32"/>
          <p:cNvSpPr/>
          <p:nvPr/>
        </p:nvSpPr>
        <p:spPr>
          <a:xfrm>
            <a:off x="5577840" y="3840480"/>
            <a:ext cx="3017520" cy="7772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Prioritize and Establish Cut-Lines</a:t>
            </a:r>
            <a:endParaRPr lang="en-US" sz="1400" dirty="0"/>
          </a:p>
        </p:txBody>
      </p:sp>
      <p:sp>
        <p:nvSpPr>
          <p:cNvPr id="35" name="Shape 33"/>
          <p:cNvSpPr/>
          <p:nvPr/>
        </p:nvSpPr>
        <p:spPr>
          <a:xfrm>
            <a:off x="548640" y="4617720"/>
            <a:ext cx="8046720" cy="365760"/>
          </a:xfrm>
          <a:prstGeom prst="rect">
            <a:avLst/>
          </a:prstGeom>
          <a:solidFill>
            <a:srgbClr val="CCFBF1"/>
          </a:solidFill>
          <a:ln/>
        </p:spPr>
        <p:txBody>
          <a:bodyPr/>
          <a:lstStyle/>
          <a:p>
            <a:endParaRPr lang="en-US"/>
          </a:p>
        </p:txBody>
      </p:sp>
      <p:sp>
        <p:nvSpPr>
          <p:cNvPr id="36" name="Text 34"/>
          <p:cNvSpPr/>
          <p:nvPr/>
        </p:nvSpPr>
        <p:spPr>
          <a:xfrm>
            <a:off x="731520" y="4617720"/>
            <a:ext cx="7680960" cy="365760"/>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This process can be completed in a single working session.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B2A3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234440" y="640080"/>
            <a:ext cx="731520" cy="731520"/>
          </a:xfrm>
          <a:prstGeom prst="rect">
            <a:avLst/>
          </a:prstGeom>
        </p:spPr>
      </p:pic>
      <p:sp>
        <p:nvSpPr>
          <p:cNvPr id="4" name="Text 1"/>
          <p:cNvSpPr/>
          <p:nvPr/>
        </p:nvSpPr>
        <p:spPr>
          <a:xfrm>
            <a:off x="365760" y="1463040"/>
            <a:ext cx="2468880" cy="109728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Step 1</a:t>
            </a:r>
            <a:endParaRPr lang="en-US" sz="2400" dirty="0"/>
          </a:p>
          <a:p>
            <a:pPr marL="0" indent="0" algn="ctr">
              <a:buNone/>
            </a:pPr>
            <a:r>
              <a:rPr lang="en-US" sz="2400" b="1" dirty="0">
                <a:solidFill>
                  <a:srgbClr val="FFFFFF"/>
                </a:solidFill>
                <a:latin typeface="Trebuchet MS" pitchFamily="34" charset="0"/>
                <a:ea typeface="Trebuchet MS" pitchFamily="34" charset="-122"/>
                <a:cs typeface="Trebuchet MS" pitchFamily="34" charset="-120"/>
              </a:rPr>
              <a:t>Form the Team</a:t>
            </a:r>
            <a:endParaRPr lang="en-US" sz="2400" dirty="0"/>
          </a:p>
        </p:txBody>
      </p:sp>
      <p:sp>
        <p:nvSpPr>
          <p:cNvPr id="5" name="Text 2"/>
          <p:cNvSpPr/>
          <p:nvPr/>
        </p:nvSpPr>
        <p:spPr>
          <a:xfrm>
            <a:off x="365760" y="2926080"/>
            <a:ext cx="2468880" cy="1097280"/>
          </a:xfrm>
          <a:prstGeom prst="rect">
            <a:avLst/>
          </a:prstGeom>
          <a:noFill/>
          <a:ln/>
        </p:spPr>
        <p:txBody>
          <a:bodyPr wrap="square" lIns="0" tIns="0" rIns="0" bIns="0" rtlCol="0" anchor="ctr"/>
          <a:lstStyle/>
          <a:p>
            <a:pPr marL="0" indent="0" algn="ctr">
              <a:lnSpc>
                <a:spcPct val="160000"/>
              </a:lnSpc>
              <a:buNone/>
            </a:pPr>
            <a:r>
              <a:rPr lang="en-US" sz="1300" dirty="0">
                <a:solidFill>
                  <a:srgbClr val="0D9488"/>
                </a:solidFill>
                <a:latin typeface="Calibri" pitchFamily="34" charset="0"/>
                <a:ea typeface="Calibri" pitchFamily="34" charset="-122"/>
                <a:cs typeface="Calibri" pitchFamily="34" charset="-120"/>
              </a:rPr>
              <a:t>3–7 people</a:t>
            </a:r>
            <a:endParaRPr lang="en-US" sz="1300" dirty="0"/>
          </a:p>
          <a:p>
            <a:pPr marL="0" indent="0" algn="ctr">
              <a:lnSpc>
                <a:spcPct val="160000"/>
              </a:lnSpc>
              <a:buNone/>
            </a:pPr>
            <a:r>
              <a:rPr lang="en-US" sz="1300" dirty="0">
                <a:solidFill>
                  <a:srgbClr val="0D9488"/>
                </a:solidFill>
                <a:latin typeface="Calibri" pitchFamily="34" charset="0"/>
                <a:ea typeface="Calibri" pitchFamily="34" charset="-122"/>
                <a:cs typeface="Calibri" pitchFamily="34" charset="-120"/>
              </a:rPr>
              <a:t>Diverse viewpoints</a:t>
            </a:r>
            <a:endParaRPr lang="en-US" sz="1300" dirty="0"/>
          </a:p>
          <a:p>
            <a:pPr marL="0" indent="0" algn="ctr">
              <a:lnSpc>
                <a:spcPct val="160000"/>
              </a:lnSpc>
              <a:buNone/>
            </a:pPr>
            <a:r>
              <a:rPr lang="en-US" sz="1300" dirty="0">
                <a:solidFill>
                  <a:srgbClr val="0D9488"/>
                </a:solidFill>
                <a:latin typeface="Calibri" pitchFamily="34" charset="0"/>
                <a:ea typeface="Calibri" pitchFamily="34" charset="-122"/>
                <a:cs typeface="Calibri" pitchFamily="34" charset="-120"/>
              </a:rPr>
              <a:t>Customer awareness</a:t>
            </a:r>
            <a:endParaRPr lang="en-US" sz="1300" dirty="0"/>
          </a:p>
        </p:txBody>
      </p:sp>
      <p:sp>
        <p:nvSpPr>
          <p:cNvPr id="6" name="Text 3"/>
          <p:cNvSpPr/>
          <p:nvPr/>
        </p:nvSpPr>
        <p:spPr>
          <a:xfrm>
            <a:off x="3566160" y="457200"/>
            <a:ext cx="5303520" cy="45720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Same team as the inventory session — or expand it.</a:t>
            </a:r>
            <a:endParaRPr lang="en-US" sz="1500" dirty="0"/>
          </a:p>
        </p:txBody>
      </p:sp>
      <p:sp>
        <p:nvSpPr>
          <p:cNvPr id="7" name="Text 4"/>
          <p:cNvSpPr/>
          <p:nvPr/>
        </p:nvSpPr>
        <p:spPr>
          <a:xfrm>
            <a:off x="3566160" y="1097280"/>
            <a:ext cx="530352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For risk analysis, include people who understand:</a:t>
            </a:r>
            <a:endParaRPr lang="en-US" sz="1400" dirty="0"/>
          </a:p>
        </p:txBody>
      </p:sp>
      <p:sp>
        <p:nvSpPr>
          <p:cNvPr id="8" name="Shape 5"/>
          <p:cNvSpPr/>
          <p:nvPr/>
        </p:nvSpPr>
        <p:spPr>
          <a:xfrm>
            <a:off x="3566160" y="1645920"/>
            <a:ext cx="5029200" cy="502920"/>
          </a:xfrm>
          <a:prstGeom prst="rect">
            <a:avLst/>
          </a:prstGeom>
          <a:solidFill>
            <a:srgbClr val="F5F7FA"/>
          </a:solidFill>
          <a:ln/>
        </p:spPr>
        <p:txBody>
          <a:bodyPr/>
          <a:lstStyle/>
          <a:p>
            <a:endParaRPr lang="en-US"/>
          </a:p>
        </p:txBody>
      </p:sp>
      <p:sp>
        <p:nvSpPr>
          <p:cNvPr id="9" name="Text 6"/>
          <p:cNvSpPr/>
          <p:nvPr/>
        </p:nvSpPr>
        <p:spPr>
          <a:xfrm>
            <a:off x="3749040" y="1645920"/>
            <a:ext cx="20116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Technical complexity</a:t>
            </a:r>
            <a:endParaRPr lang="en-US" sz="1300" dirty="0"/>
          </a:p>
        </p:txBody>
      </p:sp>
      <p:sp>
        <p:nvSpPr>
          <p:cNvPr id="10" name="Text 7"/>
          <p:cNvSpPr/>
          <p:nvPr/>
        </p:nvSpPr>
        <p:spPr>
          <a:xfrm>
            <a:off x="5760720" y="1645920"/>
            <a:ext cx="265176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Developers, architects</a:t>
            </a:r>
            <a:endParaRPr lang="en-US" sz="1200" dirty="0"/>
          </a:p>
        </p:txBody>
      </p:sp>
      <p:sp>
        <p:nvSpPr>
          <p:cNvPr id="11" name="Shape 8"/>
          <p:cNvSpPr/>
          <p:nvPr/>
        </p:nvSpPr>
        <p:spPr>
          <a:xfrm>
            <a:off x="3566160" y="2286000"/>
            <a:ext cx="5029200" cy="502920"/>
          </a:xfrm>
          <a:prstGeom prst="rect">
            <a:avLst/>
          </a:prstGeom>
          <a:solidFill>
            <a:srgbClr val="F5F7FA"/>
          </a:solidFill>
          <a:ln/>
        </p:spPr>
        <p:txBody>
          <a:bodyPr/>
          <a:lstStyle/>
          <a:p>
            <a:endParaRPr lang="en-US"/>
          </a:p>
        </p:txBody>
      </p:sp>
      <p:sp>
        <p:nvSpPr>
          <p:cNvPr id="12" name="Text 9"/>
          <p:cNvSpPr/>
          <p:nvPr/>
        </p:nvSpPr>
        <p:spPr>
          <a:xfrm>
            <a:off x="3749040" y="2286000"/>
            <a:ext cx="20116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Customer impact</a:t>
            </a:r>
            <a:endParaRPr lang="en-US" sz="1300" dirty="0"/>
          </a:p>
        </p:txBody>
      </p:sp>
      <p:sp>
        <p:nvSpPr>
          <p:cNvPr id="13" name="Text 10"/>
          <p:cNvSpPr/>
          <p:nvPr/>
        </p:nvSpPr>
        <p:spPr>
          <a:xfrm>
            <a:off x="5760720" y="2286000"/>
            <a:ext cx="265176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Support, product managers</a:t>
            </a:r>
            <a:endParaRPr lang="en-US" sz="1200" dirty="0"/>
          </a:p>
        </p:txBody>
      </p:sp>
      <p:sp>
        <p:nvSpPr>
          <p:cNvPr id="14" name="Shape 11"/>
          <p:cNvSpPr/>
          <p:nvPr/>
        </p:nvSpPr>
        <p:spPr>
          <a:xfrm>
            <a:off x="3566160" y="2926080"/>
            <a:ext cx="5029200" cy="502920"/>
          </a:xfrm>
          <a:prstGeom prst="rect">
            <a:avLst/>
          </a:prstGeom>
          <a:solidFill>
            <a:srgbClr val="F5F7FA"/>
          </a:solidFill>
          <a:ln/>
        </p:spPr>
        <p:txBody>
          <a:bodyPr/>
          <a:lstStyle/>
          <a:p>
            <a:endParaRPr lang="en-US"/>
          </a:p>
        </p:txBody>
      </p:sp>
      <p:sp>
        <p:nvSpPr>
          <p:cNvPr id="15" name="Text 12"/>
          <p:cNvSpPr/>
          <p:nvPr/>
        </p:nvSpPr>
        <p:spPr>
          <a:xfrm>
            <a:off x="3749040" y="2926080"/>
            <a:ext cx="20116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Historical defects</a:t>
            </a:r>
            <a:endParaRPr lang="en-US" sz="1300" dirty="0"/>
          </a:p>
        </p:txBody>
      </p:sp>
      <p:sp>
        <p:nvSpPr>
          <p:cNvPr id="16" name="Text 13"/>
          <p:cNvSpPr/>
          <p:nvPr/>
        </p:nvSpPr>
        <p:spPr>
          <a:xfrm>
            <a:off x="5760720" y="2926080"/>
            <a:ext cx="265176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QA engineers, ops staff</a:t>
            </a:r>
            <a:endParaRPr lang="en-US" sz="1200" dirty="0"/>
          </a:p>
        </p:txBody>
      </p:sp>
      <p:sp>
        <p:nvSpPr>
          <p:cNvPr id="17" name="Shape 14"/>
          <p:cNvSpPr/>
          <p:nvPr/>
        </p:nvSpPr>
        <p:spPr>
          <a:xfrm>
            <a:off x="3566160" y="3566160"/>
            <a:ext cx="5029200" cy="502920"/>
          </a:xfrm>
          <a:prstGeom prst="rect">
            <a:avLst/>
          </a:prstGeom>
          <a:solidFill>
            <a:srgbClr val="F5F7FA"/>
          </a:solidFill>
          <a:ln/>
        </p:spPr>
        <p:txBody>
          <a:bodyPr/>
          <a:lstStyle/>
          <a:p>
            <a:endParaRPr lang="en-US"/>
          </a:p>
        </p:txBody>
      </p:sp>
      <p:sp>
        <p:nvSpPr>
          <p:cNvPr id="18" name="Text 15"/>
          <p:cNvSpPr/>
          <p:nvPr/>
        </p:nvSpPr>
        <p:spPr>
          <a:xfrm>
            <a:off x="3749040" y="3566160"/>
            <a:ext cx="20116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Business criticality</a:t>
            </a:r>
            <a:endParaRPr lang="en-US" sz="1300" dirty="0"/>
          </a:p>
        </p:txBody>
      </p:sp>
      <p:sp>
        <p:nvSpPr>
          <p:cNvPr id="19" name="Text 16"/>
          <p:cNvSpPr/>
          <p:nvPr/>
        </p:nvSpPr>
        <p:spPr>
          <a:xfrm>
            <a:off x="5760720" y="3566160"/>
            <a:ext cx="265176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Product, leadership</a:t>
            </a:r>
            <a:endParaRPr lang="en-US" sz="1200" dirty="0"/>
          </a:p>
        </p:txBody>
      </p:sp>
      <p:sp>
        <p:nvSpPr>
          <p:cNvPr id="20" name="Shape 17"/>
          <p:cNvSpPr/>
          <p:nvPr/>
        </p:nvSpPr>
        <p:spPr>
          <a:xfrm>
            <a:off x="3566160" y="4114800"/>
            <a:ext cx="5029200" cy="731520"/>
          </a:xfrm>
          <a:prstGeom prst="rect">
            <a:avLst/>
          </a:prstGeom>
          <a:solidFill>
            <a:srgbClr val="CCFBF1"/>
          </a:solidFill>
          <a:ln/>
        </p:spPr>
        <p:txBody>
          <a:bodyPr/>
          <a:lstStyle/>
          <a:p>
            <a:endParaRPr lang="en-US"/>
          </a:p>
        </p:txBody>
      </p:sp>
      <p:sp>
        <p:nvSpPr>
          <p:cNvPr id="21" name="Text 18"/>
          <p:cNvSpPr/>
          <p:nvPr/>
        </p:nvSpPr>
        <p:spPr>
          <a:xfrm>
            <a:off x="3749040" y="4114800"/>
            <a:ext cx="4663440" cy="731520"/>
          </a:xfrm>
          <a:prstGeom prst="rect">
            <a:avLst/>
          </a:prstGeom>
          <a:noFill/>
          <a:ln/>
        </p:spPr>
        <p:txBody>
          <a:bodyPr wrap="square" lIns="0" tIns="0" rIns="0" bIns="0" rtlCol="0" anchor="ctr"/>
          <a:lstStyle/>
          <a:p>
            <a:pPr marL="0" indent="0">
              <a:buNone/>
            </a:pPr>
            <a:r>
              <a:rPr lang="en-US" sz="1200" i="1" dirty="0">
                <a:solidFill>
                  <a:srgbClr val="0F766E"/>
                </a:solidFill>
                <a:latin typeface="Calibri" pitchFamily="34" charset="0"/>
                <a:ea typeface="Calibri" pitchFamily="34" charset="-122"/>
                <a:cs typeface="Calibri" pitchFamily="34" charset="-120"/>
              </a:rPr>
              <a:t>Risk perception varies by role — that diversity is the point.</a:t>
            </a:r>
            <a:endParaRPr lang="en-US" sz="1200" dirty="0"/>
          </a:p>
          <a:p>
            <a:pPr marL="0" indent="0">
              <a:buNone/>
            </a:pPr>
            <a:r>
              <a:rPr lang="en-US" sz="1200" i="1" dirty="0">
                <a:solidFill>
                  <a:srgbClr val="0F766E"/>
                </a:solidFill>
                <a:latin typeface="Calibri" pitchFamily="34" charset="0"/>
                <a:ea typeface="Calibri" pitchFamily="34" charset="-122"/>
                <a:cs typeface="Calibri" pitchFamily="34" charset="-120"/>
              </a:rPr>
              <a:t>No single person has the full picture.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Step 2: Compile Your Inventories</a:t>
            </a:r>
            <a:endParaRPr lang="en-US" sz="3000" dirty="0"/>
          </a:p>
        </p:txBody>
      </p:sp>
      <p:sp>
        <p:nvSpPr>
          <p:cNvPr id="3" name="Text 1"/>
          <p:cNvSpPr/>
          <p:nvPr/>
        </p:nvSpPr>
        <p:spPr>
          <a:xfrm>
            <a:off x="548640" y="82296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If you completed Part 1, you already have these.</a:t>
            </a:r>
            <a:endParaRPr lang="en-US" sz="1500" dirty="0"/>
          </a:p>
        </p:txBody>
      </p:sp>
      <p:sp>
        <p:nvSpPr>
          <p:cNvPr id="4" name="Shape 2"/>
          <p:cNvSpPr/>
          <p:nvPr/>
        </p:nvSpPr>
        <p:spPr>
          <a:xfrm>
            <a:off x="548640" y="1325880"/>
            <a:ext cx="2606040" cy="411480"/>
          </a:xfrm>
          <a:prstGeom prst="rect">
            <a:avLst/>
          </a:prstGeom>
          <a:solidFill>
            <a:srgbClr val="0F766E"/>
          </a:solidFill>
          <a:ln/>
        </p:spPr>
        <p:txBody>
          <a:bodyPr/>
          <a:lstStyle/>
          <a:p>
            <a:endParaRPr lang="en-US"/>
          </a:p>
        </p:txBody>
      </p:sp>
      <p:sp>
        <p:nvSpPr>
          <p:cNvPr id="5" name="Text 3"/>
          <p:cNvSpPr/>
          <p:nvPr/>
        </p:nvSpPr>
        <p:spPr>
          <a:xfrm>
            <a:off x="685800" y="132588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Authentication</a:t>
            </a:r>
            <a:endParaRPr lang="en-US" sz="1300" dirty="0"/>
          </a:p>
        </p:txBody>
      </p:sp>
      <p:sp>
        <p:nvSpPr>
          <p:cNvPr id="6" name="Shape 4"/>
          <p:cNvSpPr/>
          <p:nvPr/>
        </p:nvSpPr>
        <p:spPr>
          <a:xfrm>
            <a:off x="548640" y="1737360"/>
            <a:ext cx="2606040" cy="12618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7" name="Text 5"/>
          <p:cNvSpPr/>
          <p:nvPr/>
        </p:nvSpPr>
        <p:spPr>
          <a:xfrm>
            <a:off x="731520" y="1828800"/>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Login / Logout</a:t>
            </a:r>
            <a:endParaRPr lang="en-US" sz="1100" dirty="0"/>
          </a:p>
        </p:txBody>
      </p:sp>
      <p:sp>
        <p:nvSpPr>
          <p:cNvPr id="8" name="Text 6"/>
          <p:cNvSpPr/>
          <p:nvPr/>
        </p:nvSpPr>
        <p:spPr>
          <a:xfrm>
            <a:off x="731520" y="2121408"/>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Password Reset</a:t>
            </a:r>
            <a:endParaRPr lang="en-US" sz="1100" dirty="0"/>
          </a:p>
        </p:txBody>
      </p:sp>
      <p:sp>
        <p:nvSpPr>
          <p:cNvPr id="9" name="Text 7"/>
          <p:cNvSpPr/>
          <p:nvPr/>
        </p:nvSpPr>
        <p:spPr>
          <a:xfrm>
            <a:off x="731520" y="2414016"/>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Session Timeout</a:t>
            </a:r>
            <a:endParaRPr lang="en-US" sz="1100" dirty="0"/>
          </a:p>
        </p:txBody>
      </p:sp>
      <p:sp>
        <p:nvSpPr>
          <p:cNvPr id="10" name="Shape 8"/>
          <p:cNvSpPr/>
          <p:nvPr/>
        </p:nvSpPr>
        <p:spPr>
          <a:xfrm>
            <a:off x="3291840" y="1325880"/>
            <a:ext cx="2606040" cy="411480"/>
          </a:xfrm>
          <a:prstGeom prst="rect">
            <a:avLst/>
          </a:prstGeom>
          <a:solidFill>
            <a:srgbClr val="0F766E"/>
          </a:solidFill>
          <a:ln/>
        </p:spPr>
        <p:txBody>
          <a:bodyPr/>
          <a:lstStyle/>
          <a:p>
            <a:endParaRPr lang="en-US"/>
          </a:p>
        </p:txBody>
      </p:sp>
      <p:sp>
        <p:nvSpPr>
          <p:cNvPr id="11" name="Text 9"/>
          <p:cNvSpPr/>
          <p:nvPr/>
        </p:nvSpPr>
        <p:spPr>
          <a:xfrm>
            <a:off x="3429000" y="132588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Shopping Cart</a:t>
            </a:r>
            <a:endParaRPr lang="en-US" sz="1300" dirty="0"/>
          </a:p>
        </p:txBody>
      </p:sp>
      <p:sp>
        <p:nvSpPr>
          <p:cNvPr id="12" name="Shape 10"/>
          <p:cNvSpPr/>
          <p:nvPr/>
        </p:nvSpPr>
        <p:spPr>
          <a:xfrm>
            <a:off x="3291840" y="1737360"/>
            <a:ext cx="2606040" cy="12618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Text 11"/>
          <p:cNvSpPr/>
          <p:nvPr/>
        </p:nvSpPr>
        <p:spPr>
          <a:xfrm>
            <a:off x="3474720" y="1828800"/>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Add to Cart</a:t>
            </a:r>
            <a:endParaRPr lang="en-US" sz="1100" dirty="0"/>
          </a:p>
        </p:txBody>
      </p:sp>
      <p:sp>
        <p:nvSpPr>
          <p:cNvPr id="14" name="Text 12"/>
          <p:cNvSpPr/>
          <p:nvPr/>
        </p:nvSpPr>
        <p:spPr>
          <a:xfrm>
            <a:off x="3474720" y="2121408"/>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Update Quantity</a:t>
            </a:r>
            <a:endParaRPr lang="en-US" sz="1100" dirty="0"/>
          </a:p>
        </p:txBody>
      </p:sp>
      <p:sp>
        <p:nvSpPr>
          <p:cNvPr id="15" name="Text 13"/>
          <p:cNvSpPr/>
          <p:nvPr/>
        </p:nvSpPr>
        <p:spPr>
          <a:xfrm>
            <a:off x="3474720" y="2414016"/>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Remove Item</a:t>
            </a:r>
            <a:endParaRPr lang="en-US" sz="1100" dirty="0"/>
          </a:p>
        </p:txBody>
      </p:sp>
      <p:sp>
        <p:nvSpPr>
          <p:cNvPr id="16" name="Shape 14"/>
          <p:cNvSpPr/>
          <p:nvPr/>
        </p:nvSpPr>
        <p:spPr>
          <a:xfrm>
            <a:off x="6035040" y="1325880"/>
            <a:ext cx="2606040" cy="411480"/>
          </a:xfrm>
          <a:prstGeom prst="rect">
            <a:avLst/>
          </a:prstGeom>
          <a:solidFill>
            <a:srgbClr val="0F766E"/>
          </a:solidFill>
          <a:ln/>
        </p:spPr>
        <p:txBody>
          <a:bodyPr/>
          <a:lstStyle/>
          <a:p>
            <a:endParaRPr lang="en-US"/>
          </a:p>
        </p:txBody>
      </p:sp>
      <p:sp>
        <p:nvSpPr>
          <p:cNvPr id="17" name="Text 15"/>
          <p:cNvSpPr/>
          <p:nvPr/>
        </p:nvSpPr>
        <p:spPr>
          <a:xfrm>
            <a:off x="6172200" y="132588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Checkout</a:t>
            </a:r>
            <a:endParaRPr lang="en-US" sz="1300" dirty="0"/>
          </a:p>
        </p:txBody>
      </p:sp>
      <p:sp>
        <p:nvSpPr>
          <p:cNvPr id="18" name="Shape 16"/>
          <p:cNvSpPr/>
          <p:nvPr/>
        </p:nvSpPr>
        <p:spPr>
          <a:xfrm>
            <a:off x="6035040" y="1737360"/>
            <a:ext cx="2606040" cy="1261872"/>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Text 17"/>
          <p:cNvSpPr/>
          <p:nvPr/>
        </p:nvSpPr>
        <p:spPr>
          <a:xfrm>
            <a:off x="6217920" y="1828800"/>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Credit Card Payment</a:t>
            </a:r>
            <a:endParaRPr lang="en-US" sz="1100" dirty="0"/>
          </a:p>
        </p:txBody>
      </p:sp>
      <p:sp>
        <p:nvSpPr>
          <p:cNvPr id="20" name="Text 18"/>
          <p:cNvSpPr/>
          <p:nvPr/>
        </p:nvSpPr>
        <p:spPr>
          <a:xfrm>
            <a:off x="6217920" y="2121408"/>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Guest Checkout</a:t>
            </a:r>
            <a:endParaRPr lang="en-US" sz="1100" dirty="0"/>
          </a:p>
        </p:txBody>
      </p:sp>
      <p:sp>
        <p:nvSpPr>
          <p:cNvPr id="21" name="Text 19"/>
          <p:cNvSpPr/>
          <p:nvPr/>
        </p:nvSpPr>
        <p:spPr>
          <a:xfrm>
            <a:off x="6217920" y="2414016"/>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Coupon Codes</a:t>
            </a:r>
            <a:endParaRPr lang="en-US" sz="1100" dirty="0"/>
          </a:p>
        </p:txBody>
      </p:sp>
      <p:sp>
        <p:nvSpPr>
          <p:cNvPr id="22" name="Text 20"/>
          <p:cNvSpPr/>
          <p:nvPr/>
        </p:nvSpPr>
        <p:spPr>
          <a:xfrm>
            <a:off x="6217920" y="2706624"/>
            <a:ext cx="224028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Tax Calculation</a:t>
            </a:r>
            <a:endParaRPr lang="en-US" sz="1100" dirty="0"/>
          </a:p>
        </p:txBody>
      </p:sp>
      <p:sp>
        <p:nvSpPr>
          <p:cNvPr id="23" name="Shape 21"/>
          <p:cNvSpPr/>
          <p:nvPr/>
        </p:nvSpPr>
        <p:spPr>
          <a:xfrm>
            <a:off x="548640" y="3227832"/>
            <a:ext cx="804672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731520" y="3429000"/>
            <a:ext cx="365760" cy="365760"/>
          </a:xfrm>
          <a:prstGeom prst="rect">
            <a:avLst/>
          </a:prstGeom>
        </p:spPr>
      </p:pic>
      <p:sp>
        <p:nvSpPr>
          <p:cNvPr id="25" name="Text 22"/>
          <p:cNvSpPr/>
          <p:nvPr/>
        </p:nvSpPr>
        <p:spPr>
          <a:xfrm>
            <a:off x="1234440" y="3227832"/>
            <a:ext cx="1463040" cy="8229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Starting Points:</a:t>
            </a:r>
            <a:endParaRPr lang="en-US" sz="1300" dirty="0"/>
          </a:p>
        </p:txBody>
      </p:sp>
      <p:sp>
        <p:nvSpPr>
          <p:cNvPr id="26" name="Text 23"/>
          <p:cNvSpPr/>
          <p:nvPr/>
        </p:nvSpPr>
        <p:spPr>
          <a:xfrm>
            <a:off x="2743200" y="3227832"/>
            <a:ext cx="5669280" cy="8229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Inventories from Part 1   •   Feature lists from test management tools   •   Requirements documents   •   Release notes / changelogs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Step 3: Determine Likelihood of Failure</a:t>
            </a:r>
            <a:endParaRPr lang="en-US" sz="2800" dirty="0"/>
          </a:p>
        </p:txBody>
      </p:sp>
      <p:sp>
        <p:nvSpPr>
          <p:cNvPr id="3" name="Text 1"/>
          <p:cNvSpPr/>
          <p:nvPr/>
        </p:nvSpPr>
        <p:spPr>
          <a:xfrm>
            <a:off x="548640" y="868680"/>
            <a:ext cx="8229600" cy="365760"/>
          </a:xfrm>
          <a:prstGeom prst="rect">
            <a:avLst/>
          </a:prstGeom>
          <a:noFill/>
          <a:ln/>
        </p:spPr>
        <p:txBody>
          <a:bodyPr wrap="square" lIns="0" tIns="0" rIns="0" bIns="0" rtlCol="0" anchor="ctr"/>
          <a:lstStyle/>
          <a:p>
            <a:pPr marL="0" indent="0">
              <a:buNone/>
            </a:pPr>
            <a:r>
              <a:rPr lang="en-US" sz="1400" i="1" dirty="0">
                <a:solidFill>
                  <a:srgbClr val="334155"/>
                </a:solidFill>
                <a:latin typeface="Calibri" pitchFamily="34" charset="0"/>
                <a:ea typeface="Calibri" pitchFamily="34" charset="-122"/>
                <a:cs typeface="Calibri" pitchFamily="34" charset="-120"/>
              </a:rPr>
              <a:t>For each inventory item: how likely is this to fail or behave incorrectly?</a:t>
            </a:r>
            <a:endParaRPr lang="en-US" sz="1400" dirty="0"/>
          </a:p>
        </p:txBody>
      </p:sp>
      <p:sp>
        <p:nvSpPr>
          <p:cNvPr id="4" name="Text 2"/>
          <p:cNvSpPr/>
          <p:nvPr/>
        </p:nvSpPr>
        <p:spPr>
          <a:xfrm>
            <a:off x="548640" y="1325880"/>
            <a:ext cx="27432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Consider:</a:t>
            </a:r>
            <a:endParaRPr lang="en-US" sz="1300" dirty="0"/>
          </a:p>
        </p:txBody>
      </p:sp>
      <p:sp>
        <p:nvSpPr>
          <p:cNvPr id="5" name="Text 3"/>
          <p:cNvSpPr/>
          <p:nvPr/>
        </p:nvSpPr>
        <p:spPr>
          <a:xfrm>
            <a:off x="731520" y="1645920"/>
            <a:ext cx="3200400" cy="2011680"/>
          </a:xfrm>
          <a:prstGeom prst="rect">
            <a:avLst/>
          </a:prstGeom>
          <a:noFill/>
          <a:ln/>
        </p:spPr>
        <p:txBody>
          <a:bodyPr wrap="square" lIns="0" tIns="0" rIns="0" bIns="0"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Code complexity</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Rate of change</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Historical defect density</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New vs. mature functionality</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Integration dependencies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Developer experience with area</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389120" y="1325880"/>
          <a:ext cx="4389120" cy="914400"/>
        </p:xfrm>
        <a:graphic>
          <a:graphicData uri="http://schemas.openxmlformats.org/drawingml/2006/table">
            <a:tbl>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Inventory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Likelihood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Login / Logout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Password Reset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9770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Add to Cart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Guest Checkout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Coupon Codes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9770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Tax Calculation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Update Quantity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548640" y="4297680"/>
            <a:ext cx="8046720" cy="548640"/>
          </a:xfrm>
          <a:prstGeom prst="rect">
            <a:avLst/>
          </a:prstGeom>
          <a:solidFill>
            <a:srgbClr val="CCFBF1"/>
          </a:solidFill>
          <a:ln/>
        </p:spPr>
        <p:txBody>
          <a:bodyPr/>
          <a:lstStyle/>
          <a:p>
            <a:endParaRPr lang="en-US"/>
          </a:p>
        </p:txBody>
      </p:sp>
      <p:sp>
        <p:nvSpPr>
          <p:cNvPr id="6" name="Text 5"/>
          <p:cNvSpPr/>
          <p:nvPr/>
        </p:nvSpPr>
        <p:spPr>
          <a:xfrm>
            <a:off x="731520" y="4297680"/>
            <a:ext cx="7680960" cy="548640"/>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Use High / Medium / Low.  Precision is not the goal — shared understanding 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Step 4: Determine Impact of Failure</a:t>
            </a:r>
            <a:endParaRPr lang="en-US" sz="2800" dirty="0"/>
          </a:p>
        </p:txBody>
      </p:sp>
      <p:sp>
        <p:nvSpPr>
          <p:cNvPr id="3" name="Text 1"/>
          <p:cNvSpPr/>
          <p:nvPr/>
        </p:nvSpPr>
        <p:spPr>
          <a:xfrm>
            <a:off x="548640" y="868680"/>
            <a:ext cx="8229600" cy="365760"/>
          </a:xfrm>
          <a:prstGeom prst="rect">
            <a:avLst/>
          </a:prstGeom>
          <a:noFill/>
          <a:ln/>
        </p:spPr>
        <p:txBody>
          <a:bodyPr wrap="square" lIns="0" tIns="0" rIns="0" bIns="0" rtlCol="0" anchor="ctr"/>
          <a:lstStyle/>
          <a:p>
            <a:pPr marL="0" indent="0">
              <a:buNone/>
            </a:pPr>
            <a:r>
              <a:rPr lang="en-US" sz="1400" i="1" dirty="0">
                <a:solidFill>
                  <a:srgbClr val="334155"/>
                </a:solidFill>
                <a:latin typeface="Calibri" pitchFamily="34" charset="0"/>
                <a:ea typeface="Calibri" pitchFamily="34" charset="-122"/>
                <a:cs typeface="Calibri" pitchFamily="34" charset="-120"/>
              </a:rPr>
              <a:t>For each inventory item: if this fails, what is the impact to the user or business?</a:t>
            </a:r>
            <a:endParaRPr lang="en-US" sz="1400" dirty="0"/>
          </a:p>
        </p:txBody>
      </p:sp>
      <p:sp>
        <p:nvSpPr>
          <p:cNvPr id="4" name="Text 2"/>
          <p:cNvSpPr/>
          <p:nvPr/>
        </p:nvSpPr>
        <p:spPr>
          <a:xfrm>
            <a:off x="548640" y="1325880"/>
            <a:ext cx="27432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Consider:</a:t>
            </a:r>
            <a:endParaRPr lang="en-US" sz="1300" dirty="0"/>
          </a:p>
        </p:txBody>
      </p:sp>
      <p:sp>
        <p:nvSpPr>
          <p:cNvPr id="5" name="Text 3"/>
          <p:cNvSpPr/>
          <p:nvPr/>
        </p:nvSpPr>
        <p:spPr>
          <a:xfrm>
            <a:off x="731520" y="1645920"/>
            <a:ext cx="3200400" cy="2011680"/>
          </a:xfrm>
          <a:prstGeom prst="rect">
            <a:avLst/>
          </a:prstGeom>
          <a:noFill/>
          <a:ln/>
        </p:spPr>
        <p:txBody>
          <a:bodyPr wrap="square" lIns="0" tIns="0" rIns="0" bIns="0"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Revenue impact</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User-facing vs. internal</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Data integrity risk</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Workaround availability</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Regulatory / compliance</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Number of users affected</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0" y="1325880"/>
          <a:ext cx="466344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Inventory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Likelihood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Login / Logout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Password Reset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9770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9770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Add to Cart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Guest Checkout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Coupon Codes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9770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Tax Calculation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lgn="l">
                        <a:buNone/>
                      </a:pPr>
                      <a:r>
                        <a:rPr lang="en-US" sz="1100" dirty="0">
                          <a:solidFill>
                            <a:srgbClr val="334155"/>
                          </a:solidFill>
                          <a:latin typeface="Calibri" pitchFamily="34" charset="0"/>
                          <a:ea typeface="Calibri" pitchFamily="34" charset="-122"/>
                          <a:cs typeface="Calibri" pitchFamily="34" charset="-120"/>
                        </a:rPr>
                        <a:t>Update Quantity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D97706"/>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548640" y="4297680"/>
            <a:ext cx="8046720" cy="548640"/>
          </a:xfrm>
          <a:prstGeom prst="rect">
            <a:avLst/>
          </a:prstGeom>
          <a:solidFill>
            <a:srgbClr val="CCFBF1"/>
          </a:solidFill>
          <a:ln/>
        </p:spPr>
        <p:txBody>
          <a:bodyPr/>
          <a:lstStyle/>
          <a:p>
            <a:endParaRPr lang="en-US"/>
          </a:p>
        </p:txBody>
      </p:sp>
      <p:sp>
        <p:nvSpPr>
          <p:cNvPr id="8" name="Text 5"/>
          <p:cNvSpPr/>
          <p:nvPr/>
        </p:nvSpPr>
        <p:spPr>
          <a:xfrm>
            <a:off x="731520" y="4297680"/>
            <a:ext cx="7680960" cy="548640"/>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Note: Likelihood and Impact are independent.  A rarely failing feature can still have catastrophic impact.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Steps 5 &amp; 6: Compute the Risk Priority</a:t>
            </a:r>
            <a:endParaRPr lang="en-US" sz="2800" dirty="0"/>
          </a:p>
        </p:txBody>
      </p:sp>
      <p:sp>
        <p:nvSpPr>
          <p:cNvPr id="3" name="Shape 1"/>
          <p:cNvSpPr/>
          <p:nvPr/>
        </p:nvSpPr>
        <p:spPr>
          <a:xfrm>
            <a:off x="548640" y="1005840"/>
            <a:ext cx="2743200" cy="2011680"/>
          </a:xfrm>
          <a:prstGeom prst="rect">
            <a:avLst/>
          </a:prstGeom>
          <a:solidFill>
            <a:srgbClr val="1B2A3D"/>
          </a:solidFill>
          <a:ln/>
        </p:spPr>
        <p:txBody>
          <a:bodyPr/>
          <a:lstStyle/>
          <a:p>
            <a:endParaRPr lang="en-US"/>
          </a:p>
        </p:txBody>
      </p:sp>
      <p:sp>
        <p:nvSpPr>
          <p:cNvPr id="4" name="Text 2"/>
          <p:cNvSpPr/>
          <p:nvPr/>
        </p:nvSpPr>
        <p:spPr>
          <a:xfrm>
            <a:off x="548640" y="1005840"/>
            <a:ext cx="2743200" cy="457200"/>
          </a:xfrm>
          <a:prstGeom prst="rect">
            <a:avLst/>
          </a:prstGeom>
          <a:noFill/>
          <a:ln/>
        </p:spPr>
        <p:txBody>
          <a:bodyPr wrap="square" lIns="0" tIns="0" rIns="0" bIns="0" rtlCol="0" anchor="ctr"/>
          <a:lstStyle/>
          <a:p>
            <a:pPr marL="0" indent="0" algn="ctr">
              <a:buNone/>
            </a:pPr>
            <a:r>
              <a:rPr lang="en-US" sz="1600" b="1" dirty="0">
                <a:solidFill>
                  <a:srgbClr val="0D9488"/>
                </a:solidFill>
                <a:latin typeface="Trebuchet MS" pitchFamily="34" charset="0"/>
                <a:ea typeface="Trebuchet MS" pitchFamily="34" charset="-122"/>
                <a:cs typeface="Trebuchet MS" pitchFamily="34" charset="-120"/>
              </a:rPr>
              <a:t>Scoring Key</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237744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457200">
                <a:tc>
                  <a:txBody>
                    <a:bodyPr/>
                    <a:lstStyle/>
                    <a:p>
                      <a:pPr marL="0" indent="0" algn="ctr">
                        <a:buNone/>
                      </a:pPr>
                      <a:r>
                        <a:rPr lang="en-US" sz="1600" b="1" dirty="0">
                          <a:solidFill>
                            <a:srgbClr val="DC2626"/>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anchor="ctr">
                    <a:lnL w="0" cap="flat" cmpd="sng" algn="ctr">
                      <a:solidFill>
                        <a:srgbClr val="243447"/>
                      </a:solidFill>
                      <a:prstDash val="solid"/>
                      <a:round/>
                      <a:headEnd type="none" w="med" len="med"/>
                      <a:tailEnd type="none" w="med" len="med"/>
                    </a:lnL>
                    <a:lnR w="0" cap="flat" cmpd="sng" algn="ctr">
                      <a:solidFill>
                        <a:srgbClr val="243447"/>
                      </a:solidFill>
                      <a:prstDash val="solid"/>
                      <a:round/>
                      <a:headEnd type="none" w="med" len="med"/>
                      <a:tailEnd type="none" w="med" len="med"/>
                    </a:lnR>
                    <a:lnT w="0" cap="flat" cmpd="sng" algn="ctr">
                      <a:solidFill>
                        <a:srgbClr val="243447"/>
                      </a:solidFill>
                      <a:prstDash val="solid"/>
                      <a:round/>
                      <a:headEnd type="none" w="med" len="med"/>
                      <a:tailEnd type="none" w="med" len="med"/>
                    </a:lnT>
                    <a:lnB w="0" cap="flat" cmpd="sng" algn="ctr">
                      <a:solidFill>
                        <a:srgbClr val="243447"/>
                      </a:solidFill>
                      <a:prstDash val="solid"/>
                      <a:round/>
                      <a:headEnd type="none" w="med" len="med"/>
                      <a:tailEnd type="none" w="med" len="med"/>
                    </a:lnB>
                    <a:solidFill>
                      <a:srgbClr val="243447"/>
                    </a:solidFill>
                  </a:tcPr>
                </a:tc>
                <a:tc>
                  <a:txBody>
                    <a:bodyPr/>
                    <a:lstStyle/>
                    <a:p>
                      <a:pPr marL="0" indent="0" algn="ctr">
                        <a:buNone/>
                      </a:pPr>
                      <a:r>
                        <a:rPr lang="en-US" sz="1600" dirty="0">
                          <a:solidFill>
                            <a:srgbClr val="FFFFFF"/>
                          </a:solidFill>
                          <a:latin typeface="Calibri" pitchFamily="34" charset="0"/>
                          <a:ea typeface="Calibri" pitchFamily="34" charset="-122"/>
                          <a:cs typeface="Calibri" pitchFamily="34" charset="-120"/>
                        </a:rPr>
                        <a:t>= 5</a:t>
                      </a:r>
                      <a:endParaRPr lang="en-US" sz="1600" dirty="0">
                        <a:latin typeface="Calibri" charset="0"/>
                        <a:ea typeface="Calibri" charset="0"/>
                        <a:cs typeface="Calibri" charset="0"/>
                      </a:endParaRPr>
                    </a:p>
                  </a:txBody>
                  <a:tcPr anchor="ctr">
                    <a:lnL w="0" cap="flat" cmpd="sng" algn="ctr">
                      <a:solidFill>
                        <a:srgbClr val="243447"/>
                      </a:solidFill>
                      <a:prstDash val="solid"/>
                      <a:round/>
                      <a:headEnd type="none" w="med" len="med"/>
                      <a:tailEnd type="none" w="med" len="med"/>
                    </a:lnL>
                    <a:lnR w="0" cap="flat" cmpd="sng" algn="ctr">
                      <a:solidFill>
                        <a:srgbClr val="243447"/>
                      </a:solidFill>
                      <a:prstDash val="solid"/>
                      <a:round/>
                      <a:headEnd type="none" w="med" len="med"/>
                      <a:tailEnd type="none" w="med" len="med"/>
                    </a:lnR>
                    <a:lnT w="0" cap="flat" cmpd="sng" algn="ctr">
                      <a:solidFill>
                        <a:srgbClr val="243447"/>
                      </a:solidFill>
                      <a:prstDash val="solid"/>
                      <a:round/>
                      <a:headEnd type="none" w="med" len="med"/>
                      <a:tailEnd type="none" w="med" len="med"/>
                    </a:lnT>
                    <a:lnB w="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10000"/>
                  </a:ext>
                </a:extLst>
              </a:tr>
              <a:tr h="457200">
                <a:tc>
                  <a:txBody>
                    <a:bodyPr/>
                    <a:lstStyle/>
                    <a:p>
                      <a:pPr marL="0" indent="0" algn="ctr">
                        <a:buNone/>
                      </a:pPr>
                      <a:r>
                        <a:rPr lang="en-US" sz="1600" b="1" dirty="0">
                          <a:solidFill>
                            <a:srgbClr val="D97706"/>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anchor="ctr">
                    <a:lnL w="0" cap="flat" cmpd="sng" algn="ctr">
                      <a:solidFill>
                        <a:srgbClr val="243447"/>
                      </a:solidFill>
                      <a:prstDash val="solid"/>
                      <a:round/>
                      <a:headEnd type="none" w="med" len="med"/>
                      <a:tailEnd type="none" w="med" len="med"/>
                    </a:lnL>
                    <a:lnR w="0" cap="flat" cmpd="sng" algn="ctr">
                      <a:solidFill>
                        <a:srgbClr val="243447"/>
                      </a:solidFill>
                      <a:prstDash val="solid"/>
                      <a:round/>
                      <a:headEnd type="none" w="med" len="med"/>
                      <a:tailEnd type="none" w="med" len="med"/>
                    </a:lnR>
                    <a:lnT w="0" cap="flat" cmpd="sng" algn="ctr">
                      <a:solidFill>
                        <a:srgbClr val="243447"/>
                      </a:solidFill>
                      <a:prstDash val="solid"/>
                      <a:round/>
                      <a:headEnd type="none" w="med" len="med"/>
                      <a:tailEnd type="none" w="med" len="med"/>
                    </a:lnT>
                    <a:lnB w="0" cap="flat" cmpd="sng" algn="ctr">
                      <a:solidFill>
                        <a:srgbClr val="243447"/>
                      </a:solidFill>
                      <a:prstDash val="solid"/>
                      <a:round/>
                      <a:headEnd type="none" w="med" len="med"/>
                      <a:tailEnd type="none" w="med" len="med"/>
                    </a:lnB>
                    <a:solidFill>
                      <a:srgbClr val="243447"/>
                    </a:solidFill>
                  </a:tcPr>
                </a:tc>
                <a:tc>
                  <a:txBody>
                    <a:bodyPr/>
                    <a:lstStyle/>
                    <a:p>
                      <a:pPr marL="0" indent="0" algn="ctr">
                        <a:buNone/>
                      </a:pPr>
                      <a:r>
                        <a:rPr lang="en-US" sz="1600" dirty="0">
                          <a:solidFill>
                            <a:srgbClr val="FFFFFF"/>
                          </a:solidFill>
                          <a:latin typeface="Calibri" pitchFamily="34" charset="0"/>
                          <a:ea typeface="Calibri" pitchFamily="34" charset="-122"/>
                          <a:cs typeface="Calibri" pitchFamily="34" charset="-120"/>
                        </a:rPr>
                        <a:t>= 3</a:t>
                      </a:r>
                      <a:endParaRPr lang="en-US" sz="1600" dirty="0">
                        <a:latin typeface="Calibri" charset="0"/>
                        <a:ea typeface="Calibri" charset="0"/>
                        <a:cs typeface="Calibri" charset="0"/>
                      </a:endParaRPr>
                    </a:p>
                  </a:txBody>
                  <a:tcPr anchor="ctr">
                    <a:lnL w="0" cap="flat" cmpd="sng" algn="ctr">
                      <a:solidFill>
                        <a:srgbClr val="243447"/>
                      </a:solidFill>
                      <a:prstDash val="solid"/>
                      <a:round/>
                      <a:headEnd type="none" w="med" len="med"/>
                      <a:tailEnd type="none" w="med" len="med"/>
                    </a:lnL>
                    <a:lnR w="0" cap="flat" cmpd="sng" algn="ctr">
                      <a:solidFill>
                        <a:srgbClr val="243447"/>
                      </a:solidFill>
                      <a:prstDash val="solid"/>
                      <a:round/>
                      <a:headEnd type="none" w="med" len="med"/>
                      <a:tailEnd type="none" w="med" len="med"/>
                    </a:lnR>
                    <a:lnT w="0" cap="flat" cmpd="sng" algn="ctr">
                      <a:solidFill>
                        <a:srgbClr val="243447"/>
                      </a:solidFill>
                      <a:prstDash val="solid"/>
                      <a:round/>
                      <a:headEnd type="none" w="med" len="med"/>
                      <a:tailEnd type="none" w="med" len="med"/>
                    </a:lnT>
                    <a:lnB w="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10001"/>
                  </a:ext>
                </a:extLst>
              </a:tr>
              <a:tr h="457200">
                <a:tc>
                  <a:txBody>
                    <a:bodyPr/>
                    <a:lstStyle/>
                    <a:p>
                      <a:pPr marL="0" indent="0" algn="ctr">
                        <a:buNone/>
                      </a:pPr>
                      <a:r>
                        <a:rPr lang="en-US" sz="1600" b="1" dirty="0">
                          <a:solidFill>
                            <a:srgbClr val="16A34A"/>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anchor="ctr">
                    <a:lnL w="0" cap="flat" cmpd="sng" algn="ctr">
                      <a:solidFill>
                        <a:srgbClr val="243447"/>
                      </a:solidFill>
                      <a:prstDash val="solid"/>
                      <a:round/>
                      <a:headEnd type="none" w="med" len="med"/>
                      <a:tailEnd type="none" w="med" len="med"/>
                    </a:lnL>
                    <a:lnR w="0" cap="flat" cmpd="sng" algn="ctr">
                      <a:solidFill>
                        <a:srgbClr val="243447"/>
                      </a:solidFill>
                      <a:prstDash val="solid"/>
                      <a:round/>
                      <a:headEnd type="none" w="med" len="med"/>
                      <a:tailEnd type="none" w="med" len="med"/>
                    </a:lnR>
                    <a:lnT w="0" cap="flat" cmpd="sng" algn="ctr">
                      <a:solidFill>
                        <a:srgbClr val="243447"/>
                      </a:solidFill>
                      <a:prstDash val="solid"/>
                      <a:round/>
                      <a:headEnd type="none" w="med" len="med"/>
                      <a:tailEnd type="none" w="med" len="med"/>
                    </a:lnT>
                    <a:lnB w="0" cap="flat" cmpd="sng" algn="ctr">
                      <a:solidFill>
                        <a:srgbClr val="243447"/>
                      </a:solidFill>
                      <a:prstDash val="solid"/>
                      <a:round/>
                      <a:headEnd type="none" w="med" len="med"/>
                      <a:tailEnd type="none" w="med" len="med"/>
                    </a:lnB>
                    <a:solidFill>
                      <a:srgbClr val="243447"/>
                    </a:solidFill>
                  </a:tcPr>
                </a:tc>
                <a:tc>
                  <a:txBody>
                    <a:bodyPr/>
                    <a:lstStyle/>
                    <a:p>
                      <a:pPr marL="0" indent="0" algn="ctr">
                        <a:buNone/>
                      </a:pPr>
                      <a:r>
                        <a:rPr lang="en-US" sz="1600" dirty="0">
                          <a:solidFill>
                            <a:srgbClr val="FFFFFF"/>
                          </a:solidFill>
                          <a:latin typeface="Calibri" pitchFamily="34" charset="0"/>
                          <a:ea typeface="Calibri" pitchFamily="34" charset="-122"/>
                          <a:cs typeface="Calibri" pitchFamily="34" charset="-120"/>
                        </a:rPr>
                        <a:t>= 1</a:t>
                      </a:r>
                      <a:endParaRPr lang="en-US" sz="1600" dirty="0">
                        <a:latin typeface="Calibri" charset="0"/>
                        <a:ea typeface="Calibri" charset="0"/>
                        <a:cs typeface="Calibri" charset="0"/>
                      </a:endParaRPr>
                    </a:p>
                  </a:txBody>
                  <a:tcPr anchor="ctr">
                    <a:lnL w="0" cap="flat" cmpd="sng" algn="ctr">
                      <a:solidFill>
                        <a:srgbClr val="243447"/>
                      </a:solidFill>
                      <a:prstDash val="solid"/>
                      <a:round/>
                      <a:headEnd type="none" w="med" len="med"/>
                      <a:tailEnd type="none" w="med" len="med"/>
                    </a:lnL>
                    <a:lnR w="0" cap="flat" cmpd="sng" algn="ctr">
                      <a:solidFill>
                        <a:srgbClr val="243447"/>
                      </a:solidFill>
                      <a:prstDash val="solid"/>
                      <a:round/>
                      <a:headEnd type="none" w="med" len="med"/>
                      <a:tailEnd type="none" w="med" len="med"/>
                    </a:lnR>
                    <a:lnT w="0" cap="flat" cmpd="sng" algn="ctr">
                      <a:solidFill>
                        <a:srgbClr val="243447"/>
                      </a:solidFill>
                      <a:prstDash val="solid"/>
                      <a:round/>
                      <a:headEnd type="none" w="med" len="med"/>
                      <a:tailEnd type="none" w="med" len="med"/>
                    </a:lnT>
                    <a:lnB w="0" cap="flat" cmpd="sng" algn="ctr">
                      <a:solidFill>
                        <a:srgbClr val="243447"/>
                      </a:solidFill>
                      <a:prstDash val="solid"/>
                      <a:round/>
                      <a:headEnd type="none" w="med" len="med"/>
                      <a:tailEnd type="none" w="med" len="med"/>
                    </a:lnB>
                    <a:solidFill>
                      <a:srgbClr val="243447"/>
                    </a:solidFill>
                  </a:tcPr>
                </a:tc>
                <a:extLst>
                  <a:ext uri="{0D108BD9-81ED-4DB2-BD59-A6C34878D82A}">
                    <a16:rowId xmlns:a16="http://schemas.microsoft.com/office/drawing/2014/main" val="10002"/>
                  </a:ext>
                </a:extLst>
              </a:tr>
            </a:tbl>
          </a:graphicData>
        </a:graphic>
      </p:graphicFrame>
      <p:sp>
        <p:nvSpPr>
          <p:cNvPr id="6" name="Shape 3"/>
          <p:cNvSpPr/>
          <p:nvPr/>
        </p:nvSpPr>
        <p:spPr>
          <a:xfrm>
            <a:off x="548640" y="3246120"/>
            <a:ext cx="2743200" cy="548640"/>
          </a:xfrm>
          <a:prstGeom prst="rect">
            <a:avLst/>
          </a:prstGeom>
          <a:solidFill>
            <a:srgbClr val="0D9488"/>
          </a:solidFill>
          <a:ln/>
        </p:spPr>
        <p:txBody>
          <a:bodyPr/>
          <a:lstStyle/>
          <a:p>
            <a:endParaRPr lang="en-US"/>
          </a:p>
        </p:txBody>
      </p:sp>
      <p:sp>
        <p:nvSpPr>
          <p:cNvPr id="7" name="Text 4"/>
          <p:cNvSpPr/>
          <p:nvPr/>
        </p:nvSpPr>
        <p:spPr>
          <a:xfrm>
            <a:off x="548640" y="3246120"/>
            <a:ext cx="2743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Likelihood  ×  Impact  =  Priority</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3657600" y="1005840"/>
          <a:ext cx="512064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Inventory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L×I</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Priority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301752">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Login / Logout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Add to Cart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Guest Checkout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Password Reset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Coupon Codes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Tax Calculation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lgn="l">
                        <a:buNone/>
                      </a:pPr>
                      <a:r>
                        <a:rPr lang="en-US" sz="1000" dirty="0">
                          <a:solidFill>
                            <a:srgbClr val="334155"/>
                          </a:solidFill>
                          <a:latin typeface="Calibri" pitchFamily="34" charset="0"/>
                          <a:ea typeface="Calibri" pitchFamily="34" charset="-122"/>
                          <a:cs typeface="Calibri" pitchFamily="34" charset="-120"/>
                        </a:rPr>
                        <a:t>Update Quantity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548640" y="4114800"/>
            <a:ext cx="8046720" cy="7315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Text 6"/>
          <p:cNvSpPr/>
          <p:nvPr/>
        </p:nvSpPr>
        <p:spPr>
          <a:xfrm>
            <a:off x="731520" y="4114800"/>
            <a:ext cx="7680960" cy="731520"/>
          </a:xfrm>
          <a:prstGeom prst="rect">
            <a:avLst/>
          </a:prstGeom>
          <a:noFill/>
          <a:ln/>
        </p:spPr>
        <p:txBody>
          <a:bodyPr wrap="square" lIns="0" tIns="0" rIns="0" bIns="0" rtlCol="0" anchor="ctr"/>
          <a:lstStyle/>
          <a:p>
            <a:pPr marL="0" indent="0" algn="ctr">
              <a:buNone/>
            </a:pPr>
            <a:r>
              <a:rPr lang="en-US" sz="1300" i="1" dirty="0">
                <a:solidFill>
                  <a:srgbClr val="334155"/>
                </a:solidFill>
                <a:latin typeface="Calibri" pitchFamily="34" charset="0"/>
                <a:ea typeface="Calibri" pitchFamily="34" charset="-122"/>
                <a:cs typeface="Calibri" pitchFamily="34" charset="-120"/>
              </a:rPr>
              <a:t>The result is a normalized, relative priority — not an absolute truth.</a:t>
            </a:r>
            <a:endParaRPr lang="en-US" sz="1300" dirty="0"/>
          </a:p>
          <a:p>
            <a:pPr marL="0" indent="0" algn="ctr">
              <a:buNone/>
            </a:pPr>
            <a:r>
              <a:rPr lang="en-US" sz="1300" i="1" dirty="0">
                <a:solidFill>
                  <a:srgbClr val="334155"/>
                </a:solidFill>
                <a:latin typeface="Calibri" pitchFamily="34" charset="0"/>
                <a:ea typeface="Calibri" pitchFamily="34" charset="-122"/>
                <a:cs typeface="Calibri" pitchFamily="34" charset="-120"/>
              </a:rPr>
              <a:t>It is a tool for discussion, not a formula for certainty.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Step 7: Review and Modify</a:t>
            </a:r>
            <a:endParaRPr lang="en-US" sz="3000" dirty="0"/>
          </a:p>
        </p:txBody>
      </p:sp>
      <p:sp>
        <p:nvSpPr>
          <p:cNvPr id="3" name="Text 1"/>
          <p:cNvSpPr/>
          <p:nvPr/>
        </p:nvSpPr>
        <p:spPr>
          <a:xfrm>
            <a:off x="548640" y="1005840"/>
            <a:ext cx="8229600" cy="365760"/>
          </a:xfrm>
          <a:prstGeom prst="rect">
            <a:avLst/>
          </a:prstGeom>
          <a:noFill/>
          <a:ln/>
        </p:spPr>
        <p:txBody>
          <a:bodyPr wrap="square" lIns="0" tIns="0" rIns="0" bIns="0" rtlCol="0" anchor="ctr"/>
          <a:lstStyle/>
          <a:p>
            <a:pPr marL="0" indent="0">
              <a:buNone/>
            </a:pPr>
            <a:r>
              <a:rPr lang="en-US" sz="1500" i="1" dirty="0">
                <a:solidFill>
                  <a:srgbClr val="334155"/>
                </a:solidFill>
                <a:latin typeface="Calibri" pitchFamily="34" charset="0"/>
                <a:ea typeface="Calibri" pitchFamily="34" charset="-122"/>
                <a:cs typeface="Calibri" pitchFamily="34" charset="-120"/>
              </a:rPr>
              <a:t>The computed scores are a starting point, not the final answer.</a:t>
            </a:r>
            <a:endParaRPr lang="en-US" sz="1500" dirty="0"/>
          </a:p>
        </p:txBody>
      </p:sp>
      <p:sp>
        <p:nvSpPr>
          <p:cNvPr id="4" name="Text 2"/>
          <p:cNvSpPr/>
          <p:nvPr/>
        </p:nvSpPr>
        <p:spPr>
          <a:xfrm>
            <a:off x="548640" y="1463040"/>
            <a:ext cx="822960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Review and adjust based on:</a:t>
            </a:r>
            <a:endParaRPr lang="en-US" sz="1500" dirty="0"/>
          </a:p>
        </p:txBody>
      </p:sp>
      <p:sp>
        <p:nvSpPr>
          <p:cNvPr id="5" name="Shape 3"/>
          <p:cNvSpPr/>
          <p:nvPr/>
        </p:nvSpPr>
        <p:spPr>
          <a:xfrm>
            <a:off x="548640" y="1920240"/>
            <a:ext cx="3977640" cy="731520"/>
          </a:xfrm>
          <a:prstGeom prst="rect">
            <a:avLst/>
          </a:prstGeom>
          <a:solidFill>
            <a:srgbClr val="F5F7F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85800" y="2084832"/>
            <a:ext cx="347472" cy="347472"/>
          </a:xfrm>
          <a:prstGeom prst="rect">
            <a:avLst/>
          </a:prstGeom>
        </p:spPr>
      </p:pic>
      <p:sp>
        <p:nvSpPr>
          <p:cNvPr id="7" name="Text 4"/>
          <p:cNvSpPr/>
          <p:nvPr/>
        </p:nvSpPr>
        <p:spPr>
          <a:xfrm>
            <a:off x="1143000" y="1965960"/>
            <a:ext cx="3200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Historical defect data</a:t>
            </a:r>
            <a:endParaRPr lang="en-US" sz="1300" dirty="0"/>
          </a:p>
        </p:txBody>
      </p:sp>
      <p:sp>
        <p:nvSpPr>
          <p:cNvPr id="8" name="Text 5"/>
          <p:cNvSpPr/>
          <p:nvPr/>
        </p:nvSpPr>
        <p:spPr>
          <a:xfrm>
            <a:off x="1143000" y="2286000"/>
            <a:ext cx="3200400" cy="32004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Areas with recurring bugs may warrant higher priority</a:t>
            </a:r>
            <a:endParaRPr lang="en-US" sz="1000" dirty="0"/>
          </a:p>
        </p:txBody>
      </p:sp>
      <p:sp>
        <p:nvSpPr>
          <p:cNvPr id="9" name="Shape 6"/>
          <p:cNvSpPr/>
          <p:nvPr/>
        </p:nvSpPr>
        <p:spPr>
          <a:xfrm>
            <a:off x="4800600" y="1920240"/>
            <a:ext cx="3977640" cy="731520"/>
          </a:xfrm>
          <a:prstGeom prst="rect">
            <a:avLst/>
          </a:prstGeom>
          <a:solidFill>
            <a:srgbClr val="F5F7FA"/>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937760" y="2084832"/>
            <a:ext cx="347472" cy="347472"/>
          </a:xfrm>
          <a:prstGeom prst="rect">
            <a:avLst/>
          </a:prstGeom>
        </p:spPr>
      </p:pic>
      <p:sp>
        <p:nvSpPr>
          <p:cNvPr id="11" name="Text 7"/>
          <p:cNvSpPr/>
          <p:nvPr/>
        </p:nvSpPr>
        <p:spPr>
          <a:xfrm>
            <a:off x="5394960" y="1965960"/>
            <a:ext cx="3200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New or modified features</a:t>
            </a:r>
            <a:endParaRPr lang="en-US" sz="1300" dirty="0"/>
          </a:p>
        </p:txBody>
      </p:sp>
      <p:sp>
        <p:nvSpPr>
          <p:cNvPr id="12" name="Text 8"/>
          <p:cNvSpPr/>
          <p:nvPr/>
        </p:nvSpPr>
        <p:spPr>
          <a:xfrm>
            <a:off x="5394960" y="2286000"/>
            <a:ext cx="3200400" cy="32004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Recent changes increase likelihood of failure</a:t>
            </a:r>
            <a:endParaRPr lang="en-US" sz="1000" dirty="0"/>
          </a:p>
        </p:txBody>
      </p:sp>
      <p:sp>
        <p:nvSpPr>
          <p:cNvPr id="13" name="Shape 9"/>
          <p:cNvSpPr/>
          <p:nvPr/>
        </p:nvSpPr>
        <p:spPr>
          <a:xfrm>
            <a:off x="548640" y="2788920"/>
            <a:ext cx="3977640" cy="731520"/>
          </a:xfrm>
          <a:prstGeom prst="rect">
            <a:avLst/>
          </a:prstGeom>
          <a:solidFill>
            <a:srgbClr val="F5F7F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85800" y="2953512"/>
            <a:ext cx="347472" cy="347472"/>
          </a:xfrm>
          <a:prstGeom prst="rect">
            <a:avLst/>
          </a:prstGeom>
        </p:spPr>
      </p:pic>
      <p:sp>
        <p:nvSpPr>
          <p:cNvPr id="15" name="Text 10"/>
          <p:cNvSpPr/>
          <p:nvPr/>
        </p:nvSpPr>
        <p:spPr>
          <a:xfrm>
            <a:off x="1143000" y="2834640"/>
            <a:ext cx="3200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Cyclomatic complexity</a:t>
            </a:r>
            <a:endParaRPr lang="en-US" sz="1300" dirty="0"/>
          </a:p>
        </p:txBody>
      </p:sp>
      <p:sp>
        <p:nvSpPr>
          <p:cNvPr id="16" name="Text 11"/>
          <p:cNvSpPr/>
          <p:nvPr/>
        </p:nvSpPr>
        <p:spPr>
          <a:xfrm>
            <a:off x="1143000" y="3154680"/>
            <a:ext cx="3200400" cy="32004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Complex code paths are harder to test thoroughly</a:t>
            </a:r>
            <a:endParaRPr lang="en-US" sz="1000" dirty="0"/>
          </a:p>
        </p:txBody>
      </p:sp>
      <p:sp>
        <p:nvSpPr>
          <p:cNvPr id="17" name="Shape 12"/>
          <p:cNvSpPr/>
          <p:nvPr/>
        </p:nvSpPr>
        <p:spPr>
          <a:xfrm>
            <a:off x="4800600" y="2788920"/>
            <a:ext cx="3977640" cy="731520"/>
          </a:xfrm>
          <a:prstGeom prst="rect">
            <a:avLst/>
          </a:prstGeom>
          <a:solidFill>
            <a:srgbClr val="F5F7FA"/>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4937760" y="2953512"/>
            <a:ext cx="347472" cy="347472"/>
          </a:xfrm>
          <a:prstGeom prst="rect">
            <a:avLst/>
          </a:prstGeom>
        </p:spPr>
      </p:pic>
      <p:sp>
        <p:nvSpPr>
          <p:cNvPr id="19" name="Text 13"/>
          <p:cNvSpPr/>
          <p:nvPr/>
        </p:nvSpPr>
        <p:spPr>
          <a:xfrm>
            <a:off x="5394960" y="2834640"/>
            <a:ext cx="3200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Existing automation</a:t>
            </a:r>
            <a:endParaRPr lang="en-US" sz="1300" dirty="0"/>
          </a:p>
        </p:txBody>
      </p:sp>
      <p:sp>
        <p:nvSpPr>
          <p:cNvPr id="20" name="Text 14"/>
          <p:cNvSpPr/>
          <p:nvPr/>
        </p:nvSpPr>
        <p:spPr>
          <a:xfrm>
            <a:off x="5394960" y="3154680"/>
            <a:ext cx="3200400" cy="32004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Good automation coverage may lower effective risk</a:t>
            </a:r>
            <a:endParaRPr lang="en-US" sz="1000" dirty="0"/>
          </a:p>
        </p:txBody>
      </p:sp>
      <p:sp>
        <p:nvSpPr>
          <p:cNvPr id="21" name="Shape 15"/>
          <p:cNvSpPr/>
          <p:nvPr/>
        </p:nvSpPr>
        <p:spPr>
          <a:xfrm>
            <a:off x="548640" y="3657600"/>
            <a:ext cx="3977640" cy="731520"/>
          </a:xfrm>
          <a:prstGeom prst="rect">
            <a:avLst/>
          </a:prstGeom>
          <a:solidFill>
            <a:srgbClr val="F5F7FA"/>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685800" y="3822192"/>
            <a:ext cx="347472" cy="347472"/>
          </a:xfrm>
          <a:prstGeom prst="rect">
            <a:avLst/>
          </a:prstGeom>
        </p:spPr>
      </p:pic>
      <p:sp>
        <p:nvSpPr>
          <p:cNvPr id="23" name="Text 16"/>
          <p:cNvSpPr/>
          <p:nvPr/>
        </p:nvSpPr>
        <p:spPr>
          <a:xfrm>
            <a:off x="1143000" y="3703320"/>
            <a:ext cx="3200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Customer-reported issues</a:t>
            </a:r>
            <a:endParaRPr lang="en-US" sz="1300" dirty="0"/>
          </a:p>
        </p:txBody>
      </p:sp>
      <p:sp>
        <p:nvSpPr>
          <p:cNvPr id="24" name="Text 17"/>
          <p:cNvSpPr/>
          <p:nvPr/>
        </p:nvSpPr>
        <p:spPr>
          <a:xfrm>
            <a:off x="1143000" y="4023360"/>
            <a:ext cx="3200400" cy="32004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Real-world feedback reveals actual pain points</a:t>
            </a:r>
            <a:endParaRPr lang="en-US" sz="1000" dirty="0"/>
          </a:p>
        </p:txBody>
      </p:sp>
      <p:sp>
        <p:nvSpPr>
          <p:cNvPr id="25" name="Shape 18"/>
          <p:cNvSpPr/>
          <p:nvPr/>
        </p:nvSpPr>
        <p:spPr>
          <a:xfrm>
            <a:off x="4800600" y="3657600"/>
            <a:ext cx="3977640" cy="731520"/>
          </a:xfrm>
          <a:prstGeom prst="rect">
            <a:avLst/>
          </a:prstGeom>
          <a:solidFill>
            <a:srgbClr val="F5F7FA"/>
          </a:solidFill>
          <a:ln/>
        </p:spPr>
        <p:txBody>
          <a:bodyPr/>
          <a:lstStyle/>
          <a:p>
            <a:endParaRPr lang="en-US"/>
          </a:p>
        </p:txBody>
      </p:sp>
      <p:pic>
        <p:nvPicPr>
          <p:cNvPr id="26" name="Image 5" descr="preencoded.png"/>
          <p:cNvPicPr>
            <a:picLocks noChangeAspect="1"/>
          </p:cNvPicPr>
          <p:nvPr/>
        </p:nvPicPr>
        <p:blipFill>
          <a:blip r:embed="rId8"/>
          <a:stretch>
            <a:fillRect/>
          </a:stretch>
        </p:blipFill>
        <p:spPr>
          <a:xfrm>
            <a:off x="4937760" y="3822192"/>
            <a:ext cx="347472" cy="347472"/>
          </a:xfrm>
          <a:prstGeom prst="rect">
            <a:avLst/>
          </a:prstGeom>
        </p:spPr>
      </p:pic>
      <p:sp>
        <p:nvSpPr>
          <p:cNvPr id="27" name="Text 19"/>
          <p:cNvSpPr/>
          <p:nvPr/>
        </p:nvSpPr>
        <p:spPr>
          <a:xfrm>
            <a:off x="5394960" y="3703320"/>
            <a:ext cx="3200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Team experience</a:t>
            </a:r>
            <a:endParaRPr lang="en-US" sz="1300" dirty="0"/>
          </a:p>
        </p:txBody>
      </p:sp>
      <p:sp>
        <p:nvSpPr>
          <p:cNvPr id="28" name="Text 20"/>
          <p:cNvSpPr/>
          <p:nvPr/>
        </p:nvSpPr>
        <p:spPr>
          <a:xfrm>
            <a:off x="5394960" y="4023360"/>
            <a:ext cx="3200400" cy="32004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Less experienced teams in an area increase risk</a:t>
            </a:r>
            <a:endParaRPr lang="en-US" sz="1000" dirty="0"/>
          </a:p>
        </p:txBody>
      </p:sp>
      <p:sp>
        <p:nvSpPr>
          <p:cNvPr id="29" name="Shape 21"/>
          <p:cNvSpPr/>
          <p:nvPr/>
        </p:nvSpPr>
        <p:spPr>
          <a:xfrm>
            <a:off x="548640" y="4526280"/>
            <a:ext cx="8046720" cy="411480"/>
          </a:xfrm>
          <a:prstGeom prst="rect">
            <a:avLst/>
          </a:prstGeom>
          <a:solidFill>
            <a:srgbClr val="CCFBF1"/>
          </a:solidFill>
          <a:ln/>
        </p:spPr>
        <p:txBody>
          <a:bodyPr/>
          <a:lstStyle/>
          <a:p>
            <a:endParaRPr lang="en-US"/>
          </a:p>
        </p:txBody>
      </p:sp>
      <p:sp>
        <p:nvSpPr>
          <p:cNvPr id="30" name="Text 22"/>
          <p:cNvSpPr/>
          <p:nvPr/>
        </p:nvSpPr>
        <p:spPr>
          <a:xfrm>
            <a:off x="731520" y="4526280"/>
            <a:ext cx="7680960" cy="411480"/>
          </a:xfrm>
          <a:prstGeom prst="rect">
            <a:avLst/>
          </a:prstGeom>
          <a:noFill/>
          <a:ln/>
        </p:spPr>
        <p:txBody>
          <a:bodyPr wrap="square" lIns="0" tIns="0" rIns="0" bIns="0" rtlCol="0" anchor="ctr"/>
          <a:lstStyle/>
          <a:p>
            <a:pPr marL="0" indent="0" algn="ctr">
              <a:buNone/>
            </a:pPr>
            <a:r>
              <a:rPr lang="en-US" sz="1200" b="1" i="1" dirty="0">
                <a:solidFill>
                  <a:srgbClr val="0F766E"/>
                </a:solidFill>
                <a:latin typeface="Calibri" pitchFamily="34" charset="0"/>
                <a:ea typeface="Calibri" pitchFamily="34" charset="-122"/>
                <a:cs typeface="Calibri" pitchFamily="34" charset="-120"/>
              </a:rPr>
              <a:t>This is where experience and judgment refine the math.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Step 8: Prioritize and Establish Cut-Lines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411480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Inventory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Priority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Login / Logout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Add to Cart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Guest Checkout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Password Reset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100" b="1" dirty="0">
                          <a:solidFill>
                            <a:srgbClr val="D97706"/>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Tax Calculation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Coupon Codes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Update Quantity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00" b="1" dirty="0">
                          <a:solidFill>
                            <a:srgbClr val="16A34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7"/>
                  </a:ext>
                </a:extLst>
              </a:tr>
            </a:tbl>
          </a:graphicData>
        </a:graphic>
      </p:graphicFrame>
      <p:sp>
        <p:nvSpPr>
          <p:cNvPr id="4" name="Shape 1"/>
          <p:cNvSpPr/>
          <p:nvPr/>
        </p:nvSpPr>
        <p:spPr>
          <a:xfrm>
            <a:off x="548640" y="2478024"/>
            <a:ext cx="4297680" cy="0"/>
          </a:xfrm>
          <a:prstGeom prst="line">
            <a:avLst/>
          </a:prstGeom>
          <a:noFill/>
          <a:ln w="31750">
            <a:solidFill>
              <a:srgbClr val="DC2626"/>
            </a:solidFill>
            <a:prstDash val="dash"/>
          </a:ln>
        </p:spPr>
        <p:txBody>
          <a:bodyPr/>
          <a:lstStyle/>
          <a:p>
            <a:endParaRPr lang="en-US"/>
          </a:p>
        </p:txBody>
      </p:sp>
      <p:sp>
        <p:nvSpPr>
          <p:cNvPr id="5" name="Text 2"/>
          <p:cNvSpPr/>
          <p:nvPr/>
        </p:nvSpPr>
        <p:spPr>
          <a:xfrm>
            <a:off x="45720" y="2359152"/>
            <a:ext cx="502920" cy="22860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CUT-LINE</a:t>
            </a:r>
            <a:endParaRPr lang="en-US" sz="800" dirty="0"/>
          </a:p>
        </p:txBody>
      </p:sp>
      <p:sp>
        <p:nvSpPr>
          <p:cNvPr id="6" name="Shape 3"/>
          <p:cNvSpPr/>
          <p:nvPr/>
        </p:nvSpPr>
        <p:spPr>
          <a:xfrm>
            <a:off x="5029200" y="868680"/>
            <a:ext cx="3749040" cy="1371600"/>
          </a:xfrm>
          <a:prstGeom prst="rect">
            <a:avLst/>
          </a:prstGeom>
          <a:solidFill>
            <a:srgbClr val="F0FDF4"/>
          </a:solidFill>
          <a:ln/>
          <a:effectLst>
            <a:outerShdw blurRad="50800" dist="25400" dir="8100000" algn="bl" rotWithShape="0">
              <a:srgbClr val="000000">
                <a:alpha val="1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5212080" y="1005840"/>
            <a:ext cx="320040" cy="320040"/>
          </a:xfrm>
          <a:prstGeom prst="rect">
            <a:avLst/>
          </a:prstGeom>
        </p:spPr>
      </p:pic>
      <p:sp>
        <p:nvSpPr>
          <p:cNvPr id="8" name="Text 4"/>
          <p:cNvSpPr/>
          <p:nvPr/>
        </p:nvSpPr>
        <p:spPr>
          <a:xfrm>
            <a:off x="5623560" y="960120"/>
            <a:ext cx="292608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Above the Cut-Line</a:t>
            </a:r>
            <a:endParaRPr lang="en-US" sz="1400" dirty="0"/>
          </a:p>
        </p:txBody>
      </p:sp>
      <p:sp>
        <p:nvSpPr>
          <p:cNvPr id="9" name="Text 5"/>
          <p:cNvSpPr/>
          <p:nvPr/>
        </p:nvSpPr>
        <p:spPr>
          <a:xfrm>
            <a:off x="5623560" y="1371600"/>
            <a:ext cx="2926080" cy="731520"/>
          </a:xfrm>
          <a:prstGeom prst="rect">
            <a:avLst/>
          </a:prstGeom>
          <a:noFill/>
          <a:ln/>
        </p:spPr>
        <p:txBody>
          <a:bodyPr wrap="square" lIns="0" tIns="0" rIns="0" bIns="0" rtlCol="0" anchor="ctr"/>
          <a:lstStyle/>
          <a:p>
            <a:pPr marL="0" indent="0">
              <a:lnSpc>
                <a:spcPct val="140000"/>
              </a:lnSpc>
              <a:buNone/>
            </a:pPr>
            <a:r>
              <a:rPr lang="en-US" sz="1200" dirty="0">
                <a:solidFill>
                  <a:srgbClr val="334155"/>
                </a:solidFill>
                <a:latin typeface="Calibri" pitchFamily="34" charset="0"/>
                <a:ea typeface="Calibri" pitchFamily="34" charset="-122"/>
                <a:cs typeface="Calibri" pitchFamily="34" charset="-120"/>
              </a:rPr>
              <a:t>Tested in this cycle</a:t>
            </a:r>
            <a:endParaRPr lang="en-US" sz="1200" dirty="0"/>
          </a:p>
          <a:p>
            <a:pPr marL="0" indent="0">
              <a:lnSpc>
                <a:spcPct val="140000"/>
              </a:lnSpc>
              <a:buNone/>
            </a:pPr>
            <a:r>
              <a:rPr lang="en-US" sz="1200" dirty="0">
                <a:solidFill>
                  <a:srgbClr val="334155"/>
                </a:solidFill>
                <a:latin typeface="Calibri" pitchFamily="34" charset="0"/>
                <a:ea typeface="Calibri" pitchFamily="34" charset="-122"/>
                <a:cs typeface="Calibri" pitchFamily="34" charset="-120"/>
              </a:rPr>
              <a:t>Smoke testing candidates</a:t>
            </a:r>
            <a:endParaRPr lang="en-US" sz="1200" dirty="0"/>
          </a:p>
          <a:p>
            <a:pPr marL="0" indent="0">
              <a:lnSpc>
                <a:spcPct val="140000"/>
              </a:lnSpc>
              <a:buNone/>
            </a:pPr>
            <a:r>
              <a:rPr lang="en-US" sz="1200" dirty="0">
                <a:solidFill>
                  <a:srgbClr val="334155"/>
                </a:solidFill>
                <a:latin typeface="Calibri" pitchFamily="34" charset="0"/>
                <a:ea typeface="Calibri" pitchFamily="34" charset="-122"/>
                <a:cs typeface="Calibri" pitchFamily="34" charset="-120"/>
              </a:rPr>
              <a:t>Automation priority</a:t>
            </a:r>
            <a:endParaRPr lang="en-US" sz="1200" dirty="0"/>
          </a:p>
        </p:txBody>
      </p:sp>
      <p:sp>
        <p:nvSpPr>
          <p:cNvPr id="10" name="Shape 6"/>
          <p:cNvSpPr/>
          <p:nvPr/>
        </p:nvSpPr>
        <p:spPr>
          <a:xfrm>
            <a:off x="5029200" y="2423160"/>
            <a:ext cx="3749040" cy="1371600"/>
          </a:xfrm>
          <a:prstGeom prst="rect">
            <a:avLst/>
          </a:prstGeom>
          <a:solidFill>
            <a:srgbClr val="FEF2F2"/>
          </a:solidFill>
          <a:ln/>
          <a:effectLst>
            <a:outerShdw blurRad="50800" dist="25400" dir="81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212080" y="2560320"/>
            <a:ext cx="320040" cy="320040"/>
          </a:xfrm>
          <a:prstGeom prst="rect">
            <a:avLst/>
          </a:prstGeom>
        </p:spPr>
      </p:pic>
      <p:sp>
        <p:nvSpPr>
          <p:cNvPr id="3" name="Text 7"/>
          <p:cNvSpPr/>
          <p:nvPr/>
        </p:nvSpPr>
        <p:spPr>
          <a:xfrm>
            <a:off x="5623560" y="2514600"/>
            <a:ext cx="292608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Below the Cut-Line</a:t>
            </a:r>
            <a:endParaRPr lang="en-US" sz="1400" dirty="0"/>
          </a:p>
        </p:txBody>
      </p:sp>
      <p:sp>
        <p:nvSpPr>
          <p:cNvPr id="13" name="Text 8"/>
          <p:cNvSpPr/>
          <p:nvPr/>
        </p:nvSpPr>
        <p:spPr>
          <a:xfrm>
            <a:off x="5623560" y="2926080"/>
            <a:ext cx="2926080" cy="731520"/>
          </a:xfrm>
          <a:prstGeom prst="rect">
            <a:avLst/>
          </a:prstGeom>
          <a:noFill/>
          <a:ln/>
        </p:spPr>
        <p:txBody>
          <a:bodyPr wrap="square" lIns="0" tIns="0" rIns="0" bIns="0" rtlCol="0" anchor="ctr"/>
          <a:lstStyle/>
          <a:p>
            <a:pPr marL="0" indent="0">
              <a:lnSpc>
                <a:spcPct val="140000"/>
              </a:lnSpc>
              <a:buNone/>
            </a:pPr>
            <a:r>
              <a:rPr lang="en-US" sz="1200" dirty="0">
                <a:solidFill>
                  <a:srgbClr val="334155"/>
                </a:solidFill>
                <a:latin typeface="Calibri" pitchFamily="34" charset="0"/>
                <a:ea typeface="Calibri" pitchFamily="34" charset="-122"/>
                <a:cs typeface="Calibri" pitchFamily="34" charset="-120"/>
              </a:rPr>
              <a:t>Deferred or regression only</a:t>
            </a:r>
            <a:endParaRPr lang="en-US" sz="1200" dirty="0"/>
          </a:p>
          <a:p>
            <a:pPr marL="0" indent="0">
              <a:lnSpc>
                <a:spcPct val="140000"/>
              </a:lnSpc>
              <a:buNone/>
            </a:pPr>
            <a:r>
              <a:rPr lang="en-US" sz="1200" dirty="0">
                <a:solidFill>
                  <a:srgbClr val="334155"/>
                </a:solidFill>
                <a:latin typeface="Calibri" pitchFamily="34" charset="0"/>
                <a:ea typeface="Calibri" pitchFamily="34" charset="-122"/>
                <a:cs typeface="Calibri" pitchFamily="34" charset="-120"/>
              </a:rPr>
              <a:t>Accepted risk</a:t>
            </a:r>
            <a:endParaRPr lang="en-US" sz="1200" dirty="0"/>
          </a:p>
          <a:p>
            <a:pPr marL="0" indent="0">
              <a:lnSpc>
                <a:spcPct val="140000"/>
              </a:lnSpc>
              <a:buNone/>
            </a:pPr>
            <a:r>
              <a:rPr lang="en-US" sz="1200" dirty="0">
                <a:solidFill>
                  <a:srgbClr val="334155"/>
                </a:solidFill>
                <a:latin typeface="Calibri" pitchFamily="34" charset="0"/>
                <a:ea typeface="Calibri" pitchFamily="34" charset="-122"/>
                <a:cs typeface="Calibri" pitchFamily="34" charset="-120"/>
              </a:rPr>
              <a:t>Tested if time permits</a:t>
            </a:r>
            <a:endParaRPr lang="en-US" sz="1200" dirty="0"/>
          </a:p>
        </p:txBody>
      </p:sp>
      <p:sp>
        <p:nvSpPr>
          <p:cNvPr id="14" name="Shape 9"/>
          <p:cNvSpPr/>
          <p:nvPr/>
        </p:nvSpPr>
        <p:spPr>
          <a:xfrm>
            <a:off x="548640" y="4206240"/>
            <a:ext cx="8046720" cy="640080"/>
          </a:xfrm>
          <a:prstGeom prst="rect">
            <a:avLst/>
          </a:prstGeom>
          <a:solidFill>
            <a:srgbClr val="1B2A3D"/>
          </a:solidFill>
          <a:ln/>
        </p:spPr>
        <p:txBody>
          <a:bodyPr/>
          <a:lstStyle/>
          <a:p>
            <a:endParaRPr lang="en-US"/>
          </a:p>
        </p:txBody>
      </p:sp>
      <p:sp>
        <p:nvSpPr>
          <p:cNvPr id="15" name="Text 10"/>
          <p:cNvSpPr/>
          <p:nvPr/>
        </p:nvSpPr>
        <p:spPr>
          <a:xfrm>
            <a:off x="731520" y="4206240"/>
            <a:ext cx="7680960" cy="640080"/>
          </a:xfrm>
          <a:prstGeom prst="rect">
            <a:avLst/>
          </a:prstGeom>
          <a:noFill/>
          <a:ln/>
        </p:spPr>
        <p:txBody>
          <a:bodyPr wrap="square" lIns="0" tIns="0" rIns="0" bIns="0" rtlCol="0" anchor="ctr"/>
          <a:lstStyle/>
          <a:p>
            <a:pPr marL="0" indent="0" algn="ctr">
              <a:buNone/>
            </a:pPr>
            <a:r>
              <a:rPr lang="en-US" sz="1300" b="1" i="1" dirty="0">
                <a:solidFill>
                  <a:srgbClr val="0D9488"/>
                </a:solidFill>
                <a:latin typeface="Calibri" pitchFamily="34" charset="0"/>
                <a:ea typeface="Calibri" pitchFamily="34" charset="-122"/>
                <a:cs typeface="Calibri" pitchFamily="34" charset="-120"/>
              </a:rPr>
              <a:t>The cut-line is adjustable.  It moves with the schedule — and that conversation is now objective.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Connecting Risk to Coverage</a:t>
            </a:r>
            <a:endParaRPr lang="en-US" sz="2800" dirty="0"/>
          </a:p>
        </p:txBody>
      </p:sp>
      <p:sp>
        <p:nvSpPr>
          <p:cNvPr id="3" name="Text 1"/>
          <p:cNvSpPr/>
          <p:nvPr/>
        </p:nvSpPr>
        <p:spPr>
          <a:xfrm>
            <a:off x="548640" y="868680"/>
            <a:ext cx="8229600" cy="365760"/>
          </a:xfrm>
          <a:prstGeom prst="rect">
            <a:avLst/>
          </a:prstGeom>
          <a:noFill/>
          <a:ln/>
        </p:spPr>
        <p:txBody>
          <a:bodyPr wrap="square" lIns="0" tIns="0" rIns="0" bIns="0" rtlCol="0" anchor="ctr"/>
          <a:lstStyle/>
          <a:p>
            <a:pPr marL="0" indent="0">
              <a:buNone/>
            </a:pPr>
            <a:r>
              <a:rPr lang="en-US" sz="1400" i="1" dirty="0">
                <a:solidFill>
                  <a:srgbClr val="334155"/>
                </a:solidFill>
                <a:latin typeface="Calibri" pitchFamily="34" charset="0"/>
                <a:ea typeface="Calibri" pitchFamily="34" charset="-122"/>
                <a:cs typeface="Calibri" pitchFamily="34" charset="-120"/>
              </a:rPr>
              <a:t>Risk priority directly informs your test matrix from Part 1.</a:t>
            </a:r>
            <a:endParaRPr lang="en-US" sz="1400" dirty="0"/>
          </a:p>
        </p:txBody>
      </p:sp>
      <p:sp>
        <p:nvSpPr>
          <p:cNvPr id="4" name="Shape 2"/>
          <p:cNvSpPr/>
          <p:nvPr/>
        </p:nvSpPr>
        <p:spPr>
          <a:xfrm>
            <a:off x="548640" y="1371600"/>
            <a:ext cx="2606040" cy="502920"/>
          </a:xfrm>
          <a:prstGeom prst="rect">
            <a:avLst/>
          </a:prstGeom>
          <a:solidFill>
            <a:srgbClr val="DC2626"/>
          </a:solidFill>
          <a:ln/>
        </p:spPr>
        <p:txBody>
          <a:bodyPr/>
          <a:lstStyle/>
          <a:p>
            <a:endParaRPr lang="en-US"/>
          </a:p>
        </p:txBody>
      </p:sp>
      <p:sp>
        <p:nvSpPr>
          <p:cNvPr id="5" name="Text 3"/>
          <p:cNvSpPr/>
          <p:nvPr/>
        </p:nvSpPr>
        <p:spPr>
          <a:xfrm>
            <a:off x="548640" y="1371600"/>
            <a:ext cx="2606040" cy="320040"/>
          </a:xfrm>
          <a:prstGeom prst="rect">
            <a:avLst/>
          </a:prstGeom>
          <a:noFill/>
          <a:ln/>
        </p:spPr>
        <p:txBody>
          <a:bodyPr wrap="square" lIns="0" tIns="0" rIns="0" bIns="0" rtlCol="0" anchor="b"/>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High Priority</a:t>
            </a:r>
            <a:endParaRPr lang="en-US" sz="1400" dirty="0"/>
          </a:p>
        </p:txBody>
      </p:sp>
      <p:sp>
        <p:nvSpPr>
          <p:cNvPr id="6" name="Text 4"/>
          <p:cNvSpPr/>
          <p:nvPr/>
        </p:nvSpPr>
        <p:spPr>
          <a:xfrm>
            <a:off x="548640" y="1664208"/>
            <a:ext cx="2606040" cy="18288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Score 15–25</a:t>
            </a:r>
            <a:endParaRPr lang="en-US" sz="900" dirty="0"/>
          </a:p>
        </p:txBody>
      </p:sp>
      <p:sp>
        <p:nvSpPr>
          <p:cNvPr id="7" name="Shape 5"/>
          <p:cNvSpPr/>
          <p:nvPr/>
        </p:nvSpPr>
        <p:spPr>
          <a:xfrm>
            <a:off x="548640" y="1874520"/>
            <a:ext cx="2606040" cy="1645920"/>
          </a:xfrm>
          <a:prstGeom prst="rect">
            <a:avLst/>
          </a:prstGeom>
          <a:solidFill>
            <a:srgbClr val="FEF2F2"/>
          </a:solidFill>
          <a:ln/>
        </p:spPr>
        <p:txBody>
          <a:bodyPr/>
          <a:lstStyle/>
          <a:p>
            <a:endParaRPr lang="en-US"/>
          </a:p>
        </p:txBody>
      </p:sp>
      <p:sp>
        <p:nvSpPr>
          <p:cNvPr id="8" name="Text 6"/>
          <p:cNvSpPr/>
          <p:nvPr/>
        </p:nvSpPr>
        <p:spPr>
          <a:xfrm>
            <a:off x="731520" y="1965960"/>
            <a:ext cx="2240280" cy="1463040"/>
          </a:xfrm>
          <a:prstGeom prst="rect">
            <a:avLst/>
          </a:prstGeom>
          <a:noFill/>
          <a:ln/>
        </p:spPr>
        <p:txBody>
          <a:bodyPr wrap="square" lIns="0" tIns="0" rIns="0" bIns="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Login / Logout</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Add to Cart</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Guest Checkout</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Credit Card Payment</a:t>
            </a:r>
            <a:endParaRPr lang="en-US" sz="1100" dirty="0"/>
          </a:p>
        </p:txBody>
      </p:sp>
      <p:sp>
        <p:nvSpPr>
          <p:cNvPr id="9" name="Shape 7"/>
          <p:cNvSpPr/>
          <p:nvPr/>
        </p:nvSpPr>
        <p:spPr>
          <a:xfrm>
            <a:off x="3429000" y="1371600"/>
            <a:ext cx="2606040" cy="502920"/>
          </a:xfrm>
          <a:prstGeom prst="rect">
            <a:avLst/>
          </a:prstGeom>
          <a:solidFill>
            <a:srgbClr val="D97706"/>
          </a:solidFill>
          <a:ln/>
        </p:spPr>
        <p:txBody>
          <a:bodyPr/>
          <a:lstStyle/>
          <a:p>
            <a:endParaRPr lang="en-US"/>
          </a:p>
        </p:txBody>
      </p:sp>
      <p:sp>
        <p:nvSpPr>
          <p:cNvPr id="10" name="Text 8"/>
          <p:cNvSpPr/>
          <p:nvPr/>
        </p:nvSpPr>
        <p:spPr>
          <a:xfrm>
            <a:off x="3429000" y="1371600"/>
            <a:ext cx="2606040" cy="320040"/>
          </a:xfrm>
          <a:prstGeom prst="rect">
            <a:avLst/>
          </a:prstGeom>
          <a:noFill/>
          <a:ln/>
        </p:spPr>
        <p:txBody>
          <a:bodyPr wrap="square" lIns="0" tIns="0" rIns="0" bIns="0" rtlCol="0" anchor="b"/>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Medium Priority</a:t>
            </a:r>
            <a:endParaRPr lang="en-US" sz="1400" dirty="0"/>
          </a:p>
        </p:txBody>
      </p:sp>
      <p:sp>
        <p:nvSpPr>
          <p:cNvPr id="11" name="Text 9"/>
          <p:cNvSpPr/>
          <p:nvPr/>
        </p:nvSpPr>
        <p:spPr>
          <a:xfrm>
            <a:off x="3429000" y="1664208"/>
            <a:ext cx="2606040" cy="18288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Score 5–15</a:t>
            </a:r>
            <a:endParaRPr lang="en-US" sz="900" dirty="0"/>
          </a:p>
        </p:txBody>
      </p:sp>
      <p:sp>
        <p:nvSpPr>
          <p:cNvPr id="12" name="Shape 10"/>
          <p:cNvSpPr/>
          <p:nvPr/>
        </p:nvSpPr>
        <p:spPr>
          <a:xfrm>
            <a:off x="3429000" y="1874520"/>
            <a:ext cx="2606040" cy="1645920"/>
          </a:xfrm>
          <a:prstGeom prst="rect">
            <a:avLst/>
          </a:prstGeom>
          <a:solidFill>
            <a:srgbClr val="FFFBEB"/>
          </a:solidFill>
          <a:ln/>
        </p:spPr>
        <p:txBody>
          <a:bodyPr/>
          <a:lstStyle/>
          <a:p>
            <a:endParaRPr lang="en-US"/>
          </a:p>
        </p:txBody>
      </p:sp>
      <p:sp>
        <p:nvSpPr>
          <p:cNvPr id="13" name="Text 11"/>
          <p:cNvSpPr/>
          <p:nvPr/>
        </p:nvSpPr>
        <p:spPr>
          <a:xfrm>
            <a:off x="3611880" y="1965960"/>
            <a:ext cx="2240280" cy="1463040"/>
          </a:xfrm>
          <a:prstGeom prst="rect">
            <a:avLst/>
          </a:prstGeom>
          <a:noFill/>
          <a:ln/>
        </p:spPr>
        <p:txBody>
          <a:bodyPr wrap="square" lIns="0" tIns="0" rIns="0" bIns="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Password Reset</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Tax Calculation</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Session Timeout</a:t>
            </a:r>
            <a:endParaRPr lang="en-US" sz="1100" dirty="0"/>
          </a:p>
        </p:txBody>
      </p:sp>
      <p:sp>
        <p:nvSpPr>
          <p:cNvPr id="14" name="Shape 12"/>
          <p:cNvSpPr/>
          <p:nvPr/>
        </p:nvSpPr>
        <p:spPr>
          <a:xfrm>
            <a:off x="6309360" y="1371600"/>
            <a:ext cx="2606040" cy="502920"/>
          </a:xfrm>
          <a:prstGeom prst="rect">
            <a:avLst/>
          </a:prstGeom>
          <a:solidFill>
            <a:srgbClr val="16A34A"/>
          </a:solidFill>
          <a:ln/>
        </p:spPr>
        <p:txBody>
          <a:bodyPr/>
          <a:lstStyle/>
          <a:p>
            <a:endParaRPr lang="en-US"/>
          </a:p>
        </p:txBody>
      </p:sp>
      <p:sp>
        <p:nvSpPr>
          <p:cNvPr id="15" name="Text 13"/>
          <p:cNvSpPr/>
          <p:nvPr/>
        </p:nvSpPr>
        <p:spPr>
          <a:xfrm>
            <a:off x="6309360" y="1371600"/>
            <a:ext cx="2606040" cy="320040"/>
          </a:xfrm>
          <a:prstGeom prst="rect">
            <a:avLst/>
          </a:prstGeom>
          <a:noFill/>
          <a:ln/>
        </p:spPr>
        <p:txBody>
          <a:bodyPr wrap="square" lIns="0" tIns="0" rIns="0" bIns="0" rtlCol="0" anchor="b"/>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Low Priority</a:t>
            </a:r>
            <a:endParaRPr lang="en-US" sz="1400" dirty="0"/>
          </a:p>
        </p:txBody>
      </p:sp>
      <p:sp>
        <p:nvSpPr>
          <p:cNvPr id="16" name="Text 14"/>
          <p:cNvSpPr/>
          <p:nvPr/>
        </p:nvSpPr>
        <p:spPr>
          <a:xfrm>
            <a:off x="6309360" y="1664208"/>
            <a:ext cx="2606040" cy="18288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Score 1–5</a:t>
            </a:r>
            <a:endParaRPr lang="en-US" sz="900" dirty="0"/>
          </a:p>
        </p:txBody>
      </p:sp>
      <p:sp>
        <p:nvSpPr>
          <p:cNvPr id="17" name="Shape 15"/>
          <p:cNvSpPr/>
          <p:nvPr/>
        </p:nvSpPr>
        <p:spPr>
          <a:xfrm>
            <a:off x="6309360" y="1874520"/>
            <a:ext cx="2606040" cy="1645920"/>
          </a:xfrm>
          <a:prstGeom prst="rect">
            <a:avLst/>
          </a:prstGeom>
          <a:solidFill>
            <a:srgbClr val="F0FDF4"/>
          </a:solidFill>
          <a:ln/>
        </p:spPr>
        <p:txBody>
          <a:bodyPr/>
          <a:lstStyle/>
          <a:p>
            <a:endParaRPr lang="en-US"/>
          </a:p>
        </p:txBody>
      </p:sp>
      <p:sp>
        <p:nvSpPr>
          <p:cNvPr id="18" name="Text 16"/>
          <p:cNvSpPr/>
          <p:nvPr/>
        </p:nvSpPr>
        <p:spPr>
          <a:xfrm>
            <a:off x="6492240" y="1965960"/>
            <a:ext cx="2240280" cy="1463040"/>
          </a:xfrm>
          <a:prstGeom prst="rect">
            <a:avLst/>
          </a:prstGeom>
          <a:noFill/>
          <a:ln/>
        </p:spPr>
        <p:txBody>
          <a:bodyPr wrap="square" lIns="0" tIns="0" rIns="0" bIns="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Coupon Codes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Update Quantity</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Remove Item</a:t>
            </a:r>
            <a:endParaRPr lang="en-US" sz="1100" dirty="0"/>
          </a:p>
        </p:txBody>
      </p:sp>
      <p:sp>
        <p:nvSpPr>
          <p:cNvPr id="19" name="Shape 17"/>
          <p:cNvSpPr/>
          <p:nvPr/>
        </p:nvSpPr>
        <p:spPr>
          <a:xfrm>
            <a:off x="548640" y="3840480"/>
            <a:ext cx="8046720" cy="1005840"/>
          </a:xfrm>
          <a:prstGeom prst="rect">
            <a:avLst/>
          </a:prstGeom>
          <a:solidFill>
            <a:srgbClr val="F5F7FA"/>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731520" y="4023360"/>
            <a:ext cx="365760" cy="365760"/>
          </a:xfrm>
          <a:prstGeom prst="rect">
            <a:avLst/>
          </a:prstGeom>
        </p:spPr>
      </p:pic>
      <p:sp>
        <p:nvSpPr>
          <p:cNvPr id="21" name="Text 18"/>
          <p:cNvSpPr/>
          <p:nvPr/>
        </p:nvSpPr>
        <p:spPr>
          <a:xfrm>
            <a:off x="1280160" y="3840480"/>
            <a:ext cx="7132320" cy="1005840"/>
          </a:xfrm>
          <a:prstGeom prst="rect">
            <a:avLst/>
          </a:prstGeom>
          <a:noFill/>
          <a:ln/>
        </p:spPr>
        <p:txBody>
          <a:bodyPr wrap="square" lIns="0" tIns="0" rIns="0" bIns="0" rtlCol="0" anchor="ctr"/>
          <a:lstStyle/>
          <a:p>
            <a:pPr marL="0" indent="0">
              <a:buNone/>
            </a:pPr>
            <a:r>
              <a:rPr lang="en-US" sz="1300" b="1" dirty="0">
                <a:solidFill>
                  <a:srgbClr val="334155"/>
                </a:solidFill>
                <a:latin typeface="Calibri" pitchFamily="34" charset="0"/>
                <a:ea typeface="Calibri" pitchFamily="34" charset="-122"/>
                <a:cs typeface="Calibri" pitchFamily="34" charset="-120"/>
              </a:rPr>
              <a:t>Risk analysis feeds the test matrix.  The matrix makes coverage visible.</a:t>
            </a:r>
            <a:endParaRPr lang="en-US" sz="1300" dirty="0"/>
          </a:p>
          <a:p>
            <a:pPr marL="0" indent="0">
              <a:buNone/>
            </a:pPr>
            <a:r>
              <a:rPr lang="en-US" sz="1300" b="1" dirty="0">
                <a:solidFill>
                  <a:srgbClr val="334155"/>
                </a:solidFill>
                <a:latin typeface="Calibri" pitchFamily="34" charset="0"/>
                <a:ea typeface="Calibri" pitchFamily="34" charset="-122"/>
                <a:cs typeface="Calibri" pitchFamily="34" charset="-120"/>
              </a:rPr>
              <a:t>Together, they give you a complete, communicable testing plan.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Using Priorities to Focus Testing Effort</a:t>
            </a:r>
            <a:endParaRPr lang="en-US" sz="2800" dirty="0"/>
          </a:p>
        </p:txBody>
      </p:sp>
      <p:sp>
        <p:nvSpPr>
          <p:cNvPr id="3" name="Text 1"/>
          <p:cNvSpPr/>
          <p:nvPr/>
        </p:nvSpPr>
        <p:spPr>
          <a:xfrm>
            <a:off x="548640" y="86868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Priorities give you objective data to drive several key decisions:</a:t>
            </a:r>
            <a:endParaRPr lang="en-US" sz="1500" dirty="0"/>
          </a:p>
        </p:txBody>
      </p:sp>
      <p:sp>
        <p:nvSpPr>
          <p:cNvPr id="4" name="Shape 2"/>
          <p:cNvSpPr/>
          <p:nvPr/>
        </p:nvSpPr>
        <p:spPr>
          <a:xfrm>
            <a:off x="548640" y="1371600"/>
            <a:ext cx="397764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548640" y="1371600"/>
            <a:ext cx="73152" cy="868680"/>
          </a:xfrm>
          <a:prstGeom prst="rect">
            <a:avLst/>
          </a:prstGeom>
          <a:solidFill>
            <a:srgbClr val="0D948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1481328"/>
            <a:ext cx="347472" cy="347472"/>
          </a:xfrm>
          <a:prstGeom prst="rect">
            <a:avLst/>
          </a:prstGeom>
        </p:spPr>
      </p:pic>
      <p:sp>
        <p:nvSpPr>
          <p:cNvPr id="7" name="Text 4"/>
          <p:cNvSpPr/>
          <p:nvPr/>
        </p:nvSpPr>
        <p:spPr>
          <a:xfrm>
            <a:off x="1234440" y="1417320"/>
            <a:ext cx="3108960" cy="34747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Where to invest in automation</a:t>
            </a:r>
            <a:endParaRPr lang="en-US" sz="1300" dirty="0"/>
          </a:p>
        </p:txBody>
      </p:sp>
      <p:sp>
        <p:nvSpPr>
          <p:cNvPr id="8" name="Text 5"/>
          <p:cNvSpPr/>
          <p:nvPr/>
        </p:nvSpPr>
        <p:spPr>
          <a:xfrm>
            <a:off x="1234440" y="1810512"/>
            <a:ext cx="3108960" cy="36576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High-priority items tested every cycle are strong automation candidates</a:t>
            </a:r>
            <a:endParaRPr lang="en-US" sz="1000" dirty="0"/>
          </a:p>
        </p:txBody>
      </p:sp>
      <p:sp>
        <p:nvSpPr>
          <p:cNvPr id="9" name="Shape 6"/>
          <p:cNvSpPr/>
          <p:nvPr/>
        </p:nvSpPr>
        <p:spPr>
          <a:xfrm>
            <a:off x="4800600" y="1371600"/>
            <a:ext cx="397764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0" name="Shape 7"/>
          <p:cNvSpPr/>
          <p:nvPr/>
        </p:nvSpPr>
        <p:spPr>
          <a:xfrm>
            <a:off x="4800600" y="1371600"/>
            <a:ext cx="73152" cy="868680"/>
          </a:xfrm>
          <a:prstGeom prst="rect">
            <a:avLst/>
          </a:prstGeom>
          <a:solidFill>
            <a:srgbClr val="0D948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481328"/>
            <a:ext cx="347472" cy="347472"/>
          </a:xfrm>
          <a:prstGeom prst="rect">
            <a:avLst/>
          </a:prstGeom>
        </p:spPr>
      </p:pic>
      <p:sp>
        <p:nvSpPr>
          <p:cNvPr id="12" name="Text 8"/>
          <p:cNvSpPr/>
          <p:nvPr/>
        </p:nvSpPr>
        <p:spPr>
          <a:xfrm>
            <a:off x="5486400" y="1417320"/>
            <a:ext cx="3108960" cy="34747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How to define test suites</a:t>
            </a:r>
            <a:endParaRPr lang="en-US" sz="1300" dirty="0"/>
          </a:p>
        </p:txBody>
      </p:sp>
      <p:sp>
        <p:nvSpPr>
          <p:cNvPr id="13" name="Text 9"/>
          <p:cNvSpPr/>
          <p:nvPr/>
        </p:nvSpPr>
        <p:spPr>
          <a:xfrm>
            <a:off x="5486400" y="1810512"/>
            <a:ext cx="3108960" cy="36576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Priority tiers give you an objective basis for grouping tests</a:t>
            </a:r>
            <a:endParaRPr lang="en-US" sz="1000" dirty="0"/>
          </a:p>
        </p:txBody>
      </p:sp>
      <p:sp>
        <p:nvSpPr>
          <p:cNvPr id="14" name="Shape 10"/>
          <p:cNvSpPr/>
          <p:nvPr/>
        </p:nvSpPr>
        <p:spPr>
          <a:xfrm>
            <a:off x="548640" y="2423160"/>
            <a:ext cx="397764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Shape 11"/>
          <p:cNvSpPr/>
          <p:nvPr/>
        </p:nvSpPr>
        <p:spPr>
          <a:xfrm>
            <a:off x="548640" y="2423160"/>
            <a:ext cx="73152" cy="868680"/>
          </a:xfrm>
          <a:prstGeom prst="rect">
            <a:avLst/>
          </a:prstGeom>
          <a:solidFill>
            <a:srgbClr val="0D948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777240" y="2532888"/>
            <a:ext cx="347472" cy="347472"/>
          </a:xfrm>
          <a:prstGeom prst="rect">
            <a:avLst/>
          </a:prstGeom>
        </p:spPr>
      </p:pic>
      <p:sp>
        <p:nvSpPr>
          <p:cNvPr id="17" name="Text 12"/>
          <p:cNvSpPr/>
          <p:nvPr/>
        </p:nvSpPr>
        <p:spPr>
          <a:xfrm>
            <a:off x="1234440" y="2468880"/>
            <a:ext cx="3108960" cy="34747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What to test first</a:t>
            </a:r>
            <a:endParaRPr lang="en-US" sz="1300" dirty="0"/>
          </a:p>
        </p:txBody>
      </p:sp>
      <p:sp>
        <p:nvSpPr>
          <p:cNvPr id="18" name="Text 13"/>
          <p:cNvSpPr/>
          <p:nvPr/>
        </p:nvSpPr>
        <p:spPr>
          <a:xfrm>
            <a:off x="1234440" y="2862072"/>
            <a:ext cx="3108960" cy="36576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Start with the highest-risk items — catch critical defects early</a:t>
            </a:r>
            <a:endParaRPr lang="en-US" sz="1000" dirty="0"/>
          </a:p>
        </p:txBody>
      </p:sp>
      <p:sp>
        <p:nvSpPr>
          <p:cNvPr id="19" name="Shape 14"/>
          <p:cNvSpPr/>
          <p:nvPr/>
        </p:nvSpPr>
        <p:spPr>
          <a:xfrm>
            <a:off x="4800600" y="2423160"/>
            <a:ext cx="397764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0" name="Shape 15"/>
          <p:cNvSpPr/>
          <p:nvPr/>
        </p:nvSpPr>
        <p:spPr>
          <a:xfrm>
            <a:off x="4800600" y="2423160"/>
            <a:ext cx="73152" cy="868680"/>
          </a:xfrm>
          <a:prstGeom prst="rect">
            <a:avLst/>
          </a:prstGeom>
          <a:solidFill>
            <a:srgbClr val="0D948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5029200" y="2532888"/>
            <a:ext cx="347472" cy="347472"/>
          </a:xfrm>
          <a:prstGeom prst="rect">
            <a:avLst/>
          </a:prstGeom>
        </p:spPr>
      </p:pic>
      <p:sp>
        <p:nvSpPr>
          <p:cNvPr id="22" name="Text 16"/>
          <p:cNvSpPr/>
          <p:nvPr/>
        </p:nvSpPr>
        <p:spPr>
          <a:xfrm>
            <a:off x="5486400" y="2468880"/>
            <a:ext cx="3108960" cy="34747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What can safely be deferred</a:t>
            </a:r>
            <a:endParaRPr lang="en-US" sz="1300" dirty="0"/>
          </a:p>
        </p:txBody>
      </p:sp>
      <p:sp>
        <p:nvSpPr>
          <p:cNvPr id="23" name="Text 17"/>
          <p:cNvSpPr/>
          <p:nvPr/>
        </p:nvSpPr>
        <p:spPr>
          <a:xfrm>
            <a:off x="5486400" y="2862072"/>
            <a:ext cx="3108960" cy="36576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Low-priority items can wait when schedules tighten</a:t>
            </a:r>
            <a:endParaRPr lang="en-US" sz="1000" dirty="0"/>
          </a:p>
        </p:txBody>
      </p:sp>
      <p:sp>
        <p:nvSpPr>
          <p:cNvPr id="24" name="Shape 18"/>
          <p:cNvSpPr/>
          <p:nvPr/>
        </p:nvSpPr>
        <p:spPr>
          <a:xfrm>
            <a:off x="548640" y="3474720"/>
            <a:ext cx="397764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5" name="Shape 19"/>
          <p:cNvSpPr/>
          <p:nvPr/>
        </p:nvSpPr>
        <p:spPr>
          <a:xfrm>
            <a:off x="548640" y="3474720"/>
            <a:ext cx="73152" cy="868680"/>
          </a:xfrm>
          <a:prstGeom prst="rect">
            <a:avLst/>
          </a:prstGeom>
          <a:solidFill>
            <a:srgbClr val="0D9488"/>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777240" y="3584448"/>
            <a:ext cx="347472" cy="347472"/>
          </a:xfrm>
          <a:prstGeom prst="rect">
            <a:avLst/>
          </a:prstGeom>
        </p:spPr>
      </p:pic>
      <p:sp>
        <p:nvSpPr>
          <p:cNvPr id="27" name="Text 20"/>
          <p:cNvSpPr/>
          <p:nvPr/>
        </p:nvSpPr>
        <p:spPr>
          <a:xfrm>
            <a:off x="1234440" y="3520440"/>
            <a:ext cx="3108960" cy="34747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Where to add depth</a:t>
            </a:r>
            <a:endParaRPr lang="en-US" sz="1300" dirty="0"/>
          </a:p>
        </p:txBody>
      </p:sp>
      <p:sp>
        <p:nvSpPr>
          <p:cNvPr id="28" name="Text 21"/>
          <p:cNvSpPr/>
          <p:nvPr/>
        </p:nvSpPr>
        <p:spPr>
          <a:xfrm>
            <a:off x="1234440" y="3913632"/>
            <a:ext cx="3108960" cy="36576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High-priority items may warrant more test conditions and edge cases</a:t>
            </a:r>
            <a:endParaRPr lang="en-US" sz="1000" dirty="0"/>
          </a:p>
        </p:txBody>
      </p:sp>
      <p:sp>
        <p:nvSpPr>
          <p:cNvPr id="29" name="Shape 22"/>
          <p:cNvSpPr/>
          <p:nvPr/>
        </p:nvSpPr>
        <p:spPr>
          <a:xfrm>
            <a:off x="4800600" y="3474720"/>
            <a:ext cx="397764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0" name="Shape 23"/>
          <p:cNvSpPr/>
          <p:nvPr/>
        </p:nvSpPr>
        <p:spPr>
          <a:xfrm>
            <a:off x="4800600" y="3474720"/>
            <a:ext cx="73152" cy="868680"/>
          </a:xfrm>
          <a:prstGeom prst="rect">
            <a:avLst/>
          </a:prstGeom>
          <a:solidFill>
            <a:srgbClr val="0D9488"/>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5029200" y="3584448"/>
            <a:ext cx="347472" cy="347472"/>
          </a:xfrm>
          <a:prstGeom prst="rect">
            <a:avLst/>
          </a:prstGeom>
        </p:spPr>
      </p:pic>
      <p:sp>
        <p:nvSpPr>
          <p:cNvPr id="32" name="Text 24"/>
          <p:cNvSpPr/>
          <p:nvPr/>
        </p:nvSpPr>
        <p:spPr>
          <a:xfrm>
            <a:off x="5486400" y="3520440"/>
            <a:ext cx="3108960" cy="34747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How to communicate tradeoffs</a:t>
            </a:r>
            <a:endParaRPr lang="en-US" sz="1300" dirty="0"/>
          </a:p>
        </p:txBody>
      </p:sp>
      <p:sp>
        <p:nvSpPr>
          <p:cNvPr id="33" name="Text 25"/>
          <p:cNvSpPr/>
          <p:nvPr/>
        </p:nvSpPr>
        <p:spPr>
          <a:xfrm>
            <a:off x="5486400" y="3913632"/>
            <a:ext cx="3108960" cy="36576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Priority data supports objective scheduling conversations</a:t>
            </a:r>
            <a:endParaRPr lang="en-US" sz="1000" dirty="0"/>
          </a:p>
        </p:txBody>
      </p:sp>
      <p:sp>
        <p:nvSpPr>
          <p:cNvPr id="34" name="Shape 26"/>
          <p:cNvSpPr/>
          <p:nvPr/>
        </p:nvSpPr>
        <p:spPr>
          <a:xfrm>
            <a:off x="548640" y="4526280"/>
            <a:ext cx="8046720" cy="411480"/>
          </a:xfrm>
          <a:prstGeom prst="rect">
            <a:avLst/>
          </a:prstGeom>
          <a:solidFill>
            <a:srgbClr val="1B2A3D"/>
          </a:solidFill>
          <a:ln/>
        </p:spPr>
        <p:txBody>
          <a:bodyPr/>
          <a:lstStyle/>
          <a:p>
            <a:endParaRPr lang="en-US"/>
          </a:p>
        </p:txBody>
      </p:sp>
      <p:sp>
        <p:nvSpPr>
          <p:cNvPr id="35" name="Text 27"/>
          <p:cNvSpPr/>
          <p:nvPr/>
        </p:nvSpPr>
        <p:spPr>
          <a:xfrm>
            <a:off x="731520" y="4526280"/>
            <a:ext cx="7680960" cy="411480"/>
          </a:xfrm>
          <a:prstGeom prst="rect">
            <a:avLst/>
          </a:prstGeom>
          <a:noFill/>
          <a:ln/>
        </p:spPr>
        <p:txBody>
          <a:bodyPr wrap="square" lIns="0" tIns="0" rIns="0" bIns="0" rtlCol="0" anchor="ctr"/>
          <a:lstStyle/>
          <a:p>
            <a:pPr marL="0" indent="0" algn="ctr">
              <a:buNone/>
            </a:pPr>
            <a:r>
              <a:rPr lang="en-US" sz="1300" b="1" i="1" dirty="0">
                <a:solidFill>
                  <a:srgbClr val="0D9488"/>
                </a:solidFill>
                <a:latin typeface="Calibri" pitchFamily="34" charset="0"/>
                <a:ea typeface="Calibri" pitchFamily="34" charset="-122"/>
                <a:cs typeface="Calibri" pitchFamily="34" charset="-120"/>
              </a:rPr>
              <a:t>Priorities replace gut feel with discussable, objective data.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Mitigation Strategies</a:t>
            </a:r>
            <a:endParaRPr lang="en-US" sz="3000" dirty="0"/>
          </a:p>
        </p:txBody>
      </p:sp>
      <p:sp>
        <p:nvSpPr>
          <p:cNvPr id="3" name="Text 1"/>
          <p:cNvSpPr/>
          <p:nvPr/>
        </p:nvSpPr>
        <p:spPr>
          <a:xfrm>
            <a:off x="548640" y="100584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Some risks can be reduced before testing begins.</a:t>
            </a:r>
            <a:endParaRPr lang="en-US" sz="1500" dirty="0"/>
          </a:p>
        </p:txBody>
      </p:sp>
      <p:sp>
        <p:nvSpPr>
          <p:cNvPr id="4" name="Shape 2"/>
          <p:cNvSpPr/>
          <p:nvPr/>
        </p:nvSpPr>
        <p:spPr>
          <a:xfrm>
            <a:off x="548640" y="1508760"/>
            <a:ext cx="804672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548640" y="1508760"/>
            <a:ext cx="73152" cy="457200"/>
          </a:xfrm>
          <a:prstGeom prst="rect">
            <a:avLst/>
          </a:prstGeom>
          <a:solidFill>
            <a:srgbClr val="0D9488"/>
          </a:solidFill>
          <a:ln/>
        </p:spPr>
        <p:txBody>
          <a:bodyPr/>
          <a:lstStyle/>
          <a:p>
            <a:endParaRPr lang="en-US"/>
          </a:p>
        </p:txBody>
      </p:sp>
      <p:sp>
        <p:nvSpPr>
          <p:cNvPr id="6" name="Text 4"/>
          <p:cNvSpPr/>
          <p:nvPr/>
        </p:nvSpPr>
        <p:spPr>
          <a:xfrm>
            <a:off x="777240" y="1508760"/>
            <a:ext cx="210312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Early prototyping</a:t>
            </a:r>
            <a:endParaRPr lang="en-US" sz="1300" dirty="0"/>
          </a:p>
        </p:txBody>
      </p:sp>
      <p:sp>
        <p:nvSpPr>
          <p:cNvPr id="7" name="Text 5"/>
          <p:cNvSpPr/>
          <p:nvPr/>
        </p:nvSpPr>
        <p:spPr>
          <a:xfrm>
            <a:off x="2926080" y="1508760"/>
            <a:ext cx="5486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Validate design assumptions before full implementation</a:t>
            </a:r>
            <a:endParaRPr lang="en-US" sz="1200" dirty="0"/>
          </a:p>
        </p:txBody>
      </p:sp>
      <p:sp>
        <p:nvSpPr>
          <p:cNvPr id="8" name="Shape 6"/>
          <p:cNvSpPr/>
          <p:nvPr/>
        </p:nvSpPr>
        <p:spPr>
          <a:xfrm>
            <a:off x="548640" y="2057400"/>
            <a:ext cx="804672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7"/>
          <p:cNvSpPr/>
          <p:nvPr/>
        </p:nvSpPr>
        <p:spPr>
          <a:xfrm>
            <a:off x="548640" y="2057400"/>
            <a:ext cx="73152" cy="457200"/>
          </a:xfrm>
          <a:prstGeom prst="rect">
            <a:avLst/>
          </a:prstGeom>
          <a:solidFill>
            <a:srgbClr val="0D9488"/>
          </a:solidFill>
          <a:ln/>
        </p:spPr>
        <p:txBody>
          <a:bodyPr/>
          <a:lstStyle/>
          <a:p>
            <a:endParaRPr lang="en-US"/>
          </a:p>
        </p:txBody>
      </p:sp>
      <p:sp>
        <p:nvSpPr>
          <p:cNvPr id="10" name="Text 8"/>
          <p:cNvSpPr/>
          <p:nvPr/>
        </p:nvSpPr>
        <p:spPr>
          <a:xfrm>
            <a:off x="777240" y="2057400"/>
            <a:ext cx="210312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Detailed design reviews</a:t>
            </a:r>
            <a:endParaRPr lang="en-US" sz="1300" dirty="0"/>
          </a:p>
        </p:txBody>
      </p:sp>
      <p:sp>
        <p:nvSpPr>
          <p:cNvPr id="11" name="Text 9"/>
          <p:cNvSpPr/>
          <p:nvPr/>
        </p:nvSpPr>
        <p:spPr>
          <a:xfrm>
            <a:off x="2926080" y="2057400"/>
            <a:ext cx="5486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Catch defects at the design stage, before code is written</a:t>
            </a:r>
            <a:endParaRPr lang="en-US" sz="1200" dirty="0"/>
          </a:p>
        </p:txBody>
      </p:sp>
      <p:sp>
        <p:nvSpPr>
          <p:cNvPr id="12" name="Shape 10"/>
          <p:cNvSpPr/>
          <p:nvPr/>
        </p:nvSpPr>
        <p:spPr>
          <a:xfrm>
            <a:off x="548640" y="2606040"/>
            <a:ext cx="804672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Shape 11"/>
          <p:cNvSpPr/>
          <p:nvPr/>
        </p:nvSpPr>
        <p:spPr>
          <a:xfrm>
            <a:off x="548640" y="2606040"/>
            <a:ext cx="73152" cy="457200"/>
          </a:xfrm>
          <a:prstGeom prst="rect">
            <a:avLst/>
          </a:prstGeom>
          <a:solidFill>
            <a:srgbClr val="0D9488"/>
          </a:solidFill>
          <a:ln/>
        </p:spPr>
        <p:txBody>
          <a:bodyPr/>
          <a:lstStyle/>
          <a:p>
            <a:endParaRPr lang="en-US"/>
          </a:p>
        </p:txBody>
      </p:sp>
      <p:sp>
        <p:nvSpPr>
          <p:cNvPr id="14" name="Text 12"/>
          <p:cNvSpPr/>
          <p:nvPr/>
        </p:nvSpPr>
        <p:spPr>
          <a:xfrm>
            <a:off x="777240" y="2606040"/>
            <a:ext cx="210312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Targeted automation</a:t>
            </a:r>
            <a:endParaRPr lang="en-US" sz="1300" dirty="0"/>
          </a:p>
        </p:txBody>
      </p:sp>
      <p:sp>
        <p:nvSpPr>
          <p:cNvPr id="15" name="Text 13"/>
          <p:cNvSpPr/>
          <p:nvPr/>
        </p:nvSpPr>
        <p:spPr>
          <a:xfrm>
            <a:off x="2926080" y="2606040"/>
            <a:ext cx="5486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Invest in automation for high-risk, high-frequency areas</a:t>
            </a:r>
            <a:endParaRPr lang="en-US" sz="1200" dirty="0"/>
          </a:p>
        </p:txBody>
      </p:sp>
      <p:sp>
        <p:nvSpPr>
          <p:cNvPr id="16" name="Shape 14"/>
          <p:cNvSpPr/>
          <p:nvPr/>
        </p:nvSpPr>
        <p:spPr>
          <a:xfrm>
            <a:off x="548640" y="3154680"/>
            <a:ext cx="804672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5"/>
          <p:cNvSpPr/>
          <p:nvPr/>
        </p:nvSpPr>
        <p:spPr>
          <a:xfrm>
            <a:off x="548640" y="3154680"/>
            <a:ext cx="73152" cy="457200"/>
          </a:xfrm>
          <a:prstGeom prst="rect">
            <a:avLst/>
          </a:prstGeom>
          <a:solidFill>
            <a:srgbClr val="0D9488"/>
          </a:solidFill>
          <a:ln/>
        </p:spPr>
        <p:txBody>
          <a:bodyPr/>
          <a:lstStyle/>
          <a:p>
            <a:endParaRPr lang="en-US"/>
          </a:p>
        </p:txBody>
      </p:sp>
      <p:sp>
        <p:nvSpPr>
          <p:cNvPr id="18" name="Text 16"/>
          <p:cNvSpPr/>
          <p:nvPr/>
        </p:nvSpPr>
        <p:spPr>
          <a:xfrm>
            <a:off x="777240" y="3154680"/>
            <a:ext cx="210312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Additional resources</a:t>
            </a:r>
            <a:endParaRPr lang="en-US" sz="1300" dirty="0"/>
          </a:p>
        </p:txBody>
      </p:sp>
      <p:sp>
        <p:nvSpPr>
          <p:cNvPr id="19" name="Text 17"/>
          <p:cNvSpPr/>
          <p:nvPr/>
        </p:nvSpPr>
        <p:spPr>
          <a:xfrm>
            <a:off x="2926080" y="3154680"/>
            <a:ext cx="5486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Add expertise for complex or unfamiliar areas</a:t>
            </a:r>
            <a:endParaRPr lang="en-US" sz="1200" dirty="0"/>
          </a:p>
        </p:txBody>
      </p:sp>
      <p:sp>
        <p:nvSpPr>
          <p:cNvPr id="20" name="Shape 18"/>
          <p:cNvSpPr/>
          <p:nvPr/>
        </p:nvSpPr>
        <p:spPr>
          <a:xfrm>
            <a:off x="548640" y="3703320"/>
            <a:ext cx="804672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1" name="Shape 19"/>
          <p:cNvSpPr/>
          <p:nvPr/>
        </p:nvSpPr>
        <p:spPr>
          <a:xfrm>
            <a:off x="548640" y="3703320"/>
            <a:ext cx="73152" cy="457200"/>
          </a:xfrm>
          <a:prstGeom prst="rect">
            <a:avLst/>
          </a:prstGeom>
          <a:solidFill>
            <a:srgbClr val="0D9488"/>
          </a:solidFill>
          <a:ln/>
        </p:spPr>
        <p:txBody>
          <a:bodyPr/>
          <a:lstStyle/>
          <a:p>
            <a:endParaRPr lang="en-US"/>
          </a:p>
        </p:txBody>
      </p:sp>
      <p:sp>
        <p:nvSpPr>
          <p:cNvPr id="22" name="Text 20"/>
          <p:cNvSpPr/>
          <p:nvPr/>
        </p:nvSpPr>
        <p:spPr>
          <a:xfrm>
            <a:off x="777240" y="3703320"/>
            <a:ext cx="210312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Focused code reviews</a:t>
            </a:r>
            <a:endParaRPr lang="en-US" sz="1300" dirty="0"/>
          </a:p>
        </p:txBody>
      </p:sp>
      <p:sp>
        <p:nvSpPr>
          <p:cNvPr id="23" name="Text 21"/>
          <p:cNvSpPr/>
          <p:nvPr/>
        </p:nvSpPr>
        <p:spPr>
          <a:xfrm>
            <a:off x="2926080" y="3703320"/>
            <a:ext cx="5486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Extra scrutiny on high-risk changes</a:t>
            </a:r>
            <a:endParaRPr lang="en-US" sz="1200" dirty="0"/>
          </a:p>
        </p:txBody>
      </p:sp>
      <p:sp>
        <p:nvSpPr>
          <p:cNvPr id="24" name="Shape 22"/>
          <p:cNvSpPr/>
          <p:nvPr/>
        </p:nvSpPr>
        <p:spPr>
          <a:xfrm>
            <a:off x="548640" y="4206240"/>
            <a:ext cx="8046720" cy="685800"/>
          </a:xfrm>
          <a:prstGeom prst="rect">
            <a:avLst/>
          </a:prstGeom>
          <a:solidFill>
            <a:srgbClr val="1B2A3D"/>
          </a:solidFill>
          <a:ln/>
        </p:spPr>
        <p:txBody>
          <a:bodyPr/>
          <a:lstStyle/>
          <a:p>
            <a:endParaRPr lang="en-US"/>
          </a:p>
        </p:txBody>
      </p:sp>
      <p:pic>
        <p:nvPicPr>
          <p:cNvPr id="25" name="Image 0" descr="preencoded.png"/>
          <p:cNvPicPr>
            <a:picLocks noChangeAspect="1"/>
          </p:cNvPicPr>
          <p:nvPr/>
        </p:nvPicPr>
        <p:blipFill>
          <a:blip r:embed="rId3"/>
          <a:stretch>
            <a:fillRect/>
          </a:stretch>
        </p:blipFill>
        <p:spPr>
          <a:xfrm>
            <a:off x="777240" y="4370832"/>
            <a:ext cx="274320" cy="274320"/>
          </a:xfrm>
          <a:prstGeom prst="rect">
            <a:avLst/>
          </a:prstGeom>
        </p:spPr>
      </p:pic>
      <p:sp>
        <p:nvSpPr>
          <p:cNvPr id="26" name="Text 23"/>
          <p:cNvSpPr/>
          <p:nvPr/>
        </p:nvSpPr>
        <p:spPr>
          <a:xfrm>
            <a:off x="1188720" y="4206240"/>
            <a:ext cx="7223760" cy="68580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If you assign a mitigation, track it as a task.  Informal commitments get forgotten.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Text 1"/>
          <p:cNvSpPr/>
          <p:nvPr/>
        </p:nvSpPr>
        <p:spPr>
          <a:xfrm>
            <a:off x="731520" y="32004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pic>
        <p:nvPicPr>
          <p:cNvPr id="4" name="Image 0" descr="preencoded.png"/>
          <p:cNvPicPr>
            <a:picLocks noChangeAspect="1"/>
          </p:cNvPicPr>
          <p:nvPr/>
        </p:nvPicPr>
        <p:blipFill>
          <a:blip r:embed="rId3"/>
          <a:stretch>
            <a:fillRect/>
          </a:stretch>
        </p:blipFill>
        <p:spPr>
          <a:xfrm>
            <a:off x="731520" y="1088136"/>
            <a:ext cx="256032" cy="256032"/>
          </a:xfrm>
          <a:prstGeom prst="rect">
            <a:avLst/>
          </a:prstGeom>
        </p:spPr>
      </p:pic>
      <p:sp>
        <p:nvSpPr>
          <p:cNvPr id="5" name="Text 2"/>
          <p:cNvSpPr/>
          <p:nvPr/>
        </p:nvSpPr>
        <p:spPr>
          <a:xfrm>
            <a:off x="1188720" y="105156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Risk analysis helps you focus testing where it matters most.</a:t>
            </a:r>
            <a:endParaRPr lang="en-US" sz="1500" dirty="0"/>
          </a:p>
        </p:txBody>
      </p:sp>
      <p:pic>
        <p:nvPicPr>
          <p:cNvPr id="6" name="Image 1" descr="preencoded.png"/>
          <p:cNvPicPr>
            <a:picLocks noChangeAspect="1"/>
          </p:cNvPicPr>
          <p:nvPr/>
        </p:nvPicPr>
        <p:blipFill>
          <a:blip r:embed="rId3"/>
          <a:stretch>
            <a:fillRect/>
          </a:stretch>
        </p:blipFill>
        <p:spPr>
          <a:xfrm>
            <a:off x="731520" y="1499616"/>
            <a:ext cx="256032" cy="256032"/>
          </a:xfrm>
          <a:prstGeom prst="rect">
            <a:avLst/>
          </a:prstGeom>
        </p:spPr>
      </p:pic>
      <p:sp>
        <p:nvSpPr>
          <p:cNvPr id="7" name="Text 3"/>
          <p:cNvSpPr/>
          <p:nvPr/>
        </p:nvSpPr>
        <p:spPr>
          <a:xfrm>
            <a:off x="1188720" y="146304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Likelihood × Impact gives you a shared, discussable ranking.</a:t>
            </a:r>
            <a:endParaRPr lang="en-US" sz="1500" dirty="0"/>
          </a:p>
        </p:txBody>
      </p:sp>
      <p:pic>
        <p:nvPicPr>
          <p:cNvPr id="8" name="Image 2" descr="preencoded.png"/>
          <p:cNvPicPr>
            <a:picLocks noChangeAspect="1"/>
          </p:cNvPicPr>
          <p:nvPr/>
        </p:nvPicPr>
        <p:blipFill>
          <a:blip r:embed="rId3"/>
          <a:stretch>
            <a:fillRect/>
          </a:stretch>
        </p:blipFill>
        <p:spPr>
          <a:xfrm>
            <a:off x="731520" y="1911096"/>
            <a:ext cx="256032" cy="256032"/>
          </a:xfrm>
          <a:prstGeom prst="rect">
            <a:avLst/>
          </a:prstGeom>
        </p:spPr>
      </p:pic>
      <p:sp>
        <p:nvSpPr>
          <p:cNvPr id="9" name="Text 4"/>
          <p:cNvSpPr/>
          <p:nvPr/>
        </p:nvSpPr>
        <p:spPr>
          <a:xfrm>
            <a:off x="1188720" y="187452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scores don't need to be perfect — they need to be discussable.</a:t>
            </a:r>
            <a:endParaRPr lang="en-US" sz="1500" dirty="0"/>
          </a:p>
        </p:txBody>
      </p:sp>
      <p:pic>
        <p:nvPicPr>
          <p:cNvPr id="10" name="Image 3" descr="preencoded.png"/>
          <p:cNvPicPr>
            <a:picLocks noChangeAspect="1"/>
          </p:cNvPicPr>
          <p:nvPr/>
        </p:nvPicPr>
        <p:blipFill>
          <a:blip r:embed="rId3"/>
          <a:stretch>
            <a:fillRect/>
          </a:stretch>
        </p:blipFill>
        <p:spPr>
          <a:xfrm>
            <a:off x="731520" y="2322576"/>
            <a:ext cx="256032" cy="256032"/>
          </a:xfrm>
          <a:prstGeom prst="rect">
            <a:avLst/>
          </a:prstGeom>
        </p:spPr>
      </p:pic>
      <p:sp>
        <p:nvSpPr>
          <p:cNvPr id="11" name="Text 5"/>
          <p:cNvSpPr/>
          <p:nvPr/>
        </p:nvSpPr>
        <p:spPr>
          <a:xfrm>
            <a:off x="1188720" y="228600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Cut-lines make scheduling conversations objective.</a:t>
            </a:r>
            <a:endParaRPr lang="en-US" sz="1500" dirty="0"/>
          </a:p>
        </p:txBody>
      </p:sp>
      <p:pic>
        <p:nvPicPr>
          <p:cNvPr id="12" name="Image 4" descr="preencoded.png"/>
          <p:cNvPicPr>
            <a:picLocks noChangeAspect="1"/>
          </p:cNvPicPr>
          <p:nvPr/>
        </p:nvPicPr>
        <p:blipFill>
          <a:blip r:embed="rId3"/>
          <a:stretch>
            <a:fillRect/>
          </a:stretch>
        </p:blipFill>
        <p:spPr>
          <a:xfrm>
            <a:off x="731520" y="2734056"/>
            <a:ext cx="256032" cy="256032"/>
          </a:xfrm>
          <a:prstGeom prst="rect">
            <a:avLst/>
          </a:prstGeom>
        </p:spPr>
      </p:pic>
      <p:sp>
        <p:nvSpPr>
          <p:cNvPr id="13" name="Text 6"/>
          <p:cNvSpPr/>
          <p:nvPr/>
        </p:nvSpPr>
        <p:spPr>
          <a:xfrm>
            <a:off x="1188720" y="269748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Priorities inform how you organize and focus testing effort.</a:t>
            </a:r>
            <a:endParaRPr lang="en-US" sz="1500" dirty="0"/>
          </a:p>
        </p:txBody>
      </p:sp>
      <p:pic>
        <p:nvPicPr>
          <p:cNvPr id="14" name="Image 5" descr="preencoded.png"/>
          <p:cNvPicPr>
            <a:picLocks noChangeAspect="1"/>
          </p:cNvPicPr>
          <p:nvPr/>
        </p:nvPicPr>
        <p:blipFill>
          <a:blip r:embed="rId3"/>
          <a:stretch>
            <a:fillRect/>
          </a:stretch>
        </p:blipFill>
        <p:spPr>
          <a:xfrm>
            <a:off x="731520" y="3145536"/>
            <a:ext cx="256032" cy="256032"/>
          </a:xfrm>
          <a:prstGeom prst="rect">
            <a:avLst/>
          </a:prstGeom>
        </p:spPr>
      </p:pic>
      <p:sp>
        <p:nvSpPr>
          <p:cNvPr id="15" name="Text 7"/>
          <p:cNvSpPr/>
          <p:nvPr/>
        </p:nvSpPr>
        <p:spPr>
          <a:xfrm>
            <a:off x="1188720" y="310896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Revisit the analysis as the system evolves.</a:t>
            </a:r>
            <a:endParaRPr lang="en-US" sz="1500" dirty="0"/>
          </a:p>
        </p:txBody>
      </p:sp>
      <p:sp>
        <p:nvSpPr>
          <p:cNvPr id="16" name="Shape 8"/>
          <p:cNvSpPr/>
          <p:nvPr/>
        </p:nvSpPr>
        <p:spPr>
          <a:xfrm>
            <a:off x="548640" y="3703320"/>
            <a:ext cx="8046720" cy="1097280"/>
          </a:xfrm>
          <a:prstGeom prst="rect">
            <a:avLst/>
          </a:prstGeom>
          <a:solidFill>
            <a:srgbClr val="243447"/>
          </a:solidFill>
          <a:ln/>
        </p:spPr>
        <p:txBody>
          <a:bodyPr/>
          <a:lstStyle/>
          <a:p>
            <a:endParaRPr lang="en-US"/>
          </a:p>
        </p:txBody>
      </p:sp>
      <p:sp>
        <p:nvSpPr>
          <p:cNvPr id="17" name="Text 9"/>
          <p:cNvSpPr/>
          <p:nvPr/>
        </p:nvSpPr>
        <p:spPr>
          <a:xfrm>
            <a:off x="731520" y="3794760"/>
            <a:ext cx="768096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Good testing is not about maximum coverage.</a:t>
            </a:r>
            <a:endParaRPr lang="en-US" sz="2000" dirty="0"/>
          </a:p>
        </p:txBody>
      </p:sp>
      <p:sp>
        <p:nvSpPr>
          <p:cNvPr id="18" name="Text 10"/>
          <p:cNvSpPr/>
          <p:nvPr/>
        </p:nvSpPr>
        <p:spPr>
          <a:xfrm>
            <a:off x="731520" y="4251960"/>
            <a:ext cx="7680960"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It is about communicating risk.</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2476</Words>
  <Application>Microsoft Office PowerPoint</Application>
  <PresentationFormat>On-screen Show (16:9)</PresentationFormat>
  <Paragraphs>321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Identifying Testing Priorities Through Risk Analysis</dc:title>
  <dc:subject>PptxGenJS Presentation</dc:subject>
  <dc:creator>QA Training</dc:creator>
  <cp:lastModifiedBy>Gary McNickle</cp:lastModifiedBy>
  <cp:revision>1</cp:revision>
  <dcterms:created xsi:type="dcterms:W3CDTF">2026-05-21T17:02:48Z</dcterms:created>
  <dcterms:modified xsi:type="dcterms:W3CDTF">2026-05-22T00:40:39Z</dcterms:modified>
</cp:coreProperties>
</file>